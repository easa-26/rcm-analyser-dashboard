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4"/>
  </p:notesMasterIdLst>
  <p:sldIdLst>
    <p:sldId id="345" r:id="rId5"/>
    <p:sldId id="297" r:id="rId6"/>
    <p:sldId id="298" r:id="rId7"/>
    <p:sldId id="491" r:id="rId8"/>
    <p:sldId id="492" r:id="rId9"/>
    <p:sldId id="299" r:id="rId10"/>
    <p:sldId id="493" r:id="rId11"/>
    <p:sldId id="367" r:id="rId12"/>
    <p:sldId id="451" r:id="rId13"/>
    <p:sldId id="458" r:id="rId14"/>
    <p:sldId id="2145707083" r:id="rId15"/>
    <p:sldId id="2145707084" r:id="rId16"/>
    <p:sldId id="488" r:id="rId17"/>
    <p:sldId id="2145707076" r:id="rId18"/>
    <p:sldId id="2145707082" r:id="rId19"/>
    <p:sldId id="497" r:id="rId20"/>
    <p:sldId id="461" r:id="rId21"/>
    <p:sldId id="462" r:id="rId22"/>
    <p:sldId id="262"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F4E7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CA8770F-09F5-4149-2C06-4EC2B51B1D69}" v="28" dt="2026-02-26T17:12:36.66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n Mohamad Erfan bin Wan Mustafa" userId="S::erfan.mustafa@tnb.com.my::51f7facb-6c1b-4ba8-b0d2-cd5e00f0d7bd" providerId="AD" clId="Web-{4CA8770F-09F5-4149-2C06-4EC2B51B1D69}"/>
    <pc:docChg chg="modSld">
      <pc:chgData name="Wan Mohamad Erfan bin Wan Mustafa" userId="S::erfan.mustafa@tnb.com.my::51f7facb-6c1b-4ba8-b0d2-cd5e00f0d7bd" providerId="AD" clId="Web-{4CA8770F-09F5-4149-2C06-4EC2B51B1D69}" dt="2026-02-26T17:12:36.667" v="25" actId="20577"/>
      <pc:docMkLst>
        <pc:docMk/>
      </pc:docMkLst>
      <pc:sldChg chg="modSp">
        <pc:chgData name="Wan Mohamad Erfan bin Wan Mustafa" userId="S::erfan.mustafa@tnb.com.my::51f7facb-6c1b-4ba8-b0d2-cd5e00f0d7bd" providerId="AD" clId="Web-{4CA8770F-09F5-4149-2C06-4EC2B51B1D69}" dt="2026-02-26T17:11:39.539" v="20" actId="20577"/>
        <pc:sldMkLst>
          <pc:docMk/>
          <pc:sldMk cId="486827364" sldId="262"/>
        </pc:sldMkLst>
        <pc:spChg chg="mod">
          <ac:chgData name="Wan Mohamad Erfan bin Wan Mustafa" userId="S::erfan.mustafa@tnb.com.my::51f7facb-6c1b-4ba8-b0d2-cd5e00f0d7bd" providerId="AD" clId="Web-{4CA8770F-09F5-4149-2C06-4EC2B51B1D69}" dt="2026-02-26T17:11:39.539" v="20" actId="20577"/>
          <ac:spMkLst>
            <pc:docMk/>
            <pc:sldMk cId="486827364" sldId="262"/>
            <ac:spMk id="4" creationId="{43000149-158A-4E2B-8E21-060709281378}"/>
          </ac:spMkLst>
        </pc:spChg>
      </pc:sldChg>
      <pc:sldChg chg="modSp">
        <pc:chgData name="Wan Mohamad Erfan bin Wan Mustafa" userId="S::erfan.mustafa@tnb.com.my::51f7facb-6c1b-4ba8-b0d2-cd5e00f0d7bd" providerId="AD" clId="Web-{4CA8770F-09F5-4149-2C06-4EC2B51B1D69}" dt="2026-02-26T17:12:36.667" v="25" actId="20577"/>
        <pc:sldMkLst>
          <pc:docMk/>
          <pc:sldMk cId="2944828654" sldId="298"/>
        </pc:sldMkLst>
        <pc:spChg chg="mod">
          <ac:chgData name="Wan Mohamad Erfan bin Wan Mustafa" userId="S::erfan.mustafa@tnb.com.my::51f7facb-6c1b-4ba8-b0d2-cd5e00f0d7bd" providerId="AD" clId="Web-{4CA8770F-09F5-4149-2C06-4EC2B51B1D69}" dt="2026-02-26T17:12:36.667" v="25" actId="20577"/>
          <ac:spMkLst>
            <pc:docMk/>
            <pc:sldMk cId="2944828654" sldId="298"/>
            <ac:spMk id="8" creationId="{2792915C-C6D0-43BC-94B1-6E2442CD8339}"/>
          </ac:spMkLst>
        </pc:spChg>
      </pc:sldChg>
      <pc:sldChg chg="modSp">
        <pc:chgData name="Wan Mohamad Erfan bin Wan Mustafa" userId="S::erfan.mustafa@tnb.com.my::51f7facb-6c1b-4ba8-b0d2-cd5e00f0d7bd" providerId="AD" clId="Web-{4CA8770F-09F5-4149-2C06-4EC2B51B1D69}" dt="2026-02-26T17:07:13.506" v="0" actId="20577"/>
        <pc:sldMkLst>
          <pc:docMk/>
          <pc:sldMk cId="1780898688" sldId="299"/>
        </pc:sldMkLst>
        <pc:spChg chg="mod">
          <ac:chgData name="Wan Mohamad Erfan bin Wan Mustafa" userId="S::erfan.mustafa@tnb.com.my::51f7facb-6c1b-4ba8-b0d2-cd5e00f0d7bd" providerId="AD" clId="Web-{4CA8770F-09F5-4149-2C06-4EC2B51B1D69}" dt="2026-02-26T17:07:13.506" v="0" actId="20577"/>
          <ac:spMkLst>
            <pc:docMk/>
            <pc:sldMk cId="1780898688" sldId="299"/>
            <ac:spMk id="4" creationId="{2E1A6012-227F-4F39-A1BF-C4CEC1339D21}"/>
          </ac:spMkLst>
        </pc:spChg>
      </pc:sldChg>
      <pc:sldChg chg="addSp modSp">
        <pc:chgData name="Wan Mohamad Erfan bin Wan Mustafa" userId="S::erfan.mustafa@tnb.com.my::51f7facb-6c1b-4ba8-b0d2-cd5e00f0d7bd" providerId="AD" clId="Web-{4CA8770F-09F5-4149-2C06-4EC2B51B1D69}" dt="2026-02-26T17:10:43.550" v="5" actId="20577"/>
        <pc:sldMkLst>
          <pc:docMk/>
          <pc:sldMk cId="220001057" sldId="451"/>
        </pc:sldMkLst>
        <pc:spChg chg="add mod">
          <ac:chgData name="Wan Mohamad Erfan bin Wan Mustafa" userId="S::erfan.mustafa@tnb.com.my::51f7facb-6c1b-4ba8-b0d2-cd5e00f0d7bd" providerId="AD" clId="Web-{4CA8770F-09F5-4149-2C06-4EC2B51B1D69}" dt="2026-02-26T17:10:43.550" v="5" actId="20577"/>
          <ac:spMkLst>
            <pc:docMk/>
            <pc:sldMk cId="220001057" sldId="451"/>
            <ac:spMk id="6" creationId="{3CDA7BF1-34B7-AFD5-38B0-9A94AB238BC2}"/>
          </ac:spMkLst>
        </pc:spChg>
      </pc:sldChg>
      <pc:sldChg chg="addSp modSp">
        <pc:chgData name="Wan Mohamad Erfan bin Wan Mustafa" userId="S::erfan.mustafa@tnb.com.my::51f7facb-6c1b-4ba8-b0d2-cd5e00f0d7bd" providerId="AD" clId="Web-{4CA8770F-09F5-4149-2C06-4EC2B51B1D69}" dt="2026-02-26T17:10:50.582" v="6" actId="20577"/>
        <pc:sldMkLst>
          <pc:docMk/>
          <pc:sldMk cId="3690777058" sldId="458"/>
        </pc:sldMkLst>
        <pc:spChg chg="add mod">
          <ac:chgData name="Wan Mohamad Erfan bin Wan Mustafa" userId="S::erfan.mustafa@tnb.com.my::51f7facb-6c1b-4ba8-b0d2-cd5e00f0d7bd" providerId="AD" clId="Web-{4CA8770F-09F5-4149-2C06-4EC2B51B1D69}" dt="2026-02-26T17:10:50.582" v="6" actId="20577"/>
          <ac:spMkLst>
            <pc:docMk/>
            <pc:sldMk cId="3690777058" sldId="458"/>
            <ac:spMk id="6" creationId="{4470FFDA-A4C1-856F-662E-14536A2F9E47}"/>
          </ac:spMkLst>
        </pc:spChg>
      </pc:sldChg>
      <pc:sldChg chg="modSp">
        <pc:chgData name="Wan Mohamad Erfan bin Wan Mustafa" userId="S::erfan.mustafa@tnb.com.my::51f7facb-6c1b-4ba8-b0d2-cd5e00f0d7bd" providerId="AD" clId="Web-{4CA8770F-09F5-4149-2C06-4EC2B51B1D69}" dt="2026-02-26T17:11:30.679" v="16" actId="20577"/>
        <pc:sldMkLst>
          <pc:docMk/>
          <pc:sldMk cId="3136582852" sldId="461"/>
        </pc:sldMkLst>
        <pc:spChg chg="mod">
          <ac:chgData name="Wan Mohamad Erfan bin Wan Mustafa" userId="S::erfan.mustafa@tnb.com.my::51f7facb-6c1b-4ba8-b0d2-cd5e00f0d7bd" providerId="AD" clId="Web-{4CA8770F-09F5-4149-2C06-4EC2B51B1D69}" dt="2026-02-26T17:11:30.679" v="16" actId="20577"/>
          <ac:spMkLst>
            <pc:docMk/>
            <pc:sldMk cId="3136582852" sldId="461"/>
            <ac:spMk id="14353" creationId="{1117A135-8578-442B-875D-1E637B9FC897}"/>
          </ac:spMkLst>
        </pc:spChg>
      </pc:sldChg>
      <pc:sldChg chg="modSp">
        <pc:chgData name="Wan Mohamad Erfan bin Wan Mustafa" userId="S::erfan.mustafa@tnb.com.my::51f7facb-6c1b-4ba8-b0d2-cd5e00f0d7bd" providerId="AD" clId="Web-{4CA8770F-09F5-4149-2C06-4EC2B51B1D69}" dt="2026-02-26T17:11:35.257" v="18" actId="20577"/>
        <pc:sldMkLst>
          <pc:docMk/>
          <pc:sldMk cId="1802155597" sldId="462"/>
        </pc:sldMkLst>
        <pc:spChg chg="mod">
          <ac:chgData name="Wan Mohamad Erfan bin Wan Mustafa" userId="S::erfan.mustafa@tnb.com.my::51f7facb-6c1b-4ba8-b0d2-cd5e00f0d7bd" providerId="AD" clId="Web-{4CA8770F-09F5-4149-2C06-4EC2B51B1D69}" dt="2026-02-26T17:11:35.257" v="18" actId="20577"/>
          <ac:spMkLst>
            <pc:docMk/>
            <pc:sldMk cId="1802155597" sldId="462"/>
            <ac:spMk id="14353" creationId="{1117A135-8578-442B-875D-1E637B9FC897}"/>
          </ac:spMkLst>
        </pc:spChg>
      </pc:sldChg>
      <pc:sldChg chg="modSp">
        <pc:chgData name="Wan Mohamad Erfan bin Wan Mustafa" userId="S::erfan.mustafa@tnb.com.my::51f7facb-6c1b-4ba8-b0d2-cd5e00f0d7bd" providerId="AD" clId="Web-{4CA8770F-09F5-4149-2C06-4EC2B51B1D69}" dt="2026-02-26T17:11:04.099" v="10" actId="20577"/>
        <pc:sldMkLst>
          <pc:docMk/>
          <pc:sldMk cId="784220736" sldId="488"/>
        </pc:sldMkLst>
        <pc:spChg chg="mod">
          <ac:chgData name="Wan Mohamad Erfan bin Wan Mustafa" userId="S::erfan.mustafa@tnb.com.my::51f7facb-6c1b-4ba8-b0d2-cd5e00f0d7bd" providerId="AD" clId="Web-{4CA8770F-09F5-4149-2C06-4EC2B51B1D69}" dt="2026-02-26T17:11:04.099" v="10" actId="20577"/>
          <ac:spMkLst>
            <pc:docMk/>
            <pc:sldMk cId="784220736" sldId="488"/>
            <ac:spMk id="3" creationId="{61EBBB7F-41E1-4571-8302-EC2AB097A93D}"/>
          </ac:spMkLst>
        </pc:spChg>
      </pc:sldChg>
      <pc:sldChg chg="modSp">
        <pc:chgData name="Wan Mohamad Erfan bin Wan Mustafa" userId="S::erfan.mustafa@tnb.com.my::51f7facb-6c1b-4ba8-b0d2-cd5e00f0d7bd" providerId="AD" clId="Web-{4CA8770F-09F5-4149-2C06-4EC2B51B1D69}" dt="2026-02-26T17:11:27.178" v="15" actId="20577"/>
        <pc:sldMkLst>
          <pc:docMk/>
          <pc:sldMk cId="2804234268" sldId="497"/>
        </pc:sldMkLst>
        <pc:spChg chg="mod">
          <ac:chgData name="Wan Mohamad Erfan bin Wan Mustafa" userId="S::erfan.mustafa@tnb.com.my::51f7facb-6c1b-4ba8-b0d2-cd5e00f0d7bd" providerId="AD" clId="Web-{4CA8770F-09F5-4149-2C06-4EC2B51B1D69}" dt="2026-02-26T17:11:27.178" v="15" actId="20577"/>
          <ac:spMkLst>
            <pc:docMk/>
            <pc:sldMk cId="2804234268" sldId="497"/>
            <ac:spMk id="14353" creationId="{1117A135-8578-442B-875D-1E637B9FC897}"/>
          </ac:spMkLst>
        </pc:spChg>
      </pc:sldChg>
      <pc:sldChg chg="addSp modSp">
        <pc:chgData name="Wan Mohamad Erfan bin Wan Mustafa" userId="S::erfan.mustafa@tnb.com.my::51f7facb-6c1b-4ba8-b0d2-cd5e00f0d7bd" providerId="AD" clId="Web-{4CA8770F-09F5-4149-2C06-4EC2B51B1D69}" dt="2026-02-26T17:11:16.459" v="13" actId="20577"/>
        <pc:sldMkLst>
          <pc:docMk/>
          <pc:sldMk cId="95776523" sldId="2145707076"/>
        </pc:sldMkLst>
        <pc:spChg chg="add mod">
          <ac:chgData name="Wan Mohamad Erfan bin Wan Mustafa" userId="S::erfan.mustafa@tnb.com.my::51f7facb-6c1b-4ba8-b0d2-cd5e00f0d7bd" providerId="AD" clId="Web-{4CA8770F-09F5-4149-2C06-4EC2B51B1D69}" dt="2026-02-26T17:11:16.459" v="13" actId="20577"/>
          <ac:spMkLst>
            <pc:docMk/>
            <pc:sldMk cId="95776523" sldId="2145707076"/>
            <ac:spMk id="6" creationId="{25E9FCD5-143B-A7AC-CBFC-365587FA0268}"/>
          </ac:spMkLst>
        </pc:spChg>
      </pc:sldChg>
      <pc:sldChg chg="modSp">
        <pc:chgData name="Wan Mohamad Erfan bin Wan Mustafa" userId="S::erfan.mustafa@tnb.com.my::51f7facb-6c1b-4ba8-b0d2-cd5e00f0d7bd" providerId="AD" clId="Web-{4CA8770F-09F5-4149-2C06-4EC2B51B1D69}" dt="2026-02-26T17:11:22.850" v="14" actId="20577"/>
        <pc:sldMkLst>
          <pc:docMk/>
          <pc:sldMk cId="1420321790" sldId="2145707082"/>
        </pc:sldMkLst>
        <pc:spChg chg="mod">
          <ac:chgData name="Wan Mohamad Erfan bin Wan Mustafa" userId="S::erfan.mustafa@tnb.com.my::51f7facb-6c1b-4ba8-b0d2-cd5e00f0d7bd" providerId="AD" clId="Web-{4CA8770F-09F5-4149-2C06-4EC2B51B1D69}" dt="2026-02-26T17:11:22.850" v="14" actId="20577"/>
          <ac:spMkLst>
            <pc:docMk/>
            <pc:sldMk cId="1420321790" sldId="2145707082"/>
            <ac:spMk id="14353" creationId="{1117A135-8578-442B-875D-1E637B9FC897}"/>
          </ac:spMkLst>
        </pc:spChg>
      </pc:sldChg>
      <pc:sldChg chg="addSp modSp">
        <pc:chgData name="Wan Mohamad Erfan bin Wan Mustafa" userId="S::erfan.mustafa@tnb.com.my::51f7facb-6c1b-4ba8-b0d2-cd5e00f0d7bd" providerId="AD" clId="Web-{4CA8770F-09F5-4149-2C06-4EC2B51B1D69}" dt="2026-02-26T17:10:54.676" v="7" actId="20577"/>
        <pc:sldMkLst>
          <pc:docMk/>
          <pc:sldMk cId="2938601725" sldId="2145707083"/>
        </pc:sldMkLst>
        <pc:spChg chg="add mod">
          <ac:chgData name="Wan Mohamad Erfan bin Wan Mustafa" userId="S::erfan.mustafa@tnb.com.my::51f7facb-6c1b-4ba8-b0d2-cd5e00f0d7bd" providerId="AD" clId="Web-{4CA8770F-09F5-4149-2C06-4EC2B51B1D69}" dt="2026-02-26T17:10:54.676" v="7" actId="20577"/>
          <ac:spMkLst>
            <pc:docMk/>
            <pc:sldMk cId="2938601725" sldId="2145707083"/>
            <ac:spMk id="6" creationId="{C3D67752-2D70-1CFD-7D06-1A7FC5C1030D}"/>
          </ac:spMkLst>
        </pc:spChg>
      </pc:sldChg>
      <pc:sldChg chg="addSp modSp">
        <pc:chgData name="Wan Mohamad Erfan bin Wan Mustafa" userId="S::erfan.mustafa@tnb.com.my::51f7facb-6c1b-4ba8-b0d2-cd5e00f0d7bd" providerId="AD" clId="Web-{4CA8770F-09F5-4149-2C06-4EC2B51B1D69}" dt="2026-02-26T17:10:59.426" v="8" actId="20577"/>
        <pc:sldMkLst>
          <pc:docMk/>
          <pc:sldMk cId="2546059737" sldId="2145707084"/>
        </pc:sldMkLst>
        <pc:spChg chg="add mod">
          <ac:chgData name="Wan Mohamad Erfan bin Wan Mustafa" userId="S::erfan.mustafa@tnb.com.my::51f7facb-6c1b-4ba8-b0d2-cd5e00f0d7bd" providerId="AD" clId="Web-{4CA8770F-09F5-4149-2C06-4EC2B51B1D69}" dt="2026-02-26T17:10:59.426" v="8" actId="20577"/>
          <ac:spMkLst>
            <pc:docMk/>
            <pc:sldMk cId="2546059737" sldId="2145707084"/>
            <ac:spMk id="6" creationId="{41EDD5EE-F5D2-CF9A-CAEC-343D2037302E}"/>
          </ac:spMkLst>
        </pc:spChg>
      </pc:sldChg>
    </pc:docChg>
  </pc:docChgLst>
  <pc:docChgLst>
    <pc:chgData name="Dinishkaran Pillai, Ir. Ts." userId="S::dinish@tnb.com.my::3a903a43-e0bc-42cd-8151-89a6d27a804e" providerId="AD" clId="Web-{817627CF-2FD8-3ECD-D698-6865C1BE2FFE}"/>
    <pc:docChg chg="modSld">
      <pc:chgData name="Dinishkaran Pillai, Ir. Ts." userId="S::dinish@tnb.com.my::3a903a43-e0bc-42cd-8151-89a6d27a804e" providerId="AD" clId="Web-{817627CF-2FD8-3ECD-D698-6865C1BE2FFE}" dt="2026-02-16T10:35:36.840" v="2" actId="20577"/>
      <pc:docMkLst>
        <pc:docMk/>
      </pc:docMkLst>
      <pc:sldChg chg="modSp">
        <pc:chgData name="Dinishkaran Pillai, Ir. Ts." userId="S::dinish@tnb.com.my::3a903a43-e0bc-42cd-8151-89a6d27a804e" providerId="AD" clId="Web-{817627CF-2FD8-3ECD-D698-6865C1BE2FFE}" dt="2026-02-16T10:35:36.840" v="2" actId="20577"/>
        <pc:sldMkLst>
          <pc:docMk/>
          <pc:sldMk cId="440936711" sldId="345"/>
        </pc:sldMkLst>
        <pc:spChg chg="mod">
          <ac:chgData name="Dinishkaran Pillai, Ir. Ts." userId="S::dinish@tnb.com.my::3a903a43-e0bc-42cd-8151-89a6d27a804e" providerId="AD" clId="Web-{817627CF-2FD8-3ECD-D698-6865C1BE2FFE}" dt="2026-02-16T10:35:36.840" v="2" actId="20577"/>
          <ac:spMkLst>
            <pc:docMk/>
            <pc:sldMk cId="440936711" sldId="345"/>
            <ac:spMk id="5" creationId="{B4B4E8D1-DD92-3E53-5916-83FA32B153EF}"/>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mytnb.sharepoint.com/sites/TSREMechanical/Shared%20Documents/RCM/FY2025/RCM%20Analysis/CBSB/CBSB%20-%20Generator%20Transformer/RCM2%20Analysis%20template%20V4%20-%20_CBSB_%20-%20_Generator%20Transformers_%20-%20_rev%201_Day%204.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mytnb.sharepoint.com/sites/TSREMechanical/Shared%20Documents/RCM/FY2025/RCM%20Analysis/CBSB/CBSB%20-%20Generator%20Transformer/RCM2%20Analysis%20template%20V4%20-%20_CBSB_%20-%20_Generator%20Transformers_%20-%20_rev%201_Day%204.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cap="all" baseline="0">
                <a:solidFill>
                  <a:schemeClr val="tx1">
                    <a:lumMod val="65000"/>
                    <a:lumOff val="35000"/>
                  </a:schemeClr>
                </a:solidFill>
                <a:latin typeface="+mn-lt"/>
                <a:ea typeface="+mn-ea"/>
                <a:cs typeface="+mn-cs"/>
              </a:defRPr>
            </a:pPr>
            <a:r>
              <a:rPr lang="en-US"/>
              <a:t> GENERATOR TRANSFORMERS Maintenance Strategic BASED ON RCM METHODOLOGY </a:t>
            </a:r>
          </a:p>
        </c:rich>
      </c:tx>
      <c:overlay val="0"/>
      <c:spPr>
        <a:noFill/>
        <a:ln>
          <a:noFill/>
        </a:ln>
        <a:effectLst/>
      </c:spPr>
      <c:txPr>
        <a:bodyPr rot="0" spcFirstLastPara="1" vertOverflow="ellipsis" vert="horz" wrap="square" anchor="ctr" anchorCtr="1"/>
        <a:lstStyle/>
        <a:p>
          <a:pPr>
            <a:defRPr sz="1600" b="1" i="0" u="none" strike="noStrike" kern="1200" cap="all" baseline="0">
              <a:solidFill>
                <a:schemeClr val="tx1">
                  <a:lumMod val="65000"/>
                  <a:lumOff val="35000"/>
                </a:schemeClr>
              </a:solidFill>
              <a:latin typeface="+mn-lt"/>
              <a:ea typeface="+mn-ea"/>
              <a:cs typeface="+mn-cs"/>
            </a:defRPr>
          </a:pPr>
          <a:endParaRPr lang="en-US"/>
        </a:p>
      </c:txPr>
    </c:title>
    <c:autoTitleDeleted val="0"/>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0.15648896346973021"/>
          <c:y val="0.28095137592337038"/>
          <c:w val="0.72855212770534827"/>
          <c:h val="0.62382119760803101"/>
        </c:manualLayout>
      </c:layout>
      <c:pie3DChart>
        <c:varyColors val="1"/>
        <c:ser>
          <c:idx val="0"/>
          <c:order val="0"/>
          <c:dPt>
            <c:idx val="0"/>
            <c:bubble3D val="0"/>
            <c:spPr>
              <a:solidFill>
                <a:schemeClr val="accent1"/>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extLst>
              <c:ext xmlns:c16="http://schemas.microsoft.com/office/drawing/2014/chart" uri="{C3380CC4-5D6E-409C-BE32-E72D297353CC}">
                <c16:uniqueId val="{00000001-2E63-4DDB-9E70-90C011419A66}"/>
              </c:ext>
            </c:extLst>
          </c:dPt>
          <c:dPt>
            <c:idx val="1"/>
            <c:bubble3D val="0"/>
            <c:spPr>
              <a:solidFill>
                <a:schemeClr val="accent2"/>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extLst>
              <c:ext xmlns:c16="http://schemas.microsoft.com/office/drawing/2014/chart" uri="{C3380CC4-5D6E-409C-BE32-E72D297353CC}">
                <c16:uniqueId val="{00000003-2E63-4DDB-9E70-90C011419A66}"/>
              </c:ext>
            </c:extLst>
          </c:dPt>
          <c:dPt>
            <c:idx val="2"/>
            <c:bubble3D val="0"/>
            <c:spPr>
              <a:solidFill>
                <a:schemeClr val="accent3"/>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extLst>
              <c:ext xmlns:c16="http://schemas.microsoft.com/office/drawing/2014/chart" uri="{C3380CC4-5D6E-409C-BE32-E72D297353CC}">
                <c16:uniqueId val="{00000005-2E63-4DDB-9E70-90C011419A66}"/>
              </c:ext>
            </c:extLst>
          </c:dPt>
          <c:dPt>
            <c:idx val="3"/>
            <c:bubble3D val="0"/>
            <c:spPr>
              <a:solidFill>
                <a:schemeClr val="accent4"/>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extLst>
              <c:ext xmlns:c16="http://schemas.microsoft.com/office/drawing/2014/chart" uri="{C3380CC4-5D6E-409C-BE32-E72D297353CC}">
                <c16:uniqueId val="{00000007-2E63-4DDB-9E70-90C011419A66}"/>
              </c:ext>
            </c:extLst>
          </c:dPt>
          <c:dPt>
            <c:idx val="4"/>
            <c:bubble3D val="0"/>
            <c:spPr>
              <a:solidFill>
                <a:schemeClr val="accent5"/>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extLst>
              <c:ext xmlns:c16="http://schemas.microsoft.com/office/drawing/2014/chart" uri="{C3380CC4-5D6E-409C-BE32-E72D297353CC}">
                <c16:uniqueId val="{00000009-2E63-4DDB-9E70-90C011419A66}"/>
              </c:ext>
            </c:extLst>
          </c:dPt>
          <c:dPt>
            <c:idx val="5"/>
            <c:bubble3D val="0"/>
            <c:spPr>
              <a:solidFill>
                <a:schemeClr val="accent6"/>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extLst>
              <c:ext xmlns:c16="http://schemas.microsoft.com/office/drawing/2014/chart" uri="{C3380CC4-5D6E-409C-BE32-E72D297353CC}">
                <c16:uniqueId val="{0000000B-2E63-4DDB-9E70-90C011419A66}"/>
              </c:ext>
            </c:extLst>
          </c:dPt>
          <c:dLbls>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0"/>
              <c:showCatName val="1"/>
              <c:showSerName val="0"/>
              <c:showPercent val="1"/>
              <c:showBubbleSize val="0"/>
              <c:extLst>
                <c:ext xmlns:c16="http://schemas.microsoft.com/office/drawing/2014/chart" uri="{C3380CC4-5D6E-409C-BE32-E72D297353CC}">
                  <c16:uniqueId val="{00000001-2E63-4DDB-9E70-90C011419A66}"/>
                </c:ext>
              </c:extLst>
            </c:dLbl>
            <c:dLbl>
              <c:idx val="1"/>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2"/>
                      </a:solidFill>
                      <a:latin typeface="+mn-lt"/>
                      <a:ea typeface="+mn-ea"/>
                      <a:cs typeface="+mn-cs"/>
                    </a:defRPr>
                  </a:pPr>
                  <a:endParaRPr lang="en-US"/>
                </a:p>
              </c:txPr>
              <c:dLblPos val="outEnd"/>
              <c:showLegendKey val="0"/>
              <c:showVal val="0"/>
              <c:showCatName val="1"/>
              <c:showSerName val="0"/>
              <c:showPercent val="1"/>
              <c:showBubbleSize val="0"/>
              <c:extLst>
                <c:ext xmlns:c16="http://schemas.microsoft.com/office/drawing/2014/chart" uri="{C3380CC4-5D6E-409C-BE32-E72D297353CC}">
                  <c16:uniqueId val="{00000003-2E63-4DDB-9E70-90C011419A66}"/>
                </c:ext>
              </c:extLst>
            </c:dLbl>
            <c:dLbl>
              <c:idx val="2"/>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3"/>
                      </a:solidFill>
                      <a:latin typeface="+mn-lt"/>
                      <a:ea typeface="+mn-ea"/>
                      <a:cs typeface="+mn-cs"/>
                    </a:defRPr>
                  </a:pPr>
                  <a:endParaRPr lang="en-US"/>
                </a:p>
              </c:txPr>
              <c:dLblPos val="outEnd"/>
              <c:showLegendKey val="0"/>
              <c:showVal val="0"/>
              <c:showCatName val="1"/>
              <c:showSerName val="0"/>
              <c:showPercent val="1"/>
              <c:showBubbleSize val="0"/>
              <c:extLst>
                <c:ext xmlns:c16="http://schemas.microsoft.com/office/drawing/2014/chart" uri="{C3380CC4-5D6E-409C-BE32-E72D297353CC}">
                  <c16:uniqueId val="{00000005-2E63-4DDB-9E70-90C011419A66}"/>
                </c:ext>
              </c:extLst>
            </c:dLbl>
            <c:dLbl>
              <c:idx val="3"/>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4"/>
                      </a:solidFill>
                      <a:latin typeface="+mn-lt"/>
                      <a:ea typeface="+mn-ea"/>
                      <a:cs typeface="+mn-cs"/>
                    </a:defRPr>
                  </a:pPr>
                  <a:endParaRPr lang="en-US"/>
                </a:p>
              </c:txPr>
              <c:dLblPos val="outEnd"/>
              <c:showLegendKey val="0"/>
              <c:showVal val="0"/>
              <c:showCatName val="1"/>
              <c:showSerName val="0"/>
              <c:showPercent val="1"/>
              <c:showBubbleSize val="0"/>
              <c:extLst>
                <c:ext xmlns:c16="http://schemas.microsoft.com/office/drawing/2014/chart" uri="{C3380CC4-5D6E-409C-BE32-E72D297353CC}">
                  <c16:uniqueId val="{00000007-2E63-4DDB-9E70-90C011419A66}"/>
                </c:ext>
              </c:extLst>
            </c:dLbl>
            <c:dLbl>
              <c:idx val="4"/>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2">
                          <a:lumMod val="60000"/>
                        </a:schemeClr>
                      </a:solidFill>
                      <a:latin typeface="+mn-lt"/>
                      <a:ea typeface="+mn-ea"/>
                      <a:cs typeface="+mn-cs"/>
                    </a:defRPr>
                  </a:pPr>
                  <a:endParaRPr lang="en-US"/>
                </a:p>
              </c:txPr>
              <c:dLblPos val="outEnd"/>
              <c:showLegendKey val="0"/>
              <c:showVal val="0"/>
              <c:showCatName val="1"/>
              <c:showSerName val="0"/>
              <c:showPercent val="1"/>
              <c:showBubbleSize val="0"/>
              <c:extLst>
                <c:ext xmlns:c16="http://schemas.microsoft.com/office/drawing/2014/chart" uri="{C3380CC4-5D6E-409C-BE32-E72D297353CC}">
                  <c16:uniqueId val="{00000009-2E63-4DDB-9E70-90C011419A66}"/>
                </c:ext>
              </c:extLst>
            </c:dLbl>
            <c:dLbl>
              <c:idx val="5"/>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3">
                          <a:lumMod val="60000"/>
                        </a:schemeClr>
                      </a:solidFill>
                      <a:latin typeface="+mn-lt"/>
                      <a:ea typeface="+mn-ea"/>
                      <a:cs typeface="+mn-cs"/>
                    </a:defRPr>
                  </a:pPr>
                  <a:endParaRPr lang="en-US"/>
                </a:p>
              </c:txPr>
              <c:dLblPos val="outEnd"/>
              <c:showLegendKey val="0"/>
              <c:showVal val="0"/>
              <c:showCatName val="1"/>
              <c:showSerName val="0"/>
              <c:showPercent val="1"/>
              <c:showBubbleSize val="0"/>
              <c:extLst>
                <c:ext xmlns:c16="http://schemas.microsoft.com/office/drawing/2014/chart" uri="{C3380CC4-5D6E-409C-BE32-E72D297353CC}">
                  <c16:uniqueId val="{0000000B-2E63-4DDB-9E70-90C011419A66}"/>
                </c:ext>
              </c:extLst>
            </c:dLbl>
            <c:spPr>
              <a:noFill/>
              <a:ln>
                <a:noFill/>
              </a:ln>
              <a:effectLst/>
            </c:spPr>
            <c:dLblPos val="outEnd"/>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(Summary!$B$5:$B$8,Summary!$B$12:$B$13)</c:f>
              <c:strCache>
                <c:ptCount val="6"/>
                <c:pt idx="0">
                  <c:v>OC - On Condition Task</c:v>
                </c:pt>
                <c:pt idx="1">
                  <c:v>SR - Schedule Restoration</c:v>
                </c:pt>
                <c:pt idx="2">
                  <c:v>SD - Schedule Discard</c:v>
                </c:pt>
                <c:pt idx="3">
                  <c:v>FF - Failure Finding</c:v>
                </c:pt>
                <c:pt idx="4">
                  <c:v>R-PRO - Redesign - Procedure</c:v>
                </c:pt>
                <c:pt idx="5">
                  <c:v>R - SPARE - Redesign - Spare Management</c:v>
                </c:pt>
              </c:strCache>
              <c:extLst/>
            </c:strRef>
          </c:cat>
          <c:val>
            <c:numRef>
              <c:f>(Summary!$D$5:$D$8,Summary!$D$12:$D$13)</c:f>
              <c:numCache>
                <c:formatCode>_(* #,##0_);_(* \(#,##0\);_(* "-"_);_(@_)</c:formatCode>
                <c:ptCount val="6"/>
                <c:pt idx="0">
                  <c:v>29</c:v>
                </c:pt>
                <c:pt idx="1">
                  <c:v>2</c:v>
                </c:pt>
                <c:pt idx="2">
                  <c:v>3</c:v>
                </c:pt>
                <c:pt idx="3">
                  <c:v>14</c:v>
                </c:pt>
                <c:pt idx="4">
                  <c:v>2</c:v>
                </c:pt>
                <c:pt idx="5">
                  <c:v>4</c:v>
                </c:pt>
              </c:numCache>
              <c:extLst/>
            </c:numRef>
          </c:val>
          <c:extLst>
            <c:ext xmlns:c16="http://schemas.microsoft.com/office/drawing/2014/chart" uri="{C3380CC4-5D6E-409C-BE32-E72D297353CC}">
              <c16:uniqueId val="{0000000C-2E63-4DDB-9E70-90C011419A66}"/>
            </c:ext>
          </c:extLst>
        </c:ser>
        <c:dLbls>
          <c:dLblPos val="outEnd"/>
          <c:showLegendKey val="0"/>
          <c:showVal val="0"/>
          <c:showCatName val="0"/>
          <c:showSerName val="0"/>
          <c:showPercent val="1"/>
          <c:showBubbleSize val="0"/>
          <c:showLeaderLines val="1"/>
        </c:dLbls>
        <c:extLst/>
      </c:pie3D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cap="all" spc="150" baseline="0">
                <a:solidFill>
                  <a:schemeClr val="tx1">
                    <a:lumMod val="50000"/>
                    <a:lumOff val="50000"/>
                  </a:schemeClr>
                </a:solidFill>
                <a:latin typeface="+mn-lt"/>
                <a:ea typeface="+mn-ea"/>
                <a:cs typeface="+mn-cs"/>
              </a:defRPr>
            </a:pPr>
            <a:r>
              <a:rPr lang="en-US" sz="1800" b="1" i="0" u="none" strike="noStrike" cap="all" baseline="0">
                <a:effectLst/>
              </a:rPr>
              <a:t> </a:t>
            </a:r>
            <a:r>
              <a:rPr lang="en-US" sz="1800" b="1" i="0" u="none" strike="noStrike" kern="1200" cap="all" spc="150" baseline="0">
                <a:solidFill>
                  <a:sysClr val="windowText" lastClr="000000">
                    <a:lumMod val="50000"/>
                    <a:lumOff val="50000"/>
                  </a:sysClr>
                </a:solidFill>
              </a:rPr>
              <a:t>GENERATOR TRANSFORMERS </a:t>
            </a:r>
            <a:r>
              <a:rPr lang="en-US"/>
              <a:t>Maintenance Task </a:t>
            </a:r>
          </a:p>
        </c:rich>
      </c:tx>
      <c:overlay val="0"/>
      <c:spPr>
        <a:noFill/>
        <a:ln>
          <a:noFill/>
        </a:ln>
        <a:effectLst/>
      </c:spPr>
      <c:txPr>
        <a:bodyPr rot="0" spcFirstLastPara="1" vertOverflow="ellipsis" vert="horz" wrap="square" anchor="ctr" anchorCtr="1"/>
        <a:lstStyle/>
        <a:p>
          <a:pPr>
            <a:defRPr sz="1800" b="1" i="0" u="none" strike="noStrike" kern="1200" cap="all" spc="150" baseline="0">
              <a:solidFill>
                <a:schemeClr val="tx1">
                  <a:lumMod val="50000"/>
                  <a:lumOff val="50000"/>
                </a:schemeClr>
              </a:solidFill>
              <a:latin typeface="+mn-lt"/>
              <a:ea typeface="+mn-ea"/>
              <a:cs typeface="+mn-cs"/>
            </a:defRPr>
          </a:pPr>
          <a:endParaRPr lang="en-US"/>
        </a:p>
      </c:txPr>
    </c:title>
    <c:autoTitleDeleted val="0"/>
    <c:plotArea>
      <c:layout>
        <c:manualLayout>
          <c:layoutTarget val="inner"/>
          <c:xMode val="edge"/>
          <c:yMode val="edge"/>
          <c:x val="0.19776224846894139"/>
          <c:y val="0.22152850685330999"/>
          <c:w val="0.75901552930883642"/>
          <c:h val="0.49984507144940216"/>
        </c:manualLayout>
      </c:layout>
      <c:barChart>
        <c:barDir val="bar"/>
        <c:grouping val="clustered"/>
        <c:varyColors val="0"/>
        <c:ser>
          <c:idx val="0"/>
          <c:order val="0"/>
          <c:tx>
            <c:strRef>
              <c:f>Summary!$L$8</c:f>
              <c:strCache>
                <c:ptCount val="1"/>
                <c:pt idx="0">
                  <c:v>Total Task </c:v>
                </c:pt>
              </c:strCache>
            </c:strRef>
          </c:tx>
          <c:spPr>
            <a:pattFill prst="narVert">
              <a:fgClr>
                <a:schemeClr val="accent1"/>
              </a:fgClr>
              <a:bgClr>
                <a:schemeClr val="accent1">
                  <a:lumMod val="20000"/>
                  <a:lumOff val="80000"/>
                </a:schemeClr>
              </a:bgClr>
            </a:pattFill>
            <a:ln>
              <a:noFill/>
            </a:ln>
            <a:effectLst>
              <a:innerShdw blurRad="114300">
                <a:schemeClr val="accent1"/>
              </a:inn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Summary!$K$9:$K$12</c:f>
              <c:strCache>
                <c:ptCount val="4"/>
                <c:pt idx="0">
                  <c:v>CBSBCNI</c:v>
                </c:pt>
                <c:pt idx="1">
                  <c:v>CBSBELEC</c:v>
                </c:pt>
                <c:pt idx="2">
                  <c:v>CBSBOPER</c:v>
                </c:pt>
                <c:pt idx="3">
                  <c:v>CBSBSVFC</c:v>
                </c:pt>
              </c:strCache>
            </c:strRef>
          </c:cat>
          <c:val>
            <c:numRef>
              <c:f>Summary!$L$9:$L$12</c:f>
              <c:numCache>
                <c:formatCode>General</c:formatCode>
                <c:ptCount val="4"/>
                <c:pt idx="0">
                  <c:v>2</c:v>
                </c:pt>
                <c:pt idx="1">
                  <c:v>41</c:v>
                </c:pt>
                <c:pt idx="2">
                  <c:v>8</c:v>
                </c:pt>
                <c:pt idx="3">
                  <c:v>3</c:v>
                </c:pt>
              </c:numCache>
            </c:numRef>
          </c:val>
          <c:extLst>
            <c:ext xmlns:c16="http://schemas.microsoft.com/office/drawing/2014/chart" uri="{C3380CC4-5D6E-409C-BE32-E72D297353CC}">
              <c16:uniqueId val="{00000000-1277-4D4C-8C20-51C7C0DD99D9}"/>
            </c:ext>
          </c:extLst>
        </c:ser>
        <c:ser>
          <c:idx val="1"/>
          <c:order val="1"/>
          <c:tx>
            <c:strRef>
              <c:f>Summary!$M$8</c:f>
              <c:strCache>
                <c:ptCount val="1"/>
                <c:pt idx="0">
                  <c:v>Task Executed</c:v>
                </c:pt>
              </c:strCache>
            </c:strRef>
          </c:tx>
          <c:spPr>
            <a:pattFill prst="narVert">
              <a:fgClr>
                <a:schemeClr val="accent2"/>
              </a:fgClr>
              <a:bgClr>
                <a:schemeClr val="accent2">
                  <a:lumMod val="20000"/>
                  <a:lumOff val="80000"/>
                </a:schemeClr>
              </a:bgClr>
            </a:pattFill>
            <a:ln>
              <a:noFill/>
            </a:ln>
            <a:effectLst>
              <a:innerShdw blurRad="114300">
                <a:schemeClr val="accent2"/>
              </a:inn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Summary!$K$9:$K$12</c:f>
              <c:strCache>
                <c:ptCount val="4"/>
                <c:pt idx="0">
                  <c:v>CBSBCNI</c:v>
                </c:pt>
                <c:pt idx="1">
                  <c:v>CBSBELEC</c:v>
                </c:pt>
                <c:pt idx="2">
                  <c:v>CBSBOPER</c:v>
                </c:pt>
                <c:pt idx="3">
                  <c:v>CBSBSVFC</c:v>
                </c:pt>
              </c:strCache>
            </c:strRef>
          </c:cat>
          <c:val>
            <c:numRef>
              <c:f>Summary!$M$9:$M$12</c:f>
              <c:numCache>
                <c:formatCode>General</c:formatCode>
                <c:ptCount val="4"/>
                <c:pt idx="0">
                  <c:v>0</c:v>
                </c:pt>
                <c:pt idx="1">
                  <c:v>30</c:v>
                </c:pt>
                <c:pt idx="2">
                  <c:v>0</c:v>
                </c:pt>
                <c:pt idx="3">
                  <c:v>0</c:v>
                </c:pt>
              </c:numCache>
            </c:numRef>
          </c:val>
          <c:extLst>
            <c:ext xmlns:c16="http://schemas.microsoft.com/office/drawing/2014/chart" uri="{C3380CC4-5D6E-409C-BE32-E72D297353CC}">
              <c16:uniqueId val="{00000001-1277-4D4C-8C20-51C7C0DD99D9}"/>
            </c:ext>
          </c:extLst>
        </c:ser>
        <c:dLbls>
          <c:dLblPos val="outEnd"/>
          <c:showLegendKey val="0"/>
          <c:showVal val="1"/>
          <c:showCatName val="0"/>
          <c:showSerName val="0"/>
          <c:showPercent val="0"/>
          <c:showBubbleSize val="0"/>
        </c:dLbls>
        <c:gapWidth val="227"/>
        <c:overlap val="-48"/>
        <c:axId val="1586106271"/>
        <c:axId val="1366730351"/>
      </c:barChart>
      <c:catAx>
        <c:axId val="1586106271"/>
        <c:scaling>
          <c:orientation val="minMax"/>
        </c:scaling>
        <c:delete val="0"/>
        <c:axPos val="l"/>
        <c:title>
          <c:tx>
            <c:rich>
              <a:bodyPr rot="-54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r>
                  <a:rPr lang="en-US"/>
                  <a:t>Section</a:t>
                </a:r>
                <a:r>
                  <a:rPr lang="en-US" baseline="0"/>
                  <a:t> </a:t>
                </a:r>
                <a:endParaRPr lang="en-US"/>
              </a:p>
            </c:rich>
          </c:tx>
          <c:overlay val="0"/>
          <c:spPr>
            <a:noFill/>
            <a:ln>
              <a:noFill/>
            </a:ln>
            <a:effectLst/>
          </c:spPr>
          <c:txPr>
            <a:bodyPr rot="-54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19050"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66730351"/>
        <c:crosses val="autoZero"/>
        <c:auto val="1"/>
        <c:lblAlgn val="ctr"/>
        <c:lblOffset val="100"/>
        <c:noMultiLvlLbl val="0"/>
      </c:catAx>
      <c:valAx>
        <c:axId val="1366730351"/>
        <c:scaling>
          <c:orientation val="minMax"/>
        </c:scaling>
        <c:delete val="0"/>
        <c:axPos val="b"/>
        <c:title>
          <c:tx>
            <c:rich>
              <a:bodyPr rot="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r>
                  <a:rPr lang="en-US"/>
                  <a:t>No Of Task</a:t>
                </a:r>
              </a:p>
            </c:rich>
          </c:tx>
          <c:overlay val="0"/>
          <c:spPr>
            <a:noFill/>
            <a:ln>
              <a:noFill/>
            </a:ln>
            <a:effectLst/>
          </c:spPr>
          <c:txPr>
            <a:bodyPr rot="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86106271"/>
        <c:crosses val="autoZero"/>
        <c:crossBetween val="between"/>
      </c:valAx>
      <c:spPr>
        <a:noFill/>
        <a:ln>
          <a:noFill/>
        </a:ln>
        <a:effectLst/>
      </c:spPr>
    </c:plotArea>
    <c:legend>
      <c:legendPos val="t"/>
      <c:layout>
        <c:manualLayout>
          <c:xMode val="edge"/>
          <c:yMode val="edge"/>
          <c:x val="2.1316272965879277E-2"/>
          <c:y val="0.89803258967629052"/>
          <c:w val="0.32236258742262314"/>
          <c:h val="7.8125546806649182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9">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cs:styleClr val="auto"/>
    </cs:fontRef>
    <cs:defRPr sz="1000" b="1" i="0" u="none" strike="noStrike" kern="1200" spc="0" baseline="0"/>
  </cs:dataLabel>
  <cs:dataLabelCallout>
    <cs:lnRef idx="0">
      <cs:styleClr val="auto"/>
    </cs:lnRef>
    <cs:fillRef idx="0"/>
    <cs:effectRef idx="0"/>
    <cs:fontRef idx="minor">
      <cs:styleClr val="auto"/>
    </cs:fontRef>
    <cs:spPr>
      <a:solidFill>
        <a:schemeClr val="lt1"/>
      </a:solidFill>
      <a:ln>
        <a:solidFill>
          <a:schemeClr val="phClr"/>
        </a:solidFill>
      </a:ln>
    </cs:spPr>
    <cs:defRPr sz="10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635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10000"/>
          </a:prstClr>
        </a:outerShdw>
      </a:effectLst>
      <a:scene3d>
        <a:camera prst="orthographicFront"/>
        <a:lightRig rig="threePt" dir="t"/>
      </a:scene3d>
      <a:sp3d>
        <a:bevelT w="127000" h="127000"/>
        <a:bevelB w="127000" h="127000"/>
      </a:sp3d>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7">
  <cs:axisTitle>
    <cs:lnRef idx="0"/>
    <cs:fillRef idx="0"/>
    <cs:effectRef idx="0"/>
    <cs:fontRef idx="minor">
      <a:schemeClr val="tx1">
        <a:lumMod val="65000"/>
        <a:lumOff val="35000"/>
      </a:schemeClr>
    </cs:fontRef>
    <cs:defRPr sz="900" b="1" kern="1200"/>
  </cs:axisTitle>
  <cs:categoryAxis>
    <cs:lnRef idx="0"/>
    <cs:fillRef idx="0"/>
    <cs:effectRef idx="0"/>
    <cs:fontRef idx="minor">
      <a:schemeClr val="tx1">
        <a:lumMod val="65000"/>
        <a:lumOff val="35000"/>
      </a:schemeClr>
    </cs:fontRef>
    <cs:spPr>
      <a:ln w="19050"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styleClr val="auto"/>
    </cs:effectRef>
    <cs:fontRef idx="minor">
      <a:schemeClr val="dk1"/>
    </cs:fontRef>
    <cs:spPr>
      <a:pattFill prst="narVert">
        <a:fgClr>
          <a:schemeClr val="phClr"/>
        </a:fgClr>
        <a:bgClr>
          <a:schemeClr val="phClr">
            <a:lumMod val="20000"/>
            <a:lumOff val="80000"/>
          </a:schemeClr>
        </a:bgClr>
      </a:pattFill>
      <a:effectLst>
        <a:innerShdw blurRad="114300">
          <a:schemeClr val="phClr"/>
        </a:innerShdw>
      </a:effectLst>
    </cs:spPr>
  </cs:dataPoint>
  <cs:dataPoint3D>
    <cs:lnRef idx="0"/>
    <cs:fillRef idx="0">
      <cs:styleClr val="auto"/>
    </cs:fillRef>
    <cs:effectRef idx="0"/>
    <cs:fontRef idx="minor">
      <a:schemeClr val="dk1"/>
    </cs:fontRef>
    <cs:spPr>
      <a:pattFill prst="narVert">
        <a:fgClr>
          <a:schemeClr val="phClr"/>
        </a:fgClr>
        <a:bgClr>
          <a:schemeClr val="phClr">
            <a:lumMod val="20000"/>
            <a:lumOff val="80000"/>
          </a:schemeClr>
        </a:bgClr>
      </a:pattFill>
      <a:effectLst>
        <a:innerShdw blurRad="114300">
          <a:schemeClr val="phClr"/>
        </a:innerShdw>
      </a:effectLst>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a:solidFill>
          <a:schemeClr val="tx1">
            <a:lumMod val="15000"/>
            <a:lumOff val="85000"/>
          </a:schemeClr>
        </a:solidFill>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50000"/>
        <a:lumOff val="50000"/>
      </a:schemeClr>
    </cs:fontRef>
    <cs:defRPr sz="1800" b="1" kern="1200" cap="all" spc="15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EE3866-52C3-474A-9FC1-DE3ACE3677DC}" type="datetimeFigureOut">
              <a:rPr lang="en-US" smtClean="0"/>
              <a:t>2/26/2026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7225C8-E0A0-491D-B77F-260B551CEA97}" type="slidenum">
              <a:rPr lang="en-US" smtClean="0"/>
              <a:t>‹#›</a:t>
            </a:fld>
            <a:endParaRPr lang="en-US"/>
          </a:p>
        </p:txBody>
      </p:sp>
    </p:spTree>
    <p:extLst>
      <p:ext uri="{BB962C8B-B14F-4D97-AF65-F5344CB8AC3E}">
        <p14:creationId xmlns:p14="http://schemas.microsoft.com/office/powerpoint/2010/main" val="34263795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D7225C8-E0A0-491D-B77F-260B551CEA97}" type="slidenum">
              <a:rPr lang="en-US" smtClean="0"/>
              <a:t>7</a:t>
            </a:fld>
            <a:endParaRPr lang="en-US"/>
          </a:p>
        </p:txBody>
      </p:sp>
    </p:spTree>
    <p:extLst>
      <p:ext uri="{BB962C8B-B14F-4D97-AF65-F5344CB8AC3E}">
        <p14:creationId xmlns:p14="http://schemas.microsoft.com/office/powerpoint/2010/main" val="41360838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D7225C8-E0A0-491D-B77F-260B551CEA97}" type="slidenum">
              <a:rPr lang="en-US" smtClean="0"/>
              <a:t>8</a:t>
            </a:fld>
            <a:endParaRPr lang="en-US"/>
          </a:p>
        </p:txBody>
      </p:sp>
    </p:spTree>
    <p:extLst>
      <p:ext uri="{BB962C8B-B14F-4D97-AF65-F5344CB8AC3E}">
        <p14:creationId xmlns:p14="http://schemas.microsoft.com/office/powerpoint/2010/main" val="30476514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2DF41-48D3-BA0A-30D2-EF19501AF2F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87C88A0-2EC0-CD0C-DAE9-7D6417E2579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4DF53D1-AD98-A88E-6BBB-7F30406ADC92}"/>
              </a:ext>
            </a:extLst>
          </p:cNvPr>
          <p:cNvSpPr>
            <a:spLocks noGrp="1"/>
          </p:cNvSpPr>
          <p:nvPr>
            <p:ph type="dt" sz="half" idx="10"/>
          </p:nvPr>
        </p:nvSpPr>
        <p:spPr/>
        <p:txBody>
          <a:bodyPr/>
          <a:lstStyle/>
          <a:p>
            <a:fld id="{66A70CFE-5403-4CF5-8646-E3D2722287BB}" type="datetimeFigureOut">
              <a:rPr lang="en-US" smtClean="0"/>
              <a:t>2/26/2026</a:t>
            </a:fld>
            <a:endParaRPr lang="en-US"/>
          </a:p>
        </p:txBody>
      </p:sp>
      <p:sp>
        <p:nvSpPr>
          <p:cNvPr id="5" name="Footer Placeholder 4">
            <a:extLst>
              <a:ext uri="{FF2B5EF4-FFF2-40B4-BE49-F238E27FC236}">
                <a16:creationId xmlns:a16="http://schemas.microsoft.com/office/drawing/2014/main" id="{A6E4CC15-D29C-CE63-3796-F2B12F63A3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157AA4-074B-8841-A8A9-9BE29ECC1BF0}"/>
              </a:ext>
            </a:extLst>
          </p:cNvPr>
          <p:cNvSpPr>
            <a:spLocks noGrp="1"/>
          </p:cNvSpPr>
          <p:nvPr>
            <p:ph type="sldNum" sz="quarter" idx="12"/>
          </p:nvPr>
        </p:nvSpPr>
        <p:spPr/>
        <p:txBody>
          <a:bodyPr/>
          <a:lstStyle/>
          <a:p>
            <a:fld id="{BF75992B-FCF2-473F-A724-8AA01D0A816F}" type="slidenum">
              <a:rPr lang="en-US" smtClean="0"/>
              <a:t>‹#›</a:t>
            </a:fld>
            <a:endParaRPr lang="en-US"/>
          </a:p>
        </p:txBody>
      </p:sp>
    </p:spTree>
    <p:extLst>
      <p:ext uri="{BB962C8B-B14F-4D97-AF65-F5344CB8AC3E}">
        <p14:creationId xmlns:p14="http://schemas.microsoft.com/office/powerpoint/2010/main" val="20296276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526D2F-49E1-D139-6BDC-BA1EC1F7B80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17778B6-D7B9-8CF6-0E46-C87D37F2D90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6736E63-74B0-DC12-7150-D9BC75B0BBA1}"/>
              </a:ext>
            </a:extLst>
          </p:cNvPr>
          <p:cNvSpPr>
            <a:spLocks noGrp="1"/>
          </p:cNvSpPr>
          <p:nvPr>
            <p:ph type="dt" sz="half" idx="10"/>
          </p:nvPr>
        </p:nvSpPr>
        <p:spPr/>
        <p:txBody>
          <a:bodyPr/>
          <a:lstStyle/>
          <a:p>
            <a:fld id="{66A70CFE-5403-4CF5-8646-E3D2722287BB}" type="datetimeFigureOut">
              <a:rPr lang="en-US" smtClean="0"/>
              <a:t>2/26/2026</a:t>
            </a:fld>
            <a:endParaRPr lang="en-US"/>
          </a:p>
        </p:txBody>
      </p:sp>
      <p:sp>
        <p:nvSpPr>
          <p:cNvPr id="5" name="Footer Placeholder 4">
            <a:extLst>
              <a:ext uri="{FF2B5EF4-FFF2-40B4-BE49-F238E27FC236}">
                <a16:creationId xmlns:a16="http://schemas.microsoft.com/office/drawing/2014/main" id="{06C451DE-852B-BE26-0A79-33FA15A32F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96CA3B-33EA-FBDB-CAE2-3114FDFDBEB6}"/>
              </a:ext>
            </a:extLst>
          </p:cNvPr>
          <p:cNvSpPr>
            <a:spLocks noGrp="1"/>
          </p:cNvSpPr>
          <p:nvPr>
            <p:ph type="sldNum" sz="quarter" idx="12"/>
          </p:nvPr>
        </p:nvSpPr>
        <p:spPr/>
        <p:txBody>
          <a:bodyPr/>
          <a:lstStyle/>
          <a:p>
            <a:fld id="{BF75992B-FCF2-473F-A724-8AA01D0A816F}" type="slidenum">
              <a:rPr lang="en-US" smtClean="0"/>
              <a:t>‹#›</a:t>
            </a:fld>
            <a:endParaRPr lang="en-US"/>
          </a:p>
        </p:txBody>
      </p:sp>
    </p:spTree>
    <p:extLst>
      <p:ext uri="{BB962C8B-B14F-4D97-AF65-F5344CB8AC3E}">
        <p14:creationId xmlns:p14="http://schemas.microsoft.com/office/powerpoint/2010/main" val="26478978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91788-27E0-4948-2F75-47AEED99B8F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18A4B3B-A989-7383-F50A-1304F1646BE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D64C2CE-B82D-35A2-DD59-0040ACCE7926}"/>
              </a:ext>
            </a:extLst>
          </p:cNvPr>
          <p:cNvSpPr>
            <a:spLocks noGrp="1"/>
          </p:cNvSpPr>
          <p:nvPr>
            <p:ph type="dt" sz="half" idx="10"/>
          </p:nvPr>
        </p:nvSpPr>
        <p:spPr/>
        <p:txBody>
          <a:bodyPr/>
          <a:lstStyle/>
          <a:p>
            <a:fld id="{66A70CFE-5403-4CF5-8646-E3D2722287BB}" type="datetimeFigureOut">
              <a:rPr lang="en-US" smtClean="0"/>
              <a:t>2/26/2026</a:t>
            </a:fld>
            <a:endParaRPr lang="en-US"/>
          </a:p>
        </p:txBody>
      </p:sp>
      <p:sp>
        <p:nvSpPr>
          <p:cNvPr id="5" name="Footer Placeholder 4">
            <a:extLst>
              <a:ext uri="{FF2B5EF4-FFF2-40B4-BE49-F238E27FC236}">
                <a16:creationId xmlns:a16="http://schemas.microsoft.com/office/drawing/2014/main" id="{7D9B13D7-A93F-FC27-C5A9-3725BD5884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C83087-DE99-E73C-B139-171AA17AB800}"/>
              </a:ext>
            </a:extLst>
          </p:cNvPr>
          <p:cNvSpPr>
            <a:spLocks noGrp="1"/>
          </p:cNvSpPr>
          <p:nvPr>
            <p:ph type="sldNum" sz="quarter" idx="12"/>
          </p:nvPr>
        </p:nvSpPr>
        <p:spPr/>
        <p:txBody>
          <a:bodyPr/>
          <a:lstStyle/>
          <a:p>
            <a:fld id="{BF75992B-FCF2-473F-A724-8AA01D0A816F}" type="slidenum">
              <a:rPr lang="en-US" smtClean="0"/>
              <a:t>‹#›</a:t>
            </a:fld>
            <a:endParaRPr lang="en-US"/>
          </a:p>
        </p:txBody>
      </p:sp>
    </p:spTree>
    <p:extLst>
      <p:ext uri="{BB962C8B-B14F-4D97-AF65-F5344CB8AC3E}">
        <p14:creationId xmlns:p14="http://schemas.microsoft.com/office/powerpoint/2010/main" val="38315972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6134A-999A-80B7-7879-9D8FA451E08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20A638-2975-090A-8A01-85C4A3A9300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D7FDFE9-3A20-22DE-9D1E-2995E893513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3842FCF-1893-EF89-FBF5-DE7F65F88C27}"/>
              </a:ext>
            </a:extLst>
          </p:cNvPr>
          <p:cNvSpPr>
            <a:spLocks noGrp="1"/>
          </p:cNvSpPr>
          <p:nvPr>
            <p:ph type="dt" sz="half" idx="10"/>
          </p:nvPr>
        </p:nvSpPr>
        <p:spPr/>
        <p:txBody>
          <a:bodyPr/>
          <a:lstStyle/>
          <a:p>
            <a:fld id="{66A70CFE-5403-4CF5-8646-E3D2722287BB}" type="datetimeFigureOut">
              <a:rPr lang="en-US" smtClean="0"/>
              <a:t>2/26/2026</a:t>
            </a:fld>
            <a:endParaRPr lang="en-US"/>
          </a:p>
        </p:txBody>
      </p:sp>
      <p:sp>
        <p:nvSpPr>
          <p:cNvPr id="6" name="Footer Placeholder 5">
            <a:extLst>
              <a:ext uri="{FF2B5EF4-FFF2-40B4-BE49-F238E27FC236}">
                <a16:creationId xmlns:a16="http://schemas.microsoft.com/office/drawing/2014/main" id="{F940A438-4208-33C8-1DE1-B45262D40B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A6771A0-9EB2-215A-292B-BBE151621771}"/>
              </a:ext>
            </a:extLst>
          </p:cNvPr>
          <p:cNvSpPr>
            <a:spLocks noGrp="1"/>
          </p:cNvSpPr>
          <p:nvPr>
            <p:ph type="sldNum" sz="quarter" idx="12"/>
          </p:nvPr>
        </p:nvSpPr>
        <p:spPr/>
        <p:txBody>
          <a:bodyPr/>
          <a:lstStyle/>
          <a:p>
            <a:fld id="{BF75992B-FCF2-473F-A724-8AA01D0A816F}" type="slidenum">
              <a:rPr lang="en-US" smtClean="0"/>
              <a:t>‹#›</a:t>
            </a:fld>
            <a:endParaRPr lang="en-US"/>
          </a:p>
        </p:txBody>
      </p:sp>
    </p:spTree>
    <p:extLst>
      <p:ext uri="{BB962C8B-B14F-4D97-AF65-F5344CB8AC3E}">
        <p14:creationId xmlns:p14="http://schemas.microsoft.com/office/powerpoint/2010/main" val="35502175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A06CF7-0097-1F3B-872B-8A248BEC955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C251AF2-F636-C788-78FD-49C0A5D743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08EB0AD-BA2F-5F5A-B5E4-70F863F9EA8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04FD78B-F701-6541-33A3-315A28DAEC3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23FE8CA-0F81-2644-7D2F-FA5AF027315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273F91D-27BA-A12A-E2D4-B8AAEB062A9D}"/>
              </a:ext>
            </a:extLst>
          </p:cNvPr>
          <p:cNvSpPr>
            <a:spLocks noGrp="1"/>
          </p:cNvSpPr>
          <p:nvPr>
            <p:ph type="dt" sz="half" idx="10"/>
          </p:nvPr>
        </p:nvSpPr>
        <p:spPr/>
        <p:txBody>
          <a:bodyPr/>
          <a:lstStyle/>
          <a:p>
            <a:fld id="{66A70CFE-5403-4CF5-8646-E3D2722287BB}" type="datetimeFigureOut">
              <a:rPr lang="en-US" smtClean="0"/>
              <a:t>2/26/2026</a:t>
            </a:fld>
            <a:endParaRPr lang="en-US"/>
          </a:p>
        </p:txBody>
      </p:sp>
      <p:sp>
        <p:nvSpPr>
          <p:cNvPr id="8" name="Footer Placeholder 7">
            <a:extLst>
              <a:ext uri="{FF2B5EF4-FFF2-40B4-BE49-F238E27FC236}">
                <a16:creationId xmlns:a16="http://schemas.microsoft.com/office/drawing/2014/main" id="{8661A555-3B3C-2A8D-535B-5AC4EF4A9FB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48F22AC-B526-4C65-88A1-10133A65BD3E}"/>
              </a:ext>
            </a:extLst>
          </p:cNvPr>
          <p:cNvSpPr>
            <a:spLocks noGrp="1"/>
          </p:cNvSpPr>
          <p:nvPr>
            <p:ph type="sldNum" sz="quarter" idx="12"/>
          </p:nvPr>
        </p:nvSpPr>
        <p:spPr/>
        <p:txBody>
          <a:bodyPr/>
          <a:lstStyle/>
          <a:p>
            <a:fld id="{BF75992B-FCF2-473F-A724-8AA01D0A816F}" type="slidenum">
              <a:rPr lang="en-US" smtClean="0"/>
              <a:t>‹#›</a:t>
            </a:fld>
            <a:endParaRPr lang="en-US"/>
          </a:p>
        </p:txBody>
      </p:sp>
    </p:spTree>
    <p:extLst>
      <p:ext uri="{BB962C8B-B14F-4D97-AF65-F5344CB8AC3E}">
        <p14:creationId xmlns:p14="http://schemas.microsoft.com/office/powerpoint/2010/main" val="32346637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AA4A5D-1F80-2940-DF4E-7B7EC4E65C1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3082B40-1931-24F5-313A-5FC75E100A26}"/>
              </a:ext>
            </a:extLst>
          </p:cNvPr>
          <p:cNvSpPr>
            <a:spLocks noGrp="1"/>
          </p:cNvSpPr>
          <p:nvPr>
            <p:ph type="dt" sz="half" idx="10"/>
          </p:nvPr>
        </p:nvSpPr>
        <p:spPr/>
        <p:txBody>
          <a:bodyPr/>
          <a:lstStyle/>
          <a:p>
            <a:fld id="{66A70CFE-5403-4CF5-8646-E3D2722287BB}" type="datetimeFigureOut">
              <a:rPr lang="en-US" smtClean="0"/>
              <a:t>2/26/2026</a:t>
            </a:fld>
            <a:endParaRPr lang="en-US"/>
          </a:p>
        </p:txBody>
      </p:sp>
      <p:sp>
        <p:nvSpPr>
          <p:cNvPr id="4" name="Footer Placeholder 3">
            <a:extLst>
              <a:ext uri="{FF2B5EF4-FFF2-40B4-BE49-F238E27FC236}">
                <a16:creationId xmlns:a16="http://schemas.microsoft.com/office/drawing/2014/main" id="{97FA2E97-DB0A-298E-BA03-BAB2EA62986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1D270AE-8D74-8E76-BA51-F018EB4FD762}"/>
              </a:ext>
            </a:extLst>
          </p:cNvPr>
          <p:cNvSpPr>
            <a:spLocks noGrp="1"/>
          </p:cNvSpPr>
          <p:nvPr>
            <p:ph type="sldNum" sz="quarter" idx="12"/>
          </p:nvPr>
        </p:nvSpPr>
        <p:spPr/>
        <p:txBody>
          <a:bodyPr/>
          <a:lstStyle/>
          <a:p>
            <a:fld id="{BF75992B-FCF2-473F-A724-8AA01D0A816F}" type="slidenum">
              <a:rPr lang="en-US" smtClean="0"/>
              <a:t>‹#›</a:t>
            </a:fld>
            <a:endParaRPr lang="en-US"/>
          </a:p>
        </p:txBody>
      </p:sp>
    </p:spTree>
    <p:extLst>
      <p:ext uri="{BB962C8B-B14F-4D97-AF65-F5344CB8AC3E}">
        <p14:creationId xmlns:p14="http://schemas.microsoft.com/office/powerpoint/2010/main" val="29511399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BF64A1-94D1-AD89-EAD7-BC7F9E74357E}"/>
              </a:ext>
            </a:extLst>
          </p:cNvPr>
          <p:cNvSpPr>
            <a:spLocks noGrp="1"/>
          </p:cNvSpPr>
          <p:nvPr>
            <p:ph type="dt" sz="half" idx="10"/>
          </p:nvPr>
        </p:nvSpPr>
        <p:spPr/>
        <p:txBody>
          <a:bodyPr/>
          <a:lstStyle/>
          <a:p>
            <a:fld id="{66A70CFE-5403-4CF5-8646-E3D2722287BB}" type="datetimeFigureOut">
              <a:rPr lang="en-US" smtClean="0"/>
              <a:t>2/26/2026</a:t>
            </a:fld>
            <a:endParaRPr lang="en-US"/>
          </a:p>
        </p:txBody>
      </p:sp>
      <p:sp>
        <p:nvSpPr>
          <p:cNvPr id="3" name="Footer Placeholder 2">
            <a:extLst>
              <a:ext uri="{FF2B5EF4-FFF2-40B4-BE49-F238E27FC236}">
                <a16:creationId xmlns:a16="http://schemas.microsoft.com/office/drawing/2014/main" id="{473442F2-CCA6-0931-6F64-4A54EF957B9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0C5A1B6-806D-C7ED-DA39-99F1E5894F58}"/>
              </a:ext>
            </a:extLst>
          </p:cNvPr>
          <p:cNvSpPr>
            <a:spLocks noGrp="1"/>
          </p:cNvSpPr>
          <p:nvPr>
            <p:ph type="sldNum" sz="quarter" idx="12"/>
          </p:nvPr>
        </p:nvSpPr>
        <p:spPr/>
        <p:txBody>
          <a:bodyPr/>
          <a:lstStyle/>
          <a:p>
            <a:fld id="{BF75992B-FCF2-473F-A724-8AA01D0A816F}" type="slidenum">
              <a:rPr lang="en-US" smtClean="0"/>
              <a:t>‹#›</a:t>
            </a:fld>
            <a:endParaRPr lang="en-US"/>
          </a:p>
        </p:txBody>
      </p:sp>
    </p:spTree>
    <p:extLst>
      <p:ext uri="{BB962C8B-B14F-4D97-AF65-F5344CB8AC3E}">
        <p14:creationId xmlns:p14="http://schemas.microsoft.com/office/powerpoint/2010/main" val="34187927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CD308-31F3-AC16-6C26-AA2613A5EF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220D1D8-942A-9880-203D-DE17054D3AA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8F7D9A1-2B37-857D-BB72-C4BB2375A0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0B28832-8941-7536-66D9-9784D13FC030}"/>
              </a:ext>
            </a:extLst>
          </p:cNvPr>
          <p:cNvSpPr>
            <a:spLocks noGrp="1"/>
          </p:cNvSpPr>
          <p:nvPr>
            <p:ph type="dt" sz="half" idx="10"/>
          </p:nvPr>
        </p:nvSpPr>
        <p:spPr/>
        <p:txBody>
          <a:bodyPr/>
          <a:lstStyle/>
          <a:p>
            <a:fld id="{66A70CFE-5403-4CF5-8646-E3D2722287BB}" type="datetimeFigureOut">
              <a:rPr lang="en-US" smtClean="0"/>
              <a:t>2/26/2026</a:t>
            </a:fld>
            <a:endParaRPr lang="en-US"/>
          </a:p>
        </p:txBody>
      </p:sp>
      <p:sp>
        <p:nvSpPr>
          <p:cNvPr id="6" name="Footer Placeholder 5">
            <a:extLst>
              <a:ext uri="{FF2B5EF4-FFF2-40B4-BE49-F238E27FC236}">
                <a16:creationId xmlns:a16="http://schemas.microsoft.com/office/drawing/2014/main" id="{2FB8DB83-5D32-5C6D-9542-835A45C5949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328E843-7BFA-DE4C-9F4C-FE11DFA737D1}"/>
              </a:ext>
            </a:extLst>
          </p:cNvPr>
          <p:cNvSpPr>
            <a:spLocks noGrp="1"/>
          </p:cNvSpPr>
          <p:nvPr>
            <p:ph type="sldNum" sz="quarter" idx="12"/>
          </p:nvPr>
        </p:nvSpPr>
        <p:spPr/>
        <p:txBody>
          <a:bodyPr/>
          <a:lstStyle/>
          <a:p>
            <a:fld id="{BF75992B-FCF2-473F-A724-8AA01D0A816F}" type="slidenum">
              <a:rPr lang="en-US" smtClean="0"/>
              <a:t>‹#›</a:t>
            </a:fld>
            <a:endParaRPr lang="en-US"/>
          </a:p>
        </p:txBody>
      </p:sp>
    </p:spTree>
    <p:extLst>
      <p:ext uri="{BB962C8B-B14F-4D97-AF65-F5344CB8AC3E}">
        <p14:creationId xmlns:p14="http://schemas.microsoft.com/office/powerpoint/2010/main" val="42541232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472681-8E3D-D160-C98A-4B6C5649CF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A1A89C4-F48D-CE7A-C181-CE25798F61A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A584B12-9D56-A0E0-434E-72E673F65D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B1CD51B-446E-A080-DF77-E71B7F5F6688}"/>
              </a:ext>
            </a:extLst>
          </p:cNvPr>
          <p:cNvSpPr>
            <a:spLocks noGrp="1"/>
          </p:cNvSpPr>
          <p:nvPr>
            <p:ph type="dt" sz="half" idx="10"/>
          </p:nvPr>
        </p:nvSpPr>
        <p:spPr/>
        <p:txBody>
          <a:bodyPr/>
          <a:lstStyle/>
          <a:p>
            <a:fld id="{66A70CFE-5403-4CF5-8646-E3D2722287BB}" type="datetimeFigureOut">
              <a:rPr lang="en-US" smtClean="0"/>
              <a:t>2/26/2026</a:t>
            </a:fld>
            <a:endParaRPr lang="en-US"/>
          </a:p>
        </p:txBody>
      </p:sp>
      <p:sp>
        <p:nvSpPr>
          <p:cNvPr id="6" name="Footer Placeholder 5">
            <a:extLst>
              <a:ext uri="{FF2B5EF4-FFF2-40B4-BE49-F238E27FC236}">
                <a16:creationId xmlns:a16="http://schemas.microsoft.com/office/drawing/2014/main" id="{9ED48690-0EDD-B79F-363E-DCF87D8D48F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6BE748-32C7-B38E-0A8B-35B8206F9379}"/>
              </a:ext>
            </a:extLst>
          </p:cNvPr>
          <p:cNvSpPr>
            <a:spLocks noGrp="1"/>
          </p:cNvSpPr>
          <p:nvPr>
            <p:ph type="sldNum" sz="quarter" idx="12"/>
          </p:nvPr>
        </p:nvSpPr>
        <p:spPr/>
        <p:txBody>
          <a:bodyPr/>
          <a:lstStyle/>
          <a:p>
            <a:fld id="{BF75992B-FCF2-473F-A724-8AA01D0A816F}" type="slidenum">
              <a:rPr lang="en-US" smtClean="0"/>
              <a:t>‹#›</a:t>
            </a:fld>
            <a:endParaRPr lang="en-US"/>
          </a:p>
        </p:txBody>
      </p:sp>
    </p:spTree>
    <p:extLst>
      <p:ext uri="{BB962C8B-B14F-4D97-AF65-F5344CB8AC3E}">
        <p14:creationId xmlns:p14="http://schemas.microsoft.com/office/powerpoint/2010/main" val="13450539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ED76A-0ECB-2986-7606-782CD620EFB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FF697DD-B465-221E-C103-B1097C27E22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D7E4F2-D0D6-AD99-0ED4-212FB3240D10}"/>
              </a:ext>
            </a:extLst>
          </p:cNvPr>
          <p:cNvSpPr>
            <a:spLocks noGrp="1"/>
          </p:cNvSpPr>
          <p:nvPr>
            <p:ph type="dt" sz="half" idx="10"/>
          </p:nvPr>
        </p:nvSpPr>
        <p:spPr/>
        <p:txBody>
          <a:bodyPr/>
          <a:lstStyle/>
          <a:p>
            <a:fld id="{66A70CFE-5403-4CF5-8646-E3D2722287BB}" type="datetimeFigureOut">
              <a:rPr lang="en-US" smtClean="0"/>
              <a:t>2/26/2026</a:t>
            </a:fld>
            <a:endParaRPr lang="en-US"/>
          </a:p>
        </p:txBody>
      </p:sp>
      <p:sp>
        <p:nvSpPr>
          <p:cNvPr id="5" name="Footer Placeholder 4">
            <a:extLst>
              <a:ext uri="{FF2B5EF4-FFF2-40B4-BE49-F238E27FC236}">
                <a16:creationId xmlns:a16="http://schemas.microsoft.com/office/drawing/2014/main" id="{D4390F2E-AD43-51E4-C470-8B755E58A2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9DDDDD-9443-9421-E4E9-A4293E7F9AE2}"/>
              </a:ext>
            </a:extLst>
          </p:cNvPr>
          <p:cNvSpPr>
            <a:spLocks noGrp="1"/>
          </p:cNvSpPr>
          <p:nvPr>
            <p:ph type="sldNum" sz="quarter" idx="12"/>
          </p:nvPr>
        </p:nvSpPr>
        <p:spPr/>
        <p:txBody>
          <a:bodyPr/>
          <a:lstStyle/>
          <a:p>
            <a:fld id="{BF75992B-FCF2-473F-A724-8AA01D0A816F}" type="slidenum">
              <a:rPr lang="en-US" smtClean="0"/>
              <a:t>‹#›</a:t>
            </a:fld>
            <a:endParaRPr lang="en-US"/>
          </a:p>
        </p:txBody>
      </p:sp>
    </p:spTree>
    <p:extLst>
      <p:ext uri="{BB962C8B-B14F-4D97-AF65-F5344CB8AC3E}">
        <p14:creationId xmlns:p14="http://schemas.microsoft.com/office/powerpoint/2010/main" val="8799084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24940DC-AA6A-6866-DE75-43197928565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07B7AF3-514E-B533-EF66-2A56C64B68A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0780EA3-01E9-9B43-8C90-E30966D30154}"/>
              </a:ext>
            </a:extLst>
          </p:cNvPr>
          <p:cNvSpPr>
            <a:spLocks noGrp="1"/>
          </p:cNvSpPr>
          <p:nvPr>
            <p:ph type="dt" sz="half" idx="10"/>
          </p:nvPr>
        </p:nvSpPr>
        <p:spPr/>
        <p:txBody>
          <a:bodyPr/>
          <a:lstStyle/>
          <a:p>
            <a:fld id="{66A70CFE-5403-4CF5-8646-E3D2722287BB}" type="datetimeFigureOut">
              <a:rPr lang="en-US" smtClean="0"/>
              <a:t>2/26/2026</a:t>
            </a:fld>
            <a:endParaRPr lang="en-US"/>
          </a:p>
        </p:txBody>
      </p:sp>
      <p:sp>
        <p:nvSpPr>
          <p:cNvPr id="5" name="Footer Placeholder 4">
            <a:extLst>
              <a:ext uri="{FF2B5EF4-FFF2-40B4-BE49-F238E27FC236}">
                <a16:creationId xmlns:a16="http://schemas.microsoft.com/office/drawing/2014/main" id="{DCA7DC5E-9349-A49C-A343-BB14551B51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F95325-564E-3532-89DB-9FF889C5E7CB}"/>
              </a:ext>
            </a:extLst>
          </p:cNvPr>
          <p:cNvSpPr>
            <a:spLocks noGrp="1"/>
          </p:cNvSpPr>
          <p:nvPr>
            <p:ph type="sldNum" sz="quarter" idx="12"/>
          </p:nvPr>
        </p:nvSpPr>
        <p:spPr/>
        <p:txBody>
          <a:bodyPr/>
          <a:lstStyle/>
          <a:p>
            <a:fld id="{BF75992B-FCF2-473F-A724-8AA01D0A816F}" type="slidenum">
              <a:rPr lang="en-US" smtClean="0"/>
              <a:t>‹#›</a:t>
            </a:fld>
            <a:endParaRPr lang="en-US"/>
          </a:p>
        </p:txBody>
      </p:sp>
    </p:spTree>
    <p:extLst>
      <p:ext uri="{BB962C8B-B14F-4D97-AF65-F5344CB8AC3E}">
        <p14:creationId xmlns:p14="http://schemas.microsoft.com/office/powerpoint/2010/main" val="29890948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E5715DA-9D9F-1CEE-0DF3-F0FD61E9366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A8D410E-66FA-7709-9A2F-D4F4389A90D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2E623D-ACA6-7D64-BA73-1C3249E211F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6A70CFE-5403-4CF5-8646-E3D2722287BB}" type="datetimeFigureOut">
              <a:rPr lang="en-US" smtClean="0"/>
              <a:t>2/26/2026</a:t>
            </a:fld>
            <a:endParaRPr lang="en-US"/>
          </a:p>
        </p:txBody>
      </p:sp>
      <p:sp>
        <p:nvSpPr>
          <p:cNvPr id="5" name="Footer Placeholder 4">
            <a:extLst>
              <a:ext uri="{FF2B5EF4-FFF2-40B4-BE49-F238E27FC236}">
                <a16:creationId xmlns:a16="http://schemas.microsoft.com/office/drawing/2014/main" id="{DF8C8BA6-CFCA-B2BA-F72C-2BE954E1D51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3043B05-3300-EFE0-5437-A75E9FAD71C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75992B-FCF2-473F-A724-8AA01D0A816F}" type="slidenum">
              <a:rPr lang="en-US" smtClean="0"/>
              <a:t>‹#›</a:t>
            </a:fld>
            <a:endParaRPr lang="en-US"/>
          </a:p>
        </p:txBody>
      </p:sp>
    </p:spTree>
    <p:extLst>
      <p:ext uri="{BB962C8B-B14F-4D97-AF65-F5344CB8AC3E}">
        <p14:creationId xmlns:p14="http://schemas.microsoft.com/office/powerpoint/2010/main" val="27519994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4.jpeg"/><Relationship Id="rId1" Type="http://schemas.openxmlformats.org/officeDocument/2006/relationships/slideLayout" Target="../slideLayouts/slideLayout4.xml"/><Relationship Id="rId4" Type="http://schemas.openxmlformats.org/officeDocument/2006/relationships/chart" Target="../charts/chart2.xml"/></Relationships>
</file>

<file path=ppt/slides/_rels/slide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87140D0-CF4A-4E45-AE8B-6507BC6842CF}"/>
              </a:ext>
            </a:extLst>
          </p:cNvPr>
          <p:cNvSpPr/>
          <p:nvPr/>
        </p:nvSpPr>
        <p:spPr>
          <a:xfrm>
            <a:off x="0" y="0"/>
            <a:ext cx="12192000" cy="6858000"/>
          </a:xfrm>
          <a:prstGeom prst="rect">
            <a:avLst/>
          </a:prstGeom>
          <a:noFill/>
          <a:ln w="762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6">
            <a:extLst>
              <a:ext uri="{FF2B5EF4-FFF2-40B4-BE49-F238E27FC236}">
                <a16:creationId xmlns:a16="http://schemas.microsoft.com/office/drawing/2014/main" id="{B0A6DA96-8A65-4823-A897-81AD7CFE85A8}"/>
              </a:ext>
            </a:extLst>
          </p:cNvPr>
          <p:cNvSpPr>
            <a:spLocks noChangeArrowheads="1"/>
          </p:cNvSpPr>
          <p:nvPr/>
        </p:nvSpPr>
        <p:spPr bwMode="auto">
          <a:xfrm>
            <a:off x="266700" y="842455"/>
            <a:ext cx="11658600" cy="1015663"/>
          </a:xfrm>
          <a:prstGeom prst="rect">
            <a:avLst/>
          </a:prstGeom>
          <a:noFill/>
          <a:ln w="9525">
            <a:noFill/>
            <a:miter lim="800000"/>
            <a:headEnd/>
            <a:tailEnd/>
          </a:ln>
          <a:effectLst/>
        </p:spPr>
        <p:txBody>
          <a:bodyPr wrap="square" lIns="91440" tIns="45720" rIns="91440" bIns="45720" anchor="t">
            <a:spAutoFit/>
          </a:bodyPr>
          <a:lstStyle/>
          <a:p>
            <a:pPr algn="ctr">
              <a:defRPr/>
            </a:pPr>
            <a:r>
              <a:rPr lang="en-GB" sz="2000" b="1">
                <a:effectLst>
                  <a:outerShdw blurRad="38100" dist="38100" dir="2700000" algn="tl">
                    <a:srgbClr val="FFFFFF"/>
                  </a:outerShdw>
                </a:effectLst>
                <a:latin typeface="Gadugi"/>
                <a:ea typeface="Gadugi"/>
              </a:rPr>
              <a:t>Asset Management-Asset Life Cycle Unit </a:t>
            </a:r>
            <a:endParaRPr lang="en-US">
              <a:latin typeface="Gadugi"/>
              <a:ea typeface="Gadugi"/>
            </a:endParaRPr>
          </a:p>
          <a:p>
            <a:pPr algn="ctr">
              <a:defRPr/>
            </a:pPr>
            <a:r>
              <a:rPr lang="en-GB" sz="2000" b="1">
                <a:effectLst>
                  <a:outerShdw blurRad="38100" dist="38100" dir="2700000" algn="tl">
                    <a:srgbClr val="FFFFFF"/>
                  </a:outerShdw>
                </a:effectLst>
                <a:latin typeface="Gadugi"/>
                <a:ea typeface="Gadugi"/>
              </a:rPr>
              <a:t>ALC (Maintenance Strategy) Section</a:t>
            </a:r>
            <a:endParaRPr lang="en-GB">
              <a:latin typeface="Gadugi"/>
              <a:ea typeface="Gadugi"/>
            </a:endParaRPr>
          </a:p>
          <a:p>
            <a:pPr algn="ctr">
              <a:defRPr/>
            </a:pPr>
            <a:endParaRPr lang="en-GB" sz="2000" b="1">
              <a:effectLst>
                <a:outerShdw blurRad="38100" dist="38100" dir="2700000" algn="tl">
                  <a:srgbClr val="FFFFFF"/>
                </a:outerShdw>
              </a:effectLst>
              <a:latin typeface="Gadugi" panose="020B0502040204020203" pitchFamily="34" charset="0"/>
              <a:ea typeface="Gadugi" panose="020B0502040204020203" pitchFamily="34" charset="0"/>
            </a:endParaRPr>
          </a:p>
        </p:txBody>
      </p:sp>
      <p:sp>
        <p:nvSpPr>
          <p:cNvPr id="9" name="Rectangle 6">
            <a:extLst>
              <a:ext uri="{FF2B5EF4-FFF2-40B4-BE49-F238E27FC236}">
                <a16:creationId xmlns:a16="http://schemas.microsoft.com/office/drawing/2014/main" id="{2FB7D733-BF50-46C1-AE18-BB77B8D4B593}"/>
              </a:ext>
            </a:extLst>
          </p:cNvPr>
          <p:cNvSpPr>
            <a:spLocks noChangeArrowheads="1"/>
          </p:cNvSpPr>
          <p:nvPr/>
        </p:nvSpPr>
        <p:spPr bwMode="auto">
          <a:xfrm>
            <a:off x="339709" y="1343017"/>
            <a:ext cx="11658600" cy="2215991"/>
          </a:xfrm>
          <a:prstGeom prst="rect">
            <a:avLst/>
          </a:prstGeom>
          <a:noFill/>
          <a:ln w="9525">
            <a:noFill/>
            <a:miter lim="800000"/>
            <a:headEnd/>
            <a:tailEnd/>
          </a:ln>
          <a:effectLst/>
        </p:spPr>
        <p:txBody>
          <a:bodyPr wrap="square" lIns="91440" tIns="45720" rIns="91440" bIns="45720" anchor="t">
            <a:spAutoFit/>
          </a:bodyPr>
          <a:lstStyle/>
          <a:p>
            <a:pPr algn="ctr" eaLnBrk="1" hangingPunct="1">
              <a:defRPr/>
            </a:pPr>
            <a:endParaRPr lang="en-GB" sz="2000" b="1">
              <a:effectLst>
                <a:outerShdw blurRad="38100" dist="38100" dir="2700000" algn="tl">
                  <a:srgbClr val="FFFFFF"/>
                </a:outerShdw>
              </a:effectLst>
              <a:latin typeface="Gadugi" panose="020B0502040204020203" pitchFamily="34" charset="0"/>
              <a:ea typeface="Gadugi" panose="020B0502040204020203" pitchFamily="34" charset="0"/>
            </a:endParaRPr>
          </a:p>
          <a:p>
            <a:pPr algn="ctr" eaLnBrk="1" hangingPunct="1">
              <a:defRPr/>
            </a:pPr>
            <a:r>
              <a:rPr lang="en-GB" sz="2000" b="1">
                <a:effectLst>
                  <a:outerShdw blurRad="38100" dist="38100" dir="2700000" algn="tl">
                    <a:srgbClr val="FFFFFF"/>
                  </a:outerShdw>
                </a:effectLst>
                <a:latin typeface="Gadugi" panose="020B0502040204020203" pitchFamily="34" charset="0"/>
                <a:ea typeface="Gadugi" panose="020B0502040204020203" pitchFamily="34" charset="0"/>
              </a:rPr>
              <a:t>RCM Analysis Final Report</a:t>
            </a:r>
            <a:endParaRPr lang="en-GB" sz="1000" b="1">
              <a:effectLst>
                <a:outerShdw blurRad="38100" dist="38100" dir="2700000" algn="tl">
                  <a:srgbClr val="FFFFFF"/>
                </a:outerShdw>
              </a:effectLst>
              <a:latin typeface="Gadugi" panose="020B0502040204020203" pitchFamily="34" charset="0"/>
              <a:ea typeface="Gadugi" panose="020B0502040204020203" pitchFamily="34" charset="0"/>
            </a:endParaRPr>
          </a:p>
          <a:p>
            <a:pPr algn="ctr">
              <a:defRPr/>
            </a:pPr>
            <a:r>
              <a:rPr lang="en-US" sz="2400" b="1">
                <a:effectLst>
                  <a:outerShdw blurRad="38100" dist="38100" dir="2700000" algn="tl">
                    <a:srgbClr val="FFFFFF"/>
                  </a:outerShdw>
                </a:effectLst>
                <a:ea typeface="Gadugi"/>
              </a:rPr>
              <a:t>Connaught Bridge Power Station</a:t>
            </a:r>
            <a:endParaRPr lang="en-US" sz="2400" b="1">
              <a:effectLst>
                <a:outerShdw blurRad="38100" dist="38100" dir="2700000" algn="tl">
                  <a:srgbClr val="FFFFFF"/>
                </a:outerShdw>
              </a:effectLst>
              <a:ea typeface="Gadugi"/>
              <a:cs typeface="Calibri"/>
            </a:endParaRPr>
          </a:p>
          <a:p>
            <a:pPr algn="ctr">
              <a:defRPr/>
            </a:pPr>
            <a:r>
              <a:rPr lang="en-US" sz="2000" b="1">
                <a:solidFill>
                  <a:schemeClr val="accent5">
                    <a:lumMod val="50000"/>
                  </a:schemeClr>
                </a:solidFill>
                <a:ea typeface="+mj-ea"/>
                <a:cs typeface="+mj-cs"/>
              </a:rPr>
              <a:t> </a:t>
            </a:r>
            <a:r>
              <a:rPr lang="en-US" sz="2000" b="1">
                <a:solidFill>
                  <a:schemeClr val="accent5">
                    <a:lumMod val="50000"/>
                  </a:schemeClr>
                </a:solidFill>
                <a:ea typeface="+mn-lt"/>
                <a:cs typeface="+mn-lt"/>
              </a:rPr>
              <a:t>Generator Transformers</a:t>
            </a:r>
          </a:p>
          <a:p>
            <a:pPr algn="ctr">
              <a:defRPr/>
            </a:pPr>
            <a:r>
              <a:rPr lang="en-US"/>
              <a:t>Analysis Date : </a:t>
            </a:r>
            <a:r>
              <a:rPr lang="en-US" b="1"/>
              <a:t>4</a:t>
            </a:r>
            <a:r>
              <a:rPr lang="en-US" b="1" baseline="30000"/>
              <a:t>th</a:t>
            </a:r>
            <a:r>
              <a:rPr lang="en-US" b="1"/>
              <a:t> – 7</a:t>
            </a:r>
            <a:r>
              <a:rPr lang="en-US" b="1" baseline="30000"/>
              <a:t>th</a:t>
            </a:r>
            <a:r>
              <a:rPr lang="en-US" b="1"/>
              <a:t> August 2025</a:t>
            </a:r>
          </a:p>
          <a:p>
            <a:pPr algn="ctr">
              <a:defRPr/>
            </a:pPr>
            <a:r>
              <a:rPr lang="en-US"/>
              <a:t>Audit Session Date : </a:t>
            </a:r>
            <a:r>
              <a:rPr lang="en-US" b="1"/>
              <a:t>3</a:t>
            </a:r>
            <a:r>
              <a:rPr lang="en-US" b="1" baseline="30000"/>
              <a:t>rd</a:t>
            </a:r>
            <a:r>
              <a:rPr lang="en-US" b="1"/>
              <a:t> October 2025</a:t>
            </a:r>
          </a:p>
          <a:p>
            <a:pPr algn="ctr">
              <a:defRPr/>
            </a:pPr>
            <a:endParaRPr lang="en-US" b="1"/>
          </a:p>
        </p:txBody>
      </p:sp>
      <p:pic>
        <p:nvPicPr>
          <p:cNvPr id="13" name="Picture 12">
            <a:extLst>
              <a:ext uri="{FF2B5EF4-FFF2-40B4-BE49-F238E27FC236}">
                <a16:creationId xmlns:a16="http://schemas.microsoft.com/office/drawing/2014/main" id="{FA71A067-A11C-497E-98E9-1BCA3B12561D}"/>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t="13483" b="26966"/>
          <a:stretch/>
        </p:blipFill>
        <p:spPr bwMode="auto">
          <a:xfrm>
            <a:off x="9982200" y="120372"/>
            <a:ext cx="2089118" cy="806490"/>
          </a:xfrm>
          <a:prstGeom prst="rect">
            <a:avLst/>
          </a:prstGeom>
          <a:noFill/>
          <a:ln>
            <a:noFill/>
          </a:ln>
          <a:extLst>
            <a:ext uri="{53640926-AAD7-44D8-BBD7-CCE9431645EC}">
              <a14:shadowObscured xmlns:a14="http://schemas.microsoft.com/office/drawing/2010/main"/>
            </a:ext>
          </a:extLst>
        </p:spPr>
      </p:pic>
      <p:sp>
        <p:nvSpPr>
          <p:cNvPr id="20" name="Slide Number Placeholder 2">
            <a:extLst>
              <a:ext uri="{FF2B5EF4-FFF2-40B4-BE49-F238E27FC236}">
                <a16:creationId xmlns:a16="http://schemas.microsoft.com/office/drawing/2014/main" id="{0BA9310A-ED92-4CEF-BB4B-7E172F7C2D0B}"/>
              </a:ext>
            </a:extLst>
          </p:cNvPr>
          <p:cNvSpPr>
            <a:spLocks noGrp="1"/>
          </p:cNvSpPr>
          <p:nvPr>
            <p:ph type="sldNum" sz="quarter" idx="12"/>
          </p:nvPr>
        </p:nvSpPr>
        <p:spPr>
          <a:xfrm>
            <a:off x="9353329" y="6370566"/>
            <a:ext cx="2743200" cy="365125"/>
          </a:xfrm>
        </p:spPr>
        <p:txBody>
          <a:bodyPr/>
          <a:lstStyle/>
          <a:p>
            <a:r>
              <a:rPr lang="en-US" err="1"/>
              <a:t>i</a:t>
            </a:r>
            <a:endParaRPr lang="en-US"/>
          </a:p>
        </p:txBody>
      </p:sp>
      <p:sp>
        <p:nvSpPr>
          <p:cNvPr id="12" name="Date Placeholder 3">
            <a:extLst>
              <a:ext uri="{FF2B5EF4-FFF2-40B4-BE49-F238E27FC236}">
                <a16:creationId xmlns:a16="http://schemas.microsoft.com/office/drawing/2014/main" id="{8B186C59-5E17-2DA0-AB69-EA1F6BFBD609}"/>
              </a:ext>
            </a:extLst>
          </p:cNvPr>
          <p:cNvSpPr txBox="1">
            <a:spLocks/>
          </p:cNvSpPr>
          <p:nvPr/>
        </p:nvSpPr>
        <p:spPr>
          <a:xfrm>
            <a:off x="8686031" y="4797097"/>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050">
              <a:solidFill>
                <a:schemeClr val="tx1"/>
              </a:solidFill>
              <a:latin typeface="Gadugi" panose="020B0502040204020203" pitchFamily="34" charset="0"/>
              <a:ea typeface="Gadugi" panose="020B0502040204020203" pitchFamily="34" charset="0"/>
            </a:endParaRPr>
          </a:p>
        </p:txBody>
      </p:sp>
      <p:sp>
        <p:nvSpPr>
          <p:cNvPr id="16" name="Date Placeholder 3">
            <a:extLst>
              <a:ext uri="{FF2B5EF4-FFF2-40B4-BE49-F238E27FC236}">
                <a16:creationId xmlns:a16="http://schemas.microsoft.com/office/drawing/2014/main" id="{5171B31E-E21A-7D48-F40F-A3420079A73F}"/>
              </a:ext>
            </a:extLst>
          </p:cNvPr>
          <p:cNvSpPr txBox="1">
            <a:spLocks/>
          </p:cNvSpPr>
          <p:nvPr/>
        </p:nvSpPr>
        <p:spPr>
          <a:xfrm>
            <a:off x="8735532" y="6157244"/>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050">
              <a:solidFill>
                <a:schemeClr val="tx1"/>
              </a:solidFill>
              <a:latin typeface="Gadugi" panose="020B0502040204020203" pitchFamily="34" charset="0"/>
              <a:ea typeface="Gadugi" panose="020B0502040204020203" pitchFamily="34" charset="0"/>
            </a:endParaRPr>
          </a:p>
        </p:txBody>
      </p:sp>
      <p:grpSp>
        <p:nvGrpSpPr>
          <p:cNvPr id="38" name="Group 37">
            <a:extLst>
              <a:ext uri="{FF2B5EF4-FFF2-40B4-BE49-F238E27FC236}">
                <a16:creationId xmlns:a16="http://schemas.microsoft.com/office/drawing/2014/main" id="{8D1B6E08-60F8-2DD8-9DE0-09190AC2FF42}"/>
              </a:ext>
            </a:extLst>
          </p:cNvPr>
          <p:cNvGrpSpPr/>
          <p:nvPr/>
        </p:nvGrpSpPr>
        <p:grpSpPr>
          <a:xfrm>
            <a:off x="1156646" y="3382109"/>
            <a:ext cx="10466364" cy="3146395"/>
            <a:chOff x="1012873" y="3522786"/>
            <a:chExt cx="10466364" cy="3146395"/>
          </a:xfrm>
        </p:grpSpPr>
        <p:sp>
          <p:nvSpPr>
            <p:cNvPr id="21" name="Date Placeholder 3">
              <a:extLst>
                <a:ext uri="{FF2B5EF4-FFF2-40B4-BE49-F238E27FC236}">
                  <a16:creationId xmlns:a16="http://schemas.microsoft.com/office/drawing/2014/main" id="{8F1ABECE-C24B-D132-09C1-2B98ABEF3745}"/>
                </a:ext>
              </a:extLst>
            </p:cNvPr>
            <p:cNvSpPr txBox="1">
              <a:spLocks/>
            </p:cNvSpPr>
            <p:nvPr/>
          </p:nvSpPr>
          <p:spPr>
            <a:xfrm>
              <a:off x="8940737" y="3522786"/>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50" b="1">
                  <a:solidFill>
                    <a:schemeClr val="tx1"/>
                  </a:solidFill>
                  <a:latin typeface="Gadugi" panose="020B0502040204020203" pitchFamily="34" charset="0"/>
                  <a:ea typeface="Gadugi" panose="020B0502040204020203" pitchFamily="34" charset="0"/>
                </a:rPr>
                <a:t>Station’s Management:</a:t>
              </a:r>
            </a:p>
          </p:txBody>
        </p:sp>
        <p:sp>
          <p:nvSpPr>
            <p:cNvPr id="22" name="Date Placeholder 3">
              <a:extLst>
                <a:ext uri="{FF2B5EF4-FFF2-40B4-BE49-F238E27FC236}">
                  <a16:creationId xmlns:a16="http://schemas.microsoft.com/office/drawing/2014/main" id="{460CE3FB-121B-8543-9885-4F185BE2324B}"/>
                </a:ext>
              </a:extLst>
            </p:cNvPr>
            <p:cNvSpPr txBox="1">
              <a:spLocks/>
            </p:cNvSpPr>
            <p:nvPr/>
          </p:nvSpPr>
          <p:spPr>
            <a:xfrm>
              <a:off x="3740714" y="3522786"/>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50" b="1">
                  <a:solidFill>
                    <a:schemeClr val="tx1"/>
                  </a:solidFill>
                  <a:latin typeface="Gadugi" panose="020B0502040204020203" pitchFamily="34" charset="0"/>
                  <a:ea typeface="Gadugi" panose="020B0502040204020203" pitchFamily="34" charset="0"/>
                </a:rPr>
                <a:t>TS-RE:</a:t>
              </a:r>
            </a:p>
          </p:txBody>
        </p:sp>
        <p:grpSp>
          <p:nvGrpSpPr>
            <p:cNvPr id="37" name="Group 36">
              <a:extLst>
                <a:ext uri="{FF2B5EF4-FFF2-40B4-BE49-F238E27FC236}">
                  <a16:creationId xmlns:a16="http://schemas.microsoft.com/office/drawing/2014/main" id="{8806B998-5548-8C95-376F-3CFC0696DC93}"/>
                </a:ext>
              </a:extLst>
            </p:cNvPr>
            <p:cNvGrpSpPr/>
            <p:nvPr/>
          </p:nvGrpSpPr>
          <p:grpSpPr>
            <a:xfrm>
              <a:off x="1012873" y="3544832"/>
              <a:ext cx="10466364" cy="3124349"/>
              <a:chOff x="1012873" y="3544831"/>
              <a:chExt cx="10466364" cy="3124349"/>
            </a:xfrm>
          </p:grpSpPr>
          <p:sp>
            <p:nvSpPr>
              <p:cNvPr id="17" name="Rectangle 16">
                <a:extLst>
                  <a:ext uri="{FF2B5EF4-FFF2-40B4-BE49-F238E27FC236}">
                    <a16:creationId xmlns:a16="http://schemas.microsoft.com/office/drawing/2014/main" id="{4B95C9E7-78E4-4CD4-B0F7-0AECD1644523}"/>
                  </a:ext>
                </a:extLst>
              </p:cNvPr>
              <p:cNvSpPr>
                <a:spLocks noChangeArrowheads="1"/>
              </p:cNvSpPr>
              <p:nvPr/>
            </p:nvSpPr>
            <p:spPr bwMode="auto">
              <a:xfrm>
                <a:off x="1017021" y="4175801"/>
                <a:ext cx="3907604" cy="1608133"/>
              </a:xfrm>
              <a:prstGeom prst="rect">
                <a:avLst/>
              </a:prstGeom>
              <a:noFill/>
              <a:ln w="9525">
                <a:noFill/>
                <a:miter lim="800000"/>
                <a:headEnd/>
                <a:tailEnd/>
              </a:ln>
              <a:effectLst/>
            </p:spPr>
            <p:txBody>
              <a:bodyPr wrap="square" lIns="91440" tIns="45720" rIns="91440" bIns="45720" anchor="t">
                <a:spAutoFit/>
              </a:bodyPr>
              <a:lstStyle/>
              <a:p>
                <a:pPr eaLnBrk="1" hangingPunct="1">
                  <a:defRPr/>
                </a:pPr>
                <a:r>
                  <a:rPr lang="en-GB" sz="1100">
                    <a:effectLst>
                      <a:outerShdw blurRad="38100" dist="38100" dir="2700000" algn="tl">
                        <a:srgbClr val="FFFFFF"/>
                      </a:outerShdw>
                    </a:effectLst>
                    <a:latin typeface="Gadugi" panose="020B0502040204020203" pitchFamily="34" charset="0"/>
                    <a:ea typeface="Gadugi" panose="020B0502040204020203" pitchFamily="34" charset="0"/>
                  </a:rPr>
                  <a:t>Prepared by: </a:t>
                </a:r>
              </a:p>
              <a:p>
                <a:pPr eaLnBrk="1" hangingPunct="1">
                  <a:defRPr/>
                </a:pPr>
                <a:endParaRPr lang="en-GB" sz="1100" b="1">
                  <a:effectLst>
                    <a:outerShdw blurRad="38100" dist="38100" dir="2700000" algn="tl">
                      <a:srgbClr val="FFFFFF"/>
                    </a:outerShdw>
                  </a:effectLst>
                  <a:latin typeface="Gadugi" panose="020B0502040204020203" pitchFamily="34" charset="0"/>
                  <a:ea typeface="Gadugi" panose="020B0502040204020203" pitchFamily="34" charset="0"/>
                </a:endParaRPr>
              </a:p>
              <a:p>
                <a:pPr eaLnBrk="1" hangingPunct="1">
                  <a:defRPr/>
                </a:pPr>
                <a:endParaRPr lang="en-GB" sz="1100" b="1">
                  <a:effectLst>
                    <a:outerShdw blurRad="38100" dist="38100" dir="2700000" algn="tl">
                      <a:srgbClr val="FFFFFF"/>
                    </a:outerShdw>
                  </a:effectLst>
                  <a:latin typeface="Gadugi" panose="020B0502040204020203" pitchFamily="34" charset="0"/>
                  <a:ea typeface="Gadugi" panose="020B0502040204020203" pitchFamily="34" charset="0"/>
                </a:endParaRPr>
              </a:p>
              <a:p>
                <a:pPr eaLnBrk="1" hangingPunct="1">
                  <a:defRPr/>
                </a:pPr>
                <a:endParaRPr lang="en-GB" sz="1100" b="1">
                  <a:effectLst>
                    <a:outerShdw blurRad="38100" dist="38100" dir="2700000" algn="tl">
                      <a:srgbClr val="FFFFFF"/>
                    </a:outerShdw>
                  </a:effectLst>
                  <a:latin typeface="Gadugi" panose="020B0502040204020203" pitchFamily="34" charset="0"/>
                  <a:ea typeface="Gadugi" panose="020B0502040204020203" pitchFamily="34" charset="0"/>
                </a:endParaRPr>
              </a:p>
              <a:p>
                <a:pPr>
                  <a:defRPr/>
                </a:pPr>
                <a:endParaRPr lang="en-GB" sz="1100" b="1">
                  <a:effectLst>
                    <a:outerShdw blurRad="38100" dist="38100" dir="2700000" algn="tl">
                      <a:srgbClr val="FFFFFF"/>
                    </a:outerShdw>
                  </a:effectLst>
                  <a:latin typeface="Gadugi"/>
                  <a:ea typeface="Gadugi"/>
                </a:endParaRPr>
              </a:p>
              <a:p>
                <a:pPr>
                  <a:defRPr/>
                </a:pPr>
                <a:endParaRPr lang="en-GB" sz="1100" b="1">
                  <a:effectLst>
                    <a:outerShdw blurRad="38100" dist="38100" dir="2700000" algn="tl">
                      <a:srgbClr val="FFFFFF"/>
                    </a:outerShdw>
                  </a:effectLst>
                  <a:latin typeface="Gadugi"/>
                  <a:ea typeface="Gadugi"/>
                </a:endParaRPr>
              </a:p>
              <a:p>
                <a:pPr>
                  <a:defRPr/>
                </a:pPr>
                <a:r>
                  <a:rPr lang="en-GB" sz="1100" b="1">
                    <a:effectLst>
                      <a:outerShdw blurRad="38100" dist="38100" dir="2700000" algn="tl">
                        <a:srgbClr val="FFFFFF"/>
                      </a:outerShdw>
                    </a:effectLst>
                    <a:latin typeface="Gadugi"/>
                    <a:ea typeface="Gadugi"/>
                  </a:rPr>
                  <a:t>Ts. Wan Mohamad Erfan Bin Wan Mustafa </a:t>
                </a:r>
                <a:endParaRPr lang="en-GB"/>
              </a:p>
              <a:p>
                <a:pPr lvl="0">
                  <a:defRPr/>
                </a:pPr>
                <a:r>
                  <a:rPr lang="en-GB" sz="1100" b="1">
                    <a:effectLst>
                      <a:outerShdw blurRad="38100" dist="38100" dir="2700000" algn="tl">
                        <a:srgbClr val="FFFFFF"/>
                      </a:outerShdw>
                    </a:effectLst>
                    <a:latin typeface="Gadugi" panose="020B0502040204020203" pitchFamily="34" charset="0"/>
                    <a:ea typeface="Gadugi" panose="020B0502040204020203" pitchFamily="34" charset="0"/>
                  </a:rPr>
                  <a:t>Sr. Engineer –RCM (</a:t>
                </a:r>
                <a:r>
                  <a:rPr lang="en-GB" sz="1050" b="1">
                    <a:effectLst>
                      <a:outerShdw blurRad="38100" dist="38100" dir="2700000" algn="tl">
                        <a:srgbClr val="FFFFFF"/>
                      </a:outerShdw>
                    </a:effectLst>
                    <a:latin typeface="Gadugi" panose="020B0502040204020203" pitchFamily="34" charset="0"/>
                    <a:ea typeface="Gadugi" panose="020B0502040204020203" pitchFamily="34" charset="0"/>
                  </a:rPr>
                  <a:t>Planning)</a:t>
                </a:r>
              </a:p>
              <a:p>
                <a:pPr>
                  <a:defRPr/>
                </a:pPr>
                <a:r>
                  <a:rPr lang="en-US" altLang="en-US" sz="1050" kern="0">
                    <a:latin typeface="Gadugi" panose="020B0502040204020203" pitchFamily="34" charset="0"/>
                    <a:ea typeface="Gadugi" panose="020B0502040204020203" pitchFamily="34" charset="0"/>
                  </a:rPr>
                  <a:t>Date: 3</a:t>
                </a:r>
                <a:r>
                  <a:rPr lang="en-US" altLang="en-US" sz="1050" kern="0" baseline="30000">
                    <a:latin typeface="Gadugi" panose="020B0502040204020203" pitchFamily="34" charset="0"/>
                    <a:ea typeface="Gadugi" panose="020B0502040204020203" pitchFamily="34" charset="0"/>
                  </a:rPr>
                  <a:t>rd</a:t>
                </a:r>
                <a:r>
                  <a:rPr lang="en-US" altLang="en-US" sz="1050" kern="0">
                    <a:latin typeface="Gadugi" panose="020B0502040204020203" pitchFamily="34" charset="0"/>
                    <a:ea typeface="Gadugi" panose="020B0502040204020203" pitchFamily="34" charset="0"/>
                  </a:rPr>
                  <a:t> October 2025</a:t>
                </a:r>
                <a:endParaRPr lang="en-GB" sz="1050" b="1">
                  <a:effectLst>
                    <a:outerShdw blurRad="38100" dist="38100" dir="2700000" algn="tl">
                      <a:srgbClr val="FFFFFF"/>
                    </a:outerShdw>
                  </a:effectLst>
                  <a:latin typeface="Gadugi" panose="020B0502040204020203" pitchFamily="34" charset="0"/>
                  <a:ea typeface="Gadugi" panose="020B0502040204020203" pitchFamily="34" charset="0"/>
                </a:endParaRPr>
              </a:p>
            </p:txBody>
          </p:sp>
          <p:sp>
            <p:nvSpPr>
              <p:cNvPr id="5" name="Rectangle 4">
                <a:extLst>
                  <a:ext uri="{FF2B5EF4-FFF2-40B4-BE49-F238E27FC236}">
                    <a16:creationId xmlns:a16="http://schemas.microsoft.com/office/drawing/2014/main" id="{B4B4E8D1-DD92-3E53-5916-83FA32B153EF}"/>
                  </a:ext>
                </a:extLst>
              </p:cNvPr>
              <p:cNvSpPr>
                <a:spLocks noChangeArrowheads="1"/>
              </p:cNvSpPr>
              <p:nvPr/>
            </p:nvSpPr>
            <p:spPr bwMode="auto">
              <a:xfrm>
                <a:off x="4098081" y="4173437"/>
                <a:ext cx="3907604" cy="1608133"/>
              </a:xfrm>
              <a:prstGeom prst="rect">
                <a:avLst/>
              </a:prstGeom>
              <a:noFill/>
              <a:ln w="9525">
                <a:noFill/>
                <a:miter lim="800000"/>
                <a:headEnd/>
                <a:tailEnd/>
              </a:ln>
              <a:effectLst/>
            </p:spPr>
            <p:txBody>
              <a:bodyPr wrap="square" lIns="91440" tIns="45720" rIns="91440" bIns="45720" anchor="t">
                <a:spAutoFit/>
              </a:bodyPr>
              <a:lstStyle/>
              <a:p>
                <a:pPr eaLnBrk="1" hangingPunct="1">
                  <a:defRPr/>
                </a:pPr>
                <a:r>
                  <a:rPr lang="en-GB" sz="1100" dirty="0">
                    <a:effectLst>
                      <a:outerShdw blurRad="38100" dist="38100" dir="2700000" algn="tl">
                        <a:srgbClr val="FFFFFF"/>
                      </a:outerShdw>
                    </a:effectLst>
                    <a:latin typeface="Gadugi"/>
                    <a:ea typeface="Gadugi"/>
                  </a:rPr>
                  <a:t>Checked by: </a:t>
                </a:r>
              </a:p>
              <a:p>
                <a:pPr eaLnBrk="1" hangingPunct="1">
                  <a:defRPr/>
                </a:pPr>
                <a:endParaRPr lang="en-GB" sz="1100" b="1">
                  <a:effectLst>
                    <a:outerShdw blurRad="38100" dist="38100" dir="2700000" algn="tl">
                      <a:srgbClr val="FFFFFF"/>
                    </a:outerShdw>
                  </a:effectLst>
                  <a:latin typeface="Gadugi" panose="020B0502040204020203" pitchFamily="34" charset="0"/>
                  <a:ea typeface="Gadugi" panose="020B0502040204020203" pitchFamily="34" charset="0"/>
                </a:endParaRPr>
              </a:p>
              <a:p>
                <a:pPr eaLnBrk="1" hangingPunct="1">
                  <a:defRPr/>
                </a:pPr>
                <a:endParaRPr lang="en-GB" sz="1100" b="1">
                  <a:effectLst>
                    <a:outerShdw blurRad="38100" dist="38100" dir="2700000" algn="tl">
                      <a:srgbClr val="FFFFFF"/>
                    </a:outerShdw>
                  </a:effectLst>
                  <a:latin typeface="Gadugi" panose="020B0502040204020203" pitchFamily="34" charset="0"/>
                  <a:ea typeface="Gadugi" panose="020B0502040204020203" pitchFamily="34" charset="0"/>
                </a:endParaRPr>
              </a:p>
              <a:p>
                <a:pPr eaLnBrk="1" hangingPunct="1">
                  <a:defRPr/>
                </a:pPr>
                <a:endParaRPr lang="en-GB" sz="1100" b="1">
                  <a:effectLst>
                    <a:outerShdw blurRad="38100" dist="38100" dir="2700000" algn="tl">
                      <a:srgbClr val="FFFFFF"/>
                    </a:outerShdw>
                  </a:effectLst>
                  <a:latin typeface="Gadugi" panose="020B0502040204020203" pitchFamily="34" charset="0"/>
                  <a:ea typeface="Gadugi" panose="020B0502040204020203" pitchFamily="34" charset="0"/>
                </a:endParaRPr>
              </a:p>
              <a:p>
                <a:pPr>
                  <a:defRPr/>
                </a:pPr>
                <a:endParaRPr lang="fi-FI" sz="1100" b="1">
                  <a:effectLst>
                    <a:outerShdw blurRad="38100" dist="38100" dir="2700000" algn="tl">
                      <a:srgbClr val="FFFFFF"/>
                    </a:outerShdw>
                  </a:effectLst>
                  <a:latin typeface="Gadugi"/>
                  <a:ea typeface="Gadugi"/>
                </a:endParaRPr>
              </a:p>
              <a:p>
                <a:pPr>
                  <a:defRPr/>
                </a:pPr>
                <a:endParaRPr lang="fi-FI" sz="1100" b="1">
                  <a:effectLst>
                    <a:outerShdw blurRad="38100" dist="38100" dir="2700000" algn="tl">
                      <a:srgbClr val="FFFFFF"/>
                    </a:outerShdw>
                  </a:effectLst>
                  <a:latin typeface="Gadugi"/>
                  <a:ea typeface="Gadugi"/>
                </a:endParaRPr>
              </a:p>
              <a:p>
                <a:pPr>
                  <a:defRPr/>
                </a:pPr>
                <a:r>
                  <a:rPr lang="fi-FI" sz="1100" b="1" dirty="0" err="1">
                    <a:effectLst>
                      <a:outerShdw blurRad="38100" dist="38100" dir="2700000" algn="tl">
                        <a:srgbClr val="FFFFFF"/>
                      </a:outerShdw>
                    </a:effectLst>
                    <a:latin typeface="Gadugi"/>
                    <a:ea typeface="Gadugi"/>
                  </a:rPr>
                  <a:t>Ir</a:t>
                </a:r>
                <a:r>
                  <a:rPr lang="fi-FI" sz="1100" b="1" dirty="0">
                    <a:effectLst>
                      <a:outerShdw blurRad="38100" dist="38100" dir="2700000" algn="tl">
                        <a:srgbClr val="FFFFFF"/>
                      </a:outerShdw>
                    </a:effectLst>
                    <a:latin typeface="Gadugi"/>
                    <a:ea typeface="Gadugi"/>
                  </a:rPr>
                  <a:t>. Ts. </a:t>
                </a:r>
                <a:r>
                  <a:rPr lang="fi-FI" sz="1100" b="1" dirty="0" err="1">
                    <a:effectLst>
                      <a:outerShdw blurRad="38100" dist="38100" dir="2700000" algn="tl">
                        <a:srgbClr val="FFFFFF"/>
                      </a:outerShdw>
                    </a:effectLst>
                    <a:latin typeface="Gadugi"/>
                    <a:ea typeface="Gadugi"/>
                  </a:rPr>
                  <a:t>Dinishkaran</a:t>
                </a:r>
                <a:r>
                  <a:rPr lang="fi-FI" sz="1100" b="1" dirty="0">
                    <a:effectLst>
                      <a:outerShdw blurRad="38100" dist="38100" dir="2700000" algn="tl">
                        <a:srgbClr val="FFFFFF"/>
                      </a:outerShdw>
                    </a:effectLst>
                    <a:latin typeface="Gadugi"/>
                    <a:ea typeface="Gadugi"/>
                  </a:rPr>
                  <a:t> </a:t>
                </a:r>
                <a:r>
                  <a:rPr lang="fi-FI" sz="1100" b="1" dirty="0" err="1">
                    <a:effectLst>
                      <a:outerShdw blurRad="38100" dist="38100" dir="2700000" algn="tl">
                        <a:srgbClr val="FFFFFF"/>
                      </a:outerShdw>
                    </a:effectLst>
                    <a:latin typeface="Gadugi"/>
                    <a:ea typeface="Gadugi"/>
                  </a:rPr>
                  <a:t>Pillai</a:t>
                </a:r>
                <a:r>
                  <a:rPr lang="fi-FI" sz="1100" b="1" dirty="0">
                    <a:effectLst>
                      <a:outerShdw blurRad="38100" dist="38100" dir="2700000" algn="tl">
                        <a:srgbClr val="FFFFFF"/>
                      </a:outerShdw>
                    </a:effectLst>
                    <a:latin typeface="Gadugi"/>
                    <a:ea typeface="Gadugi"/>
                  </a:rPr>
                  <a:t>, </a:t>
                </a:r>
                <a:endParaRPr lang="fi-FI" dirty="0">
                  <a:latin typeface="Gadugi"/>
                  <a:ea typeface="Gadugi"/>
                </a:endParaRPr>
              </a:p>
              <a:p>
                <a:pPr eaLnBrk="1" hangingPunct="1">
                  <a:defRPr/>
                </a:pPr>
                <a:r>
                  <a:rPr lang="en-GB" sz="1100" b="1" dirty="0">
                    <a:effectLst>
                      <a:outerShdw blurRad="38100" dist="38100" dir="2700000" algn="tl">
                        <a:srgbClr val="FFFFFF"/>
                      </a:outerShdw>
                    </a:effectLst>
                    <a:latin typeface="Gadugi"/>
                    <a:ea typeface="Gadugi"/>
                  </a:rPr>
                  <a:t>Principal Engineer ( Maintenance Strategy )</a:t>
                </a:r>
              </a:p>
              <a:p>
                <a:pPr eaLnBrk="1" hangingPunct="1">
                  <a:defRPr/>
                </a:pPr>
                <a:r>
                  <a:rPr lang="en-US" altLang="en-US" sz="1050" kern="0" dirty="0">
                    <a:latin typeface="Gadugi"/>
                    <a:ea typeface="Gadugi"/>
                  </a:rPr>
                  <a:t>Date: 3</a:t>
                </a:r>
                <a:r>
                  <a:rPr lang="en-US" altLang="en-US" sz="1050" kern="0" baseline="30000" dirty="0">
                    <a:latin typeface="Gadugi"/>
                    <a:ea typeface="Gadugi"/>
                  </a:rPr>
                  <a:t>rd</a:t>
                </a:r>
                <a:r>
                  <a:rPr lang="en-US" altLang="en-US" sz="1050" kern="0" dirty="0">
                    <a:latin typeface="Gadugi"/>
                    <a:ea typeface="Gadugi"/>
                  </a:rPr>
                  <a:t> October 2025</a:t>
                </a:r>
              </a:p>
            </p:txBody>
          </p:sp>
          <p:sp>
            <p:nvSpPr>
              <p:cNvPr id="7" name="Rectangle 6">
                <a:extLst>
                  <a:ext uri="{FF2B5EF4-FFF2-40B4-BE49-F238E27FC236}">
                    <a16:creationId xmlns:a16="http://schemas.microsoft.com/office/drawing/2014/main" id="{AFE10405-FADA-59F1-8307-14C7439B63AE}"/>
                  </a:ext>
                </a:extLst>
              </p:cNvPr>
              <p:cNvSpPr>
                <a:spLocks noChangeArrowheads="1"/>
              </p:cNvSpPr>
              <p:nvPr/>
            </p:nvSpPr>
            <p:spPr bwMode="auto">
              <a:xfrm>
                <a:off x="7707718" y="4231887"/>
                <a:ext cx="3322225" cy="1415772"/>
              </a:xfrm>
              <a:prstGeom prst="rect">
                <a:avLst/>
              </a:prstGeom>
              <a:noFill/>
              <a:ln w="9525">
                <a:noFill/>
                <a:miter lim="800000"/>
                <a:headEnd/>
                <a:tailEnd/>
              </a:ln>
              <a:effectLst/>
            </p:spPr>
            <p:txBody>
              <a:bodyPr wrap="square" lIns="91440" tIns="45720" rIns="91440" bIns="45720" anchor="t">
                <a:spAutoFit/>
              </a:bodyPr>
              <a:lstStyle/>
              <a:p>
                <a:pPr eaLnBrk="1" hangingPunct="1">
                  <a:defRPr/>
                </a:pPr>
                <a:r>
                  <a:rPr lang="en-GB" sz="1100">
                    <a:effectLst>
                      <a:outerShdw blurRad="38100" dist="38100" dir="2700000" algn="tl">
                        <a:srgbClr val="FFFFFF"/>
                      </a:outerShdw>
                    </a:effectLst>
                    <a:latin typeface="Gadugi" panose="020B0502040204020203" pitchFamily="34" charset="0"/>
                    <a:ea typeface="Gadugi" panose="020B0502040204020203" pitchFamily="34" charset="0"/>
                  </a:rPr>
                  <a:t>Approved by: </a:t>
                </a:r>
              </a:p>
              <a:p>
                <a:pPr eaLnBrk="1" hangingPunct="1">
                  <a:defRPr/>
                </a:pPr>
                <a:endParaRPr lang="en-GB" sz="1100" b="1">
                  <a:effectLst>
                    <a:outerShdw blurRad="38100" dist="38100" dir="2700000" algn="tl">
                      <a:srgbClr val="FFFFFF"/>
                    </a:outerShdw>
                  </a:effectLst>
                  <a:latin typeface="Gadugi" panose="020B0502040204020203" pitchFamily="34" charset="0"/>
                  <a:ea typeface="Gadugi" panose="020B0502040204020203" pitchFamily="34" charset="0"/>
                </a:endParaRPr>
              </a:p>
              <a:p>
                <a:pPr eaLnBrk="1" hangingPunct="1">
                  <a:defRPr/>
                </a:pPr>
                <a:endParaRPr lang="en-GB" sz="1100" b="1">
                  <a:effectLst>
                    <a:outerShdw blurRad="38100" dist="38100" dir="2700000" algn="tl">
                      <a:srgbClr val="FFFFFF"/>
                    </a:outerShdw>
                  </a:effectLst>
                  <a:latin typeface="Gadugi" panose="020B0502040204020203" pitchFamily="34" charset="0"/>
                  <a:ea typeface="Gadugi" panose="020B0502040204020203" pitchFamily="34" charset="0"/>
                </a:endParaRPr>
              </a:p>
              <a:p>
                <a:pPr eaLnBrk="1" hangingPunct="1">
                  <a:defRPr/>
                </a:pPr>
                <a:endParaRPr lang="en-GB" sz="1100" b="1">
                  <a:effectLst>
                    <a:outerShdw blurRad="38100" dist="38100" dir="2700000" algn="tl">
                      <a:srgbClr val="FFFFFF"/>
                    </a:outerShdw>
                  </a:effectLst>
                  <a:latin typeface="Gadugi" panose="020B0502040204020203" pitchFamily="34" charset="0"/>
                  <a:ea typeface="Gadugi" panose="020B0502040204020203" pitchFamily="34" charset="0"/>
                </a:endParaRPr>
              </a:p>
              <a:p>
                <a:pPr>
                  <a:defRPr/>
                </a:pPr>
                <a:endParaRPr lang="en-US" altLang="en-US" sz="1050" kern="0">
                  <a:latin typeface="Gadugi" panose="020B0502040204020203" pitchFamily="34" charset="0"/>
                  <a:ea typeface="Gadugi" panose="020B0502040204020203" pitchFamily="34" charset="0"/>
                </a:endParaRPr>
              </a:p>
              <a:p>
                <a:pPr>
                  <a:defRPr/>
                </a:pPr>
                <a:endParaRPr lang="en-US" altLang="en-US" sz="1050" b="1" kern="0">
                  <a:latin typeface="Gadugi"/>
                  <a:ea typeface="Gadugi"/>
                </a:endParaRPr>
              </a:p>
              <a:p>
                <a:pPr>
                  <a:defRPr/>
                </a:pPr>
                <a:r>
                  <a:rPr lang="en-US" altLang="en-US" sz="1050" b="1" kern="0">
                    <a:latin typeface="Gadugi"/>
                    <a:ea typeface="Gadugi"/>
                  </a:rPr>
                  <a:t>Head of Maintenance</a:t>
                </a:r>
                <a:endParaRPr lang="en-US">
                  <a:latin typeface="Gadugi"/>
                  <a:ea typeface="Gadugi"/>
                </a:endParaRPr>
              </a:p>
              <a:p>
                <a:pPr lvl="0">
                  <a:defRPr/>
                </a:pPr>
                <a:r>
                  <a:rPr lang="en-US" altLang="en-US" sz="1050" kern="0">
                    <a:latin typeface="Gadugi" panose="020B0502040204020203" pitchFamily="34" charset="0"/>
                    <a:ea typeface="Gadugi" panose="020B0502040204020203" pitchFamily="34" charset="0"/>
                  </a:rPr>
                  <a:t>Date:</a:t>
                </a:r>
                <a:endParaRPr lang="en-GB" sz="1050" b="1">
                  <a:effectLst>
                    <a:outerShdw blurRad="38100" dist="38100" dir="2700000" algn="tl">
                      <a:srgbClr val="FFFFFF"/>
                    </a:outerShdw>
                  </a:effectLst>
                  <a:latin typeface="Gadugi" panose="020B0502040204020203" pitchFamily="34" charset="0"/>
                  <a:ea typeface="Gadugi" panose="020B0502040204020203" pitchFamily="34" charset="0"/>
                </a:endParaRPr>
              </a:p>
            </p:txBody>
          </p:sp>
          <p:cxnSp>
            <p:nvCxnSpPr>
              <p:cNvPr id="26" name="Straight Connector 25">
                <a:extLst>
                  <a:ext uri="{FF2B5EF4-FFF2-40B4-BE49-F238E27FC236}">
                    <a16:creationId xmlns:a16="http://schemas.microsoft.com/office/drawing/2014/main" id="{50C548BE-BA10-C35E-9B09-E0F39E047F1E}"/>
                  </a:ext>
                </a:extLst>
              </p:cNvPr>
              <p:cNvCxnSpPr/>
              <p:nvPr/>
            </p:nvCxnSpPr>
            <p:spPr>
              <a:xfrm>
                <a:off x="7156453" y="3545058"/>
                <a:ext cx="0" cy="3108960"/>
              </a:xfrm>
              <a:prstGeom prst="line">
                <a:avLst/>
              </a:prstGeom>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CB81204F-B179-3DAE-861A-94B26D910B84}"/>
                  </a:ext>
                </a:extLst>
              </p:cNvPr>
              <p:cNvCxnSpPr>
                <a:cxnSpLocks/>
              </p:cNvCxnSpPr>
              <p:nvPr/>
            </p:nvCxnSpPr>
            <p:spPr>
              <a:xfrm>
                <a:off x="1012874" y="3844924"/>
                <a:ext cx="10466363" cy="0"/>
              </a:xfrm>
              <a:prstGeom prst="line">
                <a:avLst/>
              </a:prstGeom>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590A4C44-1E32-5AFF-C5D7-C5118BEEC518}"/>
                  </a:ext>
                </a:extLst>
              </p:cNvPr>
              <p:cNvCxnSpPr/>
              <p:nvPr/>
            </p:nvCxnSpPr>
            <p:spPr>
              <a:xfrm>
                <a:off x="1012874" y="3560220"/>
                <a:ext cx="0" cy="3108960"/>
              </a:xfrm>
              <a:prstGeom prst="line">
                <a:avLst/>
              </a:prstGeom>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DF91DB75-19CD-8728-A2FD-620E85D1DB74}"/>
                  </a:ext>
                </a:extLst>
              </p:cNvPr>
              <p:cNvCxnSpPr>
                <a:cxnSpLocks/>
              </p:cNvCxnSpPr>
              <p:nvPr/>
            </p:nvCxnSpPr>
            <p:spPr>
              <a:xfrm>
                <a:off x="1012874" y="3550177"/>
                <a:ext cx="10466363" cy="0"/>
              </a:xfrm>
              <a:prstGeom prst="line">
                <a:avLst/>
              </a:prstGeom>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9FD23547-438B-841C-25E6-BAB1B9CD7C45}"/>
                  </a:ext>
                </a:extLst>
              </p:cNvPr>
              <p:cNvCxnSpPr/>
              <p:nvPr/>
            </p:nvCxnSpPr>
            <p:spPr>
              <a:xfrm>
                <a:off x="11479237" y="3544831"/>
                <a:ext cx="0" cy="3108960"/>
              </a:xfrm>
              <a:prstGeom prst="line">
                <a:avLst/>
              </a:prstGeom>
            </p:spPr>
            <p:style>
              <a:lnRef idx="1">
                <a:schemeClr val="dk1"/>
              </a:lnRef>
              <a:fillRef idx="0">
                <a:schemeClr val="dk1"/>
              </a:fillRef>
              <a:effectRef idx="0">
                <a:schemeClr val="dk1"/>
              </a:effectRef>
              <a:fontRef idx="minor">
                <a:schemeClr val="tx1"/>
              </a:fontRef>
            </p:style>
          </p:cxnSp>
          <p:cxnSp>
            <p:nvCxnSpPr>
              <p:cNvPr id="36" name="Straight Connector 35">
                <a:extLst>
                  <a:ext uri="{FF2B5EF4-FFF2-40B4-BE49-F238E27FC236}">
                    <a16:creationId xmlns:a16="http://schemas.microsoft.com/office/drawing/2014/main" id="{29A56338-544F-7717-3784-2C2E55871543}"/>
                  </a:ext>
                </a:extLst>
              </p:cNvPr>
              <p:cNvCxnSpPr>
                <a:cxnSpLocks/>
              </p:cNvCxnSpPr>
              <p:nvPr/>
            </p:nvCxnSpPr>
            <p:spPr>
              <a:xfrm>
                <a:off x="1012873" y="6659556"/>
                <a:ext cx="10466363" cy="0"/>
              </a:xfrm>
              <a:prstGeom prst="line">
                <a:avLst/>
              </a:prstGeom>
            </p:spPr>
            <p:style>
              <a:lnRef idx="1">
                <a:schemeClr val="dk1"/>
              </a:lnRef>
              <a:fillRef idx="0">
                <a:schemeClr val="dk1"/>
              </a:fillRef>
              <a:effectRef idx="0">
                <a:schemeClr val="dk1"/>
              </a:effectRef>
              <a:fontRef idx="minor">
                <a:schemeClr val="tx1"/>
              </a:fontRef>
            </p:style>
          </p:cxnSp>
        </p:grpSp>
      </p:grpSp>
      <p:pic>
        <p:nvPicPr>
          <p:cNvPr id="24" name="Picture 23">
            <a:extLst>
              <a:ext uri="{FF2B5EF4-FFF2-40B4-BE49-F238E27FC236}">
                <a16:creationId xmlns:a16="http://schemas.microsoft.com/office/drawing/2014/main" id="{D805EFE7-BD5F-8C91-1C64-383275132A2F}"/>
              </a:ext>
            </a:extLst>
          </p:cNvPr>
          <p:cNvPicPr>
            <a:picLocks noChangeAspect="1"/>
          </p:cNvPicPr>
          <p:nvPr/>
        </p:nvPicPr>
        <p:blipFill>
          <a:blip r:embed="rId3"/>
          <a:stretch>
            <a:fillRect/>
          </a:stretch>
        </p:blipFill>
        <p:spPr>
          <a:xfrm>
            <a:off x="4316230" y="4277176"/>
            <a:ext cx="1463994" cy="751997"/>
          </a:xfrm>
          <a:prstGeom prst="rect">
            <a:avLst/>
          </a:prstGeom>
        </p:spPr>
      </p:pic>
      <p:pic>
        <p:nvPicPr>
          <p:cNvPr id="27" name="Picture 26">
            <a:extLst>
              <a:ext uri="{FF2B5EF4-FFF2-40B4-BE49-F238E27FC236}">
                <a16:creationId xmlns:a16="http://schemas.microsoft.com/office/drawing/2014/main" id="{F1FA9791-3EE1-2B24-392B-72CB19C8D804}"/>
              </a:ext>
            </a:extLst>
          </p:cNvPr>
          <p:cNvPicPr>
            <a:picLocks noChangeAspect="1"/>
          </p:cNvPicPr>
          <p:nvPr/>
        </p:nvPicPr>
        <p:blipFill>
          <a:blip r:embed="rId4"/>
          <a:stretch>
            <a:fillRect/>
          </a:stretch>
        </p:blipFill>
        <p:spPr>
          <a:xfrm>
            <a:off x="1536716" y="4279291"/>
            <a:ext cx="1146338" cy="707315"/>
          </a:xfrm>
          <a:prstGeom prst="rect">
            <a:avLst/>
          </a:prstGeom>
        </p:spPr>
      </p:pic>
    </p:spTree>
    <p:extLst>
      <p:ext uri="{BB962C8B-B14F-4D97-AF65-F5344CB8AC3E}">
        <p14:creationId xmlns:p14="http://schemas.microsoft.com/office/powerpoint/2010/main" val="4409367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772C378-0414-45F8-8487-7967F80D7441}"/>
              </a:ext>
            </a:extLst>
          </p:cNvPr>
          <p:cNvSpPr txBox="1">
            <a:spLocks/>
          </p:cNvSpPr>
          <p:nvPr/>
        </p:nvSpPr>
        <p:spPr>
          <a:xfrm>
            <a:off x="708579" y="942109"/>
            <a:ext cx="10109201" cy="1143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MY" sz="3200"/>
              <a:t>DISCLAIMER</a:t>
            </a:r>
            <a:endParaRPr lang="en-US" sz="3200"/>
          </a:p>
        </p:txBody>
      </p:sp>
      <p:sp>
        <p:nvSpPr>
          <p:cNvPr id="5" name="Content Placeholder 2">
            <a:extLst>
              <a:ext uri="{FF2B5EF4-FFF2-40B4-BE49-F238E27FC236}">
                <a16:creationId xmlns:a16="http://schemas.microsoft.com/office/drawing/2014/main" id="{25153846-0223-4E65-8178-DEB3BC60DCC0}"/>
              </a:ext>
            </a:extLst>
          </p:cNvPr>
          <p:cNvSpPr txBox="1">
            <a:spLocks/>
          </p:cNvSpPr>
          <p:nvPr/>
        </p:nvSpPr>
        <p:spPr>
          <a:xfrm>
            <a:off x="1041400" y="2085109"/>
            <a:ext cx="10109200" cy="39163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n-US" sz="1600"/>
              <a:t>The information contained in these documents is confidential, privileged and only for the information of the intended recipient and may not be used, published or redistributed without the prior written consent of TS-RE Unit.</a:t>
            </a:r>
          </a:p>
          <a:p>
            <a:pPr marL="0" indent="0" algn="just">
              <a:buFont typeface="Arial" panose="020B0604020202020204" pitchFamily="34" charset="0"/>
              <a:buNone/>
            </a:pPr>
            <a:endParaRPr lang="en-US" sz="1600"/>
          </a:p>
          <a:p>
            <a:pPr marL="0" indent="0" algn="just">
              <a:buFont typeface="Arial" panose="020B0604020202020204" pitchFamily="34" charset="0"/>
              <a:buNone/>
            </a:pPr>
            <a:r>
              <a:rPr lang="en-US" sz="1600"/>
              <a:t>The opinions expressed are in good faith and while every care has been taken in preparing these documents, TS-RE Unit makes no representations and gives no warranties of whatever nature in respect of these documents, including but not limited to the accuracy or completeness of any information, facts and/or opinions contained therein. </a:t>
            </a:r>
          </a:p>
          <a:p>
            <a:pPr marL="0" indent="0" algn="just">
              <a:buFont typeface="Arial" panose="020B0604020202020204" pitchFamily="34" charset="0"/>
              <a:buNone/>
            </a:pPr>
            <a:endParaRPr lang="en-US" sz="1600"/>
          </a:p>
          <a:p>
            <a:pPr marL="0" indent="0" algn="just">
              <a:buFont typeface="Arial" panose="020B0604020202020204" pitchFamily="34" charset="0"/>
              <a:buNone/>
            </a:pPr>
            <a:r>
              <a:rPr lang="en-US" sz="1600"/>
              <a:t>TS-RE Unit cannot be held liable for the use of and reliance of the opinions and findings in these documents. </a:t>
            </a:r>
          </a:p>
          <a:p>
            <a:pPr algn="just"/>
            <a:endParaRPr lang="en-US" sz="1600"/>
          </a:p>
        </p:txBody>
      </p:sp>
      <p:pic>
        <p:nvPicPr>
          <p:cNvPr id="6" name="Picture 5">
            <a:extLst>
              <a:ext uri="{FF2B5EF4-FFF2-40B4-BE49-F238E27FC236}">
                <a16:creationId xmlns:a16="http://schemas.microsoft.com/office/drawing/2014/main" id="{EF4B8B88-6348-4DEC-9114-0E05BDB22C1E}"/>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t="13483" b="26966"/>
          <a:stretch/>
        </p:blipFill>
        <p:spPr bwMode="auto">
          <a:xfrm>
            <a:off x="10748507" y="80255"/>
            <a:ext cx="1225443" cy="473074"/>
          </a:xfrm>
          <a:prstGeom prst="rect">
            <a:avLst/>
          </a:prstGeom>
          <a:noFill/>
          <a:ln>
            <a:noFill/>
          </a:ln>
          <a:extLst>
            <a:ext uri="{53640926-AAD7-44D8-BBD7-CCE9431645EC}">
              <a14:shadowObscured xmlns:a14="http://schemas.microsoft.com/office/drawing/2010/main"/>
            </a:ext>
          </a:extLst>
        </p:spPr>
      </p:pic>
      <p:sp>
        <p:nvSpPr>
          <p:cNvPr id="7" name="Slide Number Placeholder 2">
            <a:extLst>
              <a:ext uri="{FF2B5EF4-FFF2-40B4-BE49-F238E27FC236}">
                <a16:creationId xmlns:a16="http://schemas.microsoft.com/office/drawing/2014/main" id="{7458B78B-6CE7-417B-A409-E82DCDDCA54E}"/>
              </a:ext>
            </a:extLst>
          </p:cNvPr>
          <p:cNvSpPr>
            <a:spLocks noGrp="1"/>
          </p:cNvSpPr>
          <p:nvPr>
            <p:ph type="sldNum" sz="quarter" idx="12"/>
          </p:nvPr>
        </p:nvSpPr>
        <p:spPr>
          <a:xfrm>
            <a:off x="8610600" y="6356350"/>
            <a:ext cx="2743200" cy="365125"/>
          </a:xfrm>
        </p:spPr>
        <p:txBody>
          <a:bodyPr/>
          <a:lstStyle/>
          <a:p>
            <a:r>
              <a:rPr lang="en-US"/>
              <a:t>ii</a:t>
            </a:r>
          </a:p>
        </p:txBody>
      </p:sp>
    </p:spTree>
    <p:extLst>
      <p:ext uri="{BB962C8B-B14F-4D97-AF65-F5344CB8AC3E}">
        <p14:creationId xmlns:p14="http://schemas.microsoft.com/office/powerpoint/2010/main" val="15071441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45EFE42-A9DD-4404-A05B-625B9225BDAF}"/>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t="13483" b="26966"/>
          <a:stretch/>
        </p:blipFill>
        <p:spPr bwMode="auto">
          <a:xfrm>
            <a:off x="10748507" y="80255"/>
            <a:ext cx="1225443" cy="473074"/>
          </a:xfrm>
          <a:prstGeom prst="rect">
            <a:avLst/>
          </a:prstGeom>
          <a:noFill/>
          <a:ln>
            <a:noFill/>
          </a:ln>
          <a:extLst>
            <a:ext uri="{53640926-AAD7-44D8-BBD7-CCE9431645EC}">
              <a14:shadowObscured xmlns:a14="http://schemas.microsoft.com/office/drawing/2010/main"/>
            </a:ext>
          </a:extLst>
        </p:spPr>
      </p:pic>
      <p:sp>
        <p:nvSpPr>
          <p:cNvPr id="6" name="Slide Number Placeholder 2">
            <a:extLst>
              <a:ext uri="{FF2B5EF4-FFF2-40B4-BE49-F238E27FC236}">
                <a16:creationId xmlns:a16="http://schemas.microsoft.com/office/drawing/2014/main" id="{66A76CDC-9BC7-421F-BAE0-EAF380D2D77E}"/>
              </a:ext>
            </a:extLst>
          </p:cNvPr>
          <p:cNvSpPr>
            <a:spLocks noGrp="1"/>
          </p:cNvSpPr>
          <p:nvPr>
            <p:ph type="sldNum" sz="quarter" idx="12"/>
          </p:nvPr>
        </p:nvSpPr>
        <p:spPr>
          <a:xfrm>
            <a:off x="8610600" y="6356350"/>
            <a:ext cx="2743200" cy="365125"/>
          </a:xfrm>
        </p:spPr>
        <p:txBody>
          <a:bodyPr/>
          <a:lstStyle/>
          <a:p>
            <a:r>
              <a:rPr lang="en-US"/>
              <a:t>iii</a:t>
            </a:r>
          </a:p>
        </p:txBody>
      </p:sp>
      <p:sp>
        <p:nvSpPr>
          <p:cNvPr id="8" name="Rectangle 7">
            <a:extLst>
              <a:ext uri="{FF2B5EF4-FFF2-40B4-BE49-F238E27FC236}">
                <a16:creationId xmlns:a16="http://schemas.microsoft.com/office/drawing/2014/main" id="{2792915C-C6D0-43BC-94B1-6E2442CD8339}"/>
              </a:ext>
            </a:extLst>
          </p:cNvPr>
          <p:cNvSpPr/>
          <p:nvPr/>
        </p:nvSpPr>
        <p:spPr>
          <a:xfrm>
            <a:off x="983429" y="1287677"/>
            <a:ext cx="10003019" cy="4498974"/>
          </a:xfrm>
          <a:prstGeom prst="rect">
            <a:avLst/>
          </a:prstGeom>
          <a:solidFill>
            <a:schemeClr val="accent4">
              <a:lumMod val="20000"/>
              <a:lumOff val="8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t"/>
          <a:lstStyle/>
          <a:p>
            <a:pPr>
              <a:defRPr/>
            </a:pPr>
            <a:endParaRPr lang="en-US" b="1">
              <a:solidFill>
                <a:schemeClr val="tx1"/>
              </a:solidFill>
            </a:endParaRPr>
          </a:p>
          <a:p>
            <a:pPr>
              <a:defRPr/>
            </a:pPr>
            <a:r>
              <a:rPr lang="en-US" sz="2000" b="1">
                <a:solidFill>
                  <a:schemeClr val="tx1"/>
                </a:solidFill>
              </a:rPr>
              <a:t>Table of Contents					                                      	Page</a:t>
            </a:r>
          </a:p>
          <a:p>
            <a:pPr>
              <a:defRPr/>
            </a:pPr>
            <a:endParaRPr lang="en-US" sz="2000" b="1">
              <a:solidFill>
                <a:schemeClr val="tx1"/>
              </a:solidFill>
            </a:endParaRPr>
          </a:p>
          <a:p>
            <a:pPr>
              <a:lnSpc>
                <a:spcPct val="150000"/>
              </a:lnSpc>
              <a:defRPr/>
            </a:pPr>
            <a:r>
              <a:rPr lang="en-US">
                <a:solidFill>
                  <a:schemeClr val="tx1"/>
                </a:solidFill>
              </a:rPr>
              <a:t>1. INTRODUCTION									1</a:t>
            </a:r>
            <a:endParaRPr lang="en-MY">
              <a:solidFill>
                <a:schemeClr val="tx1"/>
              </a:solidFill>
            </a:endParaRPr>
          </a:p>
          <a:p>
            <a:pPr>
              <a:lnSpc>
                <a:spcPct val="150000"/>
              </a:lnSpc>
              <a:defRPr/>
            </a:pPr>
            <a:r>
              <a:rPr lang="en-MY">
                <a:solidFill>
                  <a:schemeClr val="tx1"/>
                </a:solidFill>
              </a:rPr>
              <a:t>2. RCM METHODOLOGY								5</a:t>
            </a:r>
          </a:p>
          <a:p>
            <a:pPr>
              <a:lnSpc>
                <a:spcPct val="150000"/>
              </a:lnSpc>
              <a:defRPr/>
            </a:pPr>
            <a:r>
              <a:rPr lang="en-MY">
                <a:solidFill>
                  <a:schemeClr val="tx1"/>
                </a:solidFill>
              </a:rPr>
              <a:t>3. ANALYSIS									6</a:t>
            </a:r>
            <a:endParaRPr lang="en-US">
              <a:solidFill>
                <a:schemeClr val="tx1"/>
              </a:solidFill>
              <a:ea typeface="Gadugi" panose="020B0502040204020203" pitchFamily="34" charset="0"/>
            </a:endParaRPr>
          </a:p>
          <a:p>
            <a:pPr>
              <a:lnSpc>
                <a:spcPct val="150000"/>
              </a:lnSpc>
              <a:defRPr/>
            </a:pPr>
            <a:r>
              <a:rPr lang="en-MY">
                <a:solidFill>
                  <a:schemeClr val="tx1"/>
                </a:solidFill>
              </a:rPr>
              <a:t>4. CONCLUSIONS						                                                    12</a:t>
            </a:r>
            <a:endParaRPr lang="en-MY">
              <a:solidFill>
                <a:schemeClr val="tx1"/>
              </a:solidFill>
              <a:ea typeface="Calibri"/>
              <a:cs typeface="Calibri"/>
            </a:endParaRPr>
          </a:p>
          <a:p>
            <a:pPr>
              <a:lnSpc>
                <a:spcPct val="150000"/>
              </a:lnSpc>
              <a:defRPr/>
            </a:pPr>
            <a:r>
              <a:rPr lang="en-MY">
                <a:solidFill>
                  <a:schemeClr val="tx1"/>
                </a:solidFill>
              </a:rPr>
              <a:t>5. RECOMMENDATIONS 							                 13</a:t>
            </a:r>
            <a:endParaRPr lang="en-MY">
              <a:solidFill>
                <a:schemeClr val="tx1"/>
              </a:solidFill>
              <a:ea typeface="Calibri"/>
              <a:cs typeface="Calibri"/>
            </a:endParaRPr>
          </a:p>
          <a:p>
            <a:pPr>
              <a:lnSpc>
                <a:spcPct val="150000"/>
              </a:lnSpc>
              <a:defRPr/>
            </a:pPr>
            <a:r>
              <a:rPr lang="en-MY">
                <a:solidFill>
                  <a:schemeClr val="tx1"/>
                </a:solidFill>
              </a:rPr>
              <a:t>6. REFERENCES						                                                    14</a:t>
            </a:r>
            <a:endParaRPr lang="en-MY">
              <a:solidFill>
                <a:schemeClr val="tx1"/>
              </a:solidFill>
              <a:ea typeface="Calibri"/>
              <a:cs typeface="Calibri"/>
            </a:endParaRPr>
          </a:p>
          <a:p>
            <a:pPr>
              <a:lnSpc>
                <a:spcPct val="150000"/>
              </a:lnSpc>
              <a:defRPr/>
            </a:pPr>
            <a:r>
              <a:rPr lang="en-MY">
                <a:solidFill>
                  <a:schemeClr val="tx1"/>
                </a:solidFill>
              </a:rPr>
              <a:t>7. ATTACHMENT	 							                 15</a:t>
            </a:r>
            <a:endParaRPr lang="en-MY">
              <a:solidFill>
                <a:schemeClr val="tx1"/>
              </a:solidFill>
              <a:ea typeface="Calibri"/>
              <a:cs typeface="Calibri"/>
            </a:endParaRPr>
          </a:p>
          <a:p>
            <a:pPr>
              <a:lnSpc>
                <a:spcPct val="150000"/>
              </a:lnSpc>
              <a:defRPr/>
            </a:pPr>
            <a:endParaRPr lang="en-MY">
              <a:solidFill>
                <a:schemeClr val="tx1"/>
              </a:solidFill>
            </a:endParaRPr>
          </a:p>
          <a:p>
            <a:pPr>
              <a:lnSpc>
                <a:spcPct val="150000"/>
              </a:lnSpc>
              <a:defRPr/>
            </a:pPr>
            <a:r>
              <a:rPr lang="en-MY" dirty="0">
                <a:solidFill>
                  <a:schemeClr val="tx1"/>
                </a:solidFill>
              </a:rPr>
              <a:t>							                                   </a:t>
            </a:r>
            <a:endParaRPr lang="en-MY" dirty="0">
              <a:solidFill>
                <a:schemeClr val="tx1"/>
              </a:solidFill>
              <a:ea typeface="Calibri"/>
              <a:cs typeface="Calibri"/>
            </a:endParaRPr>
          </a:p>
        </p:txBody>
      </p:sp>
    </p:spTree>
    <p:extLst>
      <p:ext uri="{BB962C8B-B14F-4D97-AF65-F5344CB8AC3E}">
        <p14:creationId xmlns:p14="http://schemas.microsoft.com/office/powerpoint/2010/main" val="29448286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38BF81D-13BA-4EF5-A2FB-5D0C92DFD23B}"/>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t="13483" b="26966"/>
          <a:stretch/>
        </p:blipFill>
        <p:spPr bwMode="auto">
          <a:xfrm>
            <a:off x="10748507" y="80255"/>
            <a:ext cx="1225443" cy="473074"/>
          </a:xfrm>
          <a:prstGeom prst="rect">
            <a:avLst/>
          </a:prstGeom>
          <a:noFill/>
          <a:ln>
            <a:noFill/>
          </a:ln>
          <a:extLst>
            <a:ext uri="{53640926-AAD7-44D8-BBD7-CCE9431645EC}">
              <a14:shadowObscured xmlns:a14="http://schemas.microsoft.com/office/drawing/2010/main"/>
            </a:ext>
          </a:extLst>
        </p:spPr>
      </p:pic>
      <p:sp>
        <p:nvSpPr>
          <p:cNvPr id="7" name="Rectangle 2">
            <a:extLst>
              <a:ext uri="{FF2B5EF4-FFF2-40B4-BE49-F238E27FC236}">
                <a16:creationId xmlns:a16="http://schemas.microsoft.com/office/drawing/2014/main" id="{C03F4BF0-7B0A-4933-9E69-005C2DC44043}"/>
              </a:ext>
            </a:extLst>
          </p:cNvPr>
          <p:cNvSpPr txBox="1">
            <a:spLocks noChangeArrowheads="1"/>
          </p:cNvSpPr>
          <p:nvPr/>
        </p:nvSpPr>
        <p:spPr>
          <a:xfrm>
            <a:off x="381000" y="-20102"/>
            <a:ext cx="7772400" cy="8382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2400" b="1">
                <a:latin typeface="+mn-lt"/>
              </a:rPr>
              <a:t>1. INTRODUCTION</a:t>
            </a:r>
          </a:p>
        </p:txBody>
      </p:sp>
      <p:cxnSp>
        <p:nvCxnSpPr>
          <p:cNvPr id="8" name="Straight Connector 7">
            <a:extLst>
              <a:ext uri="{FF2B5EF4-FFF2-40B4-BE49-F238E27FC236}">
                <a16:creationId xmlns:a16="http://schemas.microsoft.com/office/drawing/2014/main" id="{380124A7-698A-4D88-9046-55A67076DEA3}"/>
              </a:ext>
            </a:extLst>
          </p:cNvPr>
          <p:cNvCxnSpPr/>
          <p:nvPr/>
        </p:nvCxnSpPr>
        <p:spPr>
          <a:xfrm>
            <a:off x="381000" y="1123950"/>
            <a:ext cx="10607040" cy="0"/>
          </a:xfrm>
          <a:prstGeom prst="line">
            <a:avLst/>
          </a:prstGeom>
        </p:spPr>
        <p:style>
          <a:lnRef idx="3">
            <a:schemeClr val="accent3"/>
          </a:lnRef>
          <a:fillRef idx="0">
            <a:schemeClr val="accent3"/>
          </a:fillRef>
          <a:effectRef idx="2">
            <a:schemeClr val="accent3"/>
          </a:effectRef>
          <a:fontRef idx="minor">
            <a:schemeClr val="tx1"/>
          </a:fontRef>
        </p:style>
      </p:cxnSp>
      <p:sp>
        <p:nvSpPr>
          <p:cNvPr id="9" name="Rectangle 8">
            <a:extLst>
              <a:ext uri="{FF2B5EF4-FFF2-40B4-BE49-F238E27FC236}">
                <a16:creationId xmlns:a16="http://schemas.microsoft.com/office/drawing/2014/main" id="{E1E06449-2941-4951-BA5C-747B1A21BDF4}"/>
              </a:ext>
            </a:extLst>
          </p:cNvPr>
          <p:cNvSpPr/>
          <p:nvPr/>
        </p:nvSpPr>
        <p:spPr>
          <a:xfrm>
            <a:off x="381001" y="1226602"/>
            <a:ext cx="10896600" cy="4614725"/>
          </a:xfrm>
          <a:prstGeom prst="rect">
            <a:avLst/>
          </a:prstGeom>
        </p:spPr>
        <p:txBody>
          <a:bodyPr wrap="square">
            <a:spAutoFit/>
          </a:bodyPr>
          <a:lstStyle/>
          <a:p>
            <a:pPr marL="342900" indent="-342900" algn="just">
              <a:lnSpc>
                <a:spcPct val="150000"/>
              </a:lnSpc>
              <a:spcAft>
                <a:spcPts val="800"/>
              </a:spcAft>
              <a:buFont typeface="Arial" panose="020B0604020202020204" pitchFamily="34" charset="0"/>
              <a:buChar char="•"/>
            </a:pPr>
            <a:r>
              <a:rPr lang="en-US" b="1">
                <a:ea typeface="Gadugi" panose="020B0502040204020203" pitchFamily="34" charset="0"/>
              </a:rPr>
              <a:t> </a:t>
            </a:r>
            <a:r>
              <a:rPr lang="en-MY">
                <a:ea typeface="Gadugi" panose="020B0502040204020203" pitchFamily="34" charset="0"/>
              </a:rPr>
              <a:t>Reliability </a:t>
            </a:r>
            <a:r>
              <a:rPr lang="en-MY" err="1">
                <a:ea typeface="Gadugi" panose="020B0502040204020203" pitchFamily="34" charset="0"/>
              </a:rPr>
              <a:t>Centered</a:t>
            </a:r>
            <a:r>
              <a:rPr lang="en-MY">
                <a:ea typeface="Gadugi" panose="020B0502040204020203" pitchFamily="34" charset="0"/>
              </a:rPr>
              <a:t> Maintenance (RCM) is one of the maintenance methodologies designed to optimize maintenance strategies implementation at all TNB Genco plants. TNB Generation / TNB Genco has been implementing RCM since 2004. </a:t>
            </a:r>
          </a:p>
          <a:p>
            <a:pPr marL="342900" indent="-342900" algn="just">
              <a:lnSpc>
                <a:spcPct val="150000"/>
              </a:lnSpc>
              <a:spcAft>
                <a:spcPts val="800"/>
              </a:spcAft>
              <a:buFont typeface="Arial" panose="020B0604020202020204" pitchFamily="34" charset="0"/>
              <a:buChar char="•"/>
            </a:pPr>
            <a:r>
              <a:rPr lang="en-MY">
                <a:effectLst/>
                <a:ea typeface="Calibri" panose="020F0502020204030204" pitchFamily="34" charset="0"/>
                <a:cs typeface="Times New Roman" panose="02020603050405020304" pitchFamily="18" charset="0"/>
              </a:rPr>
              <a:t>The RCM 5-Year Masterplan for TNB Genco was presented and approved by TNB Genco’s Chief Operation Officer Performance Review (COOPER) in March 2022. One of the agendas in the masterplan is for TNB Genco's to continue providing RCM facilitation service to all TNB Genco plants.</a:t>
            </a:r>
            <a:endParaRPr lang="en-US">
              <a:effectLst/>
              <a:ea typeface="Calibri" panose="020F0502020204030204" pitchFamily="34" charset="0"/>
              <a:cs typeface="Times New Roman" panose="02020603050405020304" pitchFamily="18" charset="0"/>
            </a:endParaRPr>
          </a:p>
          <a:p>
            <a:pPr marL="342900" indent="-342900" algn="just">
              <a:lnSpc>
                <a:spcPct val="150000"/>
              </a:lnSpc>
              <a:spcAft>
                <a:spcPts val="800"/>
              </a:spcAft>
              <a:buFont typeface="Arial" panose="020B0604020202020204" pitchFamily="34" charset="0"/>
              <a:buChar char="•"/>
            </a:pPr>
            <a:r>
              <a:rPr lang="en-US">
                <a:ea typeface="Calibri" panose="020F0502020204030204" pitchFamily="34" charset="0"/>
                <a:cs typeface="Times New Roman" panose="02020603050405020304" pitchFamily="18" charset="0"/>
              </a:rPr>
              <a:t>CBSB </a:t>
            </a:r>
            <a:r>
              <a:rPr lang="en-US">
                <a:effectLst/>
                <a:ea typeface="Calibri" panose="020F0502020204030204" pitchFamily="34" charset="0"/>
                <a:cs typeface="Times New Roman" panose="02020603050405020304" pitchFamily="18" charset="0"/>
              </a:rPr>
              <a:t>has requested the Maintenance Strategy Team in ALC Unit to conduct an RCM analysis on the Generator Transformers, to improvise the current maintenance practice. </a:t>
            </a:r>
          </a:p>
          <a:p>
            <a:pPr marL="342900" indent="-342900" algn="just">
              <a:lnSpc>
                <a:spcPct val="150000"/>
              </a:lnSpc>
              <a:spcAft>
                <a:spcPts val="800"/>
              </a:spcAft>
              <a:buFont typeface="Arial" panose="020B0604020202020204" pitchFamily="34" charset="0"/>
              <a:buChar char="•"/>
            </a:pPr>
            <a:r>
              <a:rPr lang="en-US">
                <a:ea typeface="Calibri" panose="020F0502020204030204" pitchFamily="34" charset="0"/>
                <a:cs typeface="Times New Roman" panose="02020603050405020304" pitchFamily="18" charset="0"/>
              </a:rPr>
              <a:t>This </a:t>
            </a:r>
            <a:r>
              <a:rPr lang="en-US">
                <a:effectLst/>
                <a:ea typeface="Calibri" panose="020F0502020204030204" pitchFamily="34" charset="0"/>
                <a:cs typeface="Times New Roman" panose="02020603050405020304" pitchFamily="18" charset="0"/>
              </a:rPr>
              <a:t>report will outline the outcome of the RCM analysis for </a:t>
            </a:r>
            <a:r>
              <a:rPr lang="en-US">
                <a:ea typeface="Calibri" panose="020F0502020204030204" pitchFamily="34" charset="0"/>
                <a:cs typeface="Times New Roman" panose="02020603050405020304" pitchFamily="18" charset="0"/>
              </a:rPr>
              <a:t>Generator Transformers </a:t>
            </a:r>
            <a:r>
              <a:rPr lang="en-US">
                <a:effectLst/>
                <a:ea typeface="Calibri" panose="020F0502020204030204" pitchFamily="34" charset="0"/>
                <a:cs typeface="Times New Roman" panose="02020603050405020304" pitchFamily="18" charset="0"/>
              </a:rPr>
              <a:t>which w</a:t>
            </a:r>
            <a:r>
              <a:rPr lang="en-US">
                <a:ea typeface="Calibri" panose="020F0502020204030204" pitchFamily="34" charset="0"/>
                <a:cs typeface="Times New Roman" panose="02020603050405020304" pitchFamily="18" charset="0"/>
              </a:rPr>
              <a:t>as</a:t>
            </a:r>
            <a:r>
              <a:rPr lang="en-US">
                <a:effectLst/>
                <a:ea typeface="Calibri" panose="020F0502020204030204" pitchFamily="34" charset="0"/>
                <a:cs typeface="Times New Roman" panose="02020603050405020304" pitchFamily="18" charset="0"/>
              </a:rPr>
              <a:t> conducted on </a:t>
            </a:r>
            <a:r>
              <a:rPr lang="en-US"/>
              <a:t>4</a:t>
            </a:r>
            <a:r>
              <a:rPr lang="en-US" baseline="30000"/>
              <a:t>th</a:t>
            </a:r>
            <a:r>
              <a:rPr lang="en-US"/>
              <a:t>  – 7</a:t>
            </a:r>
            <a:r>
              <a:rPr lang="en-US" baseline="30000"/>
              <a:t>th</a:t>
            </a:r>
            <a:r>
              <a:rPr lang="en-US"/>
              <a:t> August 2025.</a:t>
            </a:r>
            <a:endParaRPr lang="en-US">
              <a:effectLst/>
              <a:ea typeface="Calibri" panose="020F0502020204030204" pitchFamily="34"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2925185D-7DAE-6A99-067D-9BB099E2792D}"/>
              </a:ext>
            </a:extLst>
          </p:cNvPr>
          <p:cNvSpPr>
            <a:spLocks noGrp="1"/>
          </p:cNvSpPr>
          <p:nvPr>
            <p:ph type="sldNum" sz="quarter" idx="12"/>
          </p:nvPr>
        </p:nvSpPr>
        <p:spPr/>
        <p:txBody>
          <a:bodyPr/>
          <a:lstStyle/>
          <a:p>
            <a:r>
              <a:rPr lang="en-US"/>
              <a:t>1</a:t>
            </a:r>
          </a:p>
        </p:txBody>
      </p:sp>
      <p:sp>
        <p:nvSpPr>
          <p:cNvPr id="3" name="Rectangle 2">
            <a:extLst>
              <a:ext uri="{FF2B5EF4-FFF2-40B4-BE49-F238E27FC236}">
                <a16:creationId xmlns:a16="http://schemas.microsoft.com/office/drawing/2014/main" id="{35243CB4-8605-C119-955E-45D1C7E95CFD}"/>
              </a:ext>
            </a:extLst>
          </p:cNvPr>
          <p:cNvSpPr txBox="1">
            <a:spLocks noChangeArrowheads="1"/>
          </p:cNvSpPr>
          <p:nvPr/>
        </p:nvSpPr>
        <p:spPr>
          <a:xfrm>
            <a:off x="381000" y="530392"/>
            <a:ext cx="7772400" cy="38370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2000" b="1">
                <a:latin typeface="+mn-lt"/>
              </a:rPr>
              <a:t>1.1 Background</a:t>
            </a:r>
          </a:p>
        </p:txBody>
      </p:sp>
    </p:spTree>
    <p:extLst>
      <p:ext uri="{BB962C8B-B14F-4D97-AF65-F5344CB8AC3E}">
        <p14:creationId xmlns:p14="http://schemas.microsoft.com/office/powerpoint/2010/main" val="11449128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38BF81D-13BA-4EF5-A2FB-5D0C92DFD23B}"/>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t="13483" b="26966"/>
          <a:stretch/>
        </p:blipFill>
        <p:spPr bwMode="auto">
          <a:xfrm>
            <a:off x="10748507" y="80255"/>
            <a:ext cx="1225443" cy="473074"/>
          </a:xfrm>
          <a:prstGeom prst="rect">
            <a:avLst/>
          </a:prstGeom>
          <a:noFill/>
          <a:ln>
            <a:noFill/>
          </a:ln>
          <a:extLst>
            <a:ext uri="{53640926-AAD7-44D8-BBD7-CCE9431645EC}">
              <a14:shadowObscured xmlns:a14="http://schemas.microsoft.com/office/drawing/2010/main"/>
            </a:ext>
          </a:extLst>
        </p:spPr>
      </p:pic>
      <p:cxnSp>
        <p:nvCxnSpPr>
          <p:cNvPr id="8" name="Straight Connector 7">
            <a:extLst>
              <a:ext uri="{FF2B5EF4-FFF2-40B4-BE49-F238E27FC236}">
                <a16:creationId xmlns:a16="http://schemas.microsoft.com/office/drawing/2014/main" id="{380124A7-698A-4D88-9046-55A67076DEA3}"/>
              </a:ext>
            </a:extLst>
          </p:cNvPr>
          <p:cNvCxnSpPr/>
          <p:nvPr/>
        </p:nvCxnSpPr>
        <p:spPr>
          <a:xfrm>
            <a:off x="479402" y="937299"/>
            <a:ext cx="10607040" cy="0"/>
          </a:xfrm>
          <a:prstGeom prst="line">
            <a:avLst/>
          </a:prstGeom>
        </p:spPr>
        <p:style>
          <a:lnRef idx="3">
            <a:schemeClr val="accent3"/>
          </a:lnRef>
          <a:fillRef idx="0">
            <a:schemeClr val="accent3"/>
          </a:fillRef>
          <a:effectRef idx="2">
            <a:schemeClr val="accent3"/>
          </a:effectRef>
          <a:fontRef idx="minor">
            <a:schemeClr val="tx1"/>
          </a:fontRef>
        </p:style>
      </p:cxnSp>
      <p:sp>
        <p:nvSpPr>
          <p:cNvPr id="3" name="Slide Number Placeholder 2">
            <a:extLst>
              <a:ext uri="{FF2B5EF4-FFF2-40B4-BE49-F238E27FC236}">
                <a16:creationId xmlns:a16="http://schemas.microsoft.com/office/drawing/2014/main" id="{61EBBB7F-41E1-4571-8302-EC2AB097A93D}"/>
              </a:ext>
            </a:extLst>
          </p:cNvPr>
          <p:cNvSpPr>
            <a:spLocks noGrp="1"/>
          </p:cNvSpPr>
          <p:nvPr>
            <p:ph type="sldNum" sz="quarter" idx="12"/>
          </p:nvPr>
        </p:nvSpPr>
        <p:spPr>
          <a:xfrm>
            <a:off x="8900311" y="6492875"/>
            <a:ext cx="2743200" cy="365125"/>
          </a:xfrm>
        </p:spPr>
        <p:txBody>
          <a:bodyPr/>
          <a:lstStyle/>
          <a:p>
            <a:r>
              <a:rPr lang="en-US"/>
              <a:t>2</a:t>
            </a:r>
          </a:p>
        </p:txBody>
      </p:sp>
      <p:sp>
        <p:nvSpPr>
          <p:cNvPr id="2" name="TextBox 1">
            <a:extLst>
              <a:ext uri="{FF2B5EF4-FFF2-40B4-BE49-F238E27FC236}">
                <a16:creationId xmlns:a16="http://schemas.microsoft.com/office/drawing/2014/main" id="{40F28F52-44FA-4641-676B-5D9F8A7E3A2B}"/>
              </a:ext>
            </a:extLst>
          </p:cNvPr>
          <p:cNvSpPr txBox="1"/>
          <p:nvPr/>
        </p:nvSpPr>
        <p:spPr>
          <a:xfrm>
            <a:off x="724901" y="954069"/>
            <a:ext cx="9846846" cy="923330"/>
          </a:xfrm>
          <a:prstGeom prst="rect">
            <a:avLst/>
          </a:prstGeom>
          <a:noFill/>
        </p:spPr>
        <p:txBody>
          <a:bodyPr wrap="square" rtlCol="0">
            <a:spAutoFit/>
          </a:bodyPr>
          <a:lstStyle/>
          <a:p>
            <a:r>
              <a:rPr lang="en-US"/>
              <a:t>System 		: </a:t>
            </a:r>
            <a:r>
              <a:rPr lang="en-US" b="1">
                <a:ea typeface="Calibri" panose="020F0502020204030204" pitchFamily="34" charset="0"/>
                <a:cs typeface="Times New Roman" panose="02020603050405020304" pitchFamily="18" charset="0"/>
              </a:rPr>
              <a:t>Generator Transformers</a:t>
            </a:r>
            <a:endParaRPr lang="en-US" b="1">
              <a:ea typeface="+mj-ea"/>
              <a:cs typeface="+mj-cs"/>
            </a:endParaRPr>
          </a:p>
          <a:p>
            <a:r>
              <a:rPr lang="en-US"/>
              <a:t>Venue 		</a:t>
            </a:r>
            <a:r>
              <a:rPr lang="en-US" b="1"/>
              <a:t>: TNB Kota Bharu</a:t>
            </a:r>
          </a:p>
          <a:p>
            <a:r>
              <a:rPr lang="en-US"/>
              <a:t>Analysis date 	</a:t>
            </a:r>
            <a:r>
              <a:rPr lang="en-US" b="1"/>
              <a:t>: 4</a:t>
            </a:r>
            <a:r>
              <a:rPr lang="en-US" b="1" baseline="30000"/>
              <a:t>th</a:t>
            </a:r>
            <a:r>
              <a:rPr lang="en-US" b="1"/>
              <a:t> – 7</a:t>
            </a:r>
            <a:r>
              <a:rPr lang="en-US" b="1" baseline="30000"/>
              <a:t>th</a:t>
            </a:r>
            <a:r>
              <a:rPr lang="en-US" b="1"/>
              <a:t> August 2025</a:t>
            </a:r>
            <a:endParaRPr lang="en-US"/>
          </a:p>
        </p:txBody>
      </p:sp>
      <p:sp>
        <p:nvSpPr>
          <p:cNvPr id="4" name="TextBox 3">
            <a:extLst>
              <a:ext uri="{FF2B5EF4-FFF2-40B4-BE49-F238E27FC236}">
                <a16:creationId xmlns:a16="http://schemas.microsoft.com/office/drawing/2014/main" id="{A9156F5D-5569-EC09-3578-0871786FFBC8}"/>
              </a:ext>
            </a:extLst>
          </p:cNvPr>
          <p:cNvSpPr txBox="1"/>
          <p:nvPr/>
        </p:nvSpPr>
        <p:spPr>
          <a:xfrm>
            <a:off x="381000" y="615515"/>
            <a:ext cx="7225121" cy="338554"/>
          </a:xfrm>
          <a:prstGeom prst="rect">
            <a:avLst/>
          </a:prstGeom>
          <a:noFill/>
        </p:spPr>
        <p:txBody>
          <a:bodyPr wrap="square">
            <a:spAutoFit/>
          </a:bodyPr>
          <a:lstStyle/>
          <a:p>
            <a:r>
              <a:rPr lang="en-MY" sz="1600" b="1" i="1">
                <a:solidFill>
                  <a:schemeClr val="accent5">
                    <a:lumMod val="50000"/>
                  </a:schemeClr>
                </a:solidFill>
                <a:ea typeface="+mj-ea"/>
                <a:cs typeface="+mj-cs"/>
              </a:rPr>
              <a:t>Members who have contributed for this RCM analysis</a:t>
            </a:r>
          </a:p>
        </p:txBody>
      </p:sp>
      <p:sp>
        <p:nvSpPr>
          <p:cNvPr id="9" name="Rectangle 2">
            <a:extLst>
              <a:ext uri="{FF2B5EF4-FFF2-40B4-BE49-F238E27FC236}">
                <a16:creationId xmlns:a16="http://schemas.microsoft.com/office/drawing/2014/main" id="{CEE86476-D7E0-4CE5-4FC4-2E405F770AF9}"/>
              </a:ext>
            </a:extLst>
          </p:cNvPr>
          <p:cNvSpPr txBox="1">
            <a:spLocks noChangeArrowheads="1"/>
          </p:cNvSpPr>
          <p:nvPr/>
        </p:nvSpPr>
        <p:spPr>
          <a:xfrm>
            <a:off x="381000" y="-169508"/>
            <a:ext cx="7772400" cy="8382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2400" b="1">
                <a:latin typeface="+mn-lt"/>
              </a:rPr>
              <a:t>1. INTRODUCTION</a:t>
            </a:r>
          </a:p>
        </p:txBody>
      </p:sp>
      <p:sp>
        <p:nvSpPr>
          <p:cNvPr id="10" name="Rectangle 2">
            <a:extLst>
              <a:ext uri="{FF2B5EF4-FFF2-40B4-BE49-F238E27FC236}">
                <a16:creationId xmlns:a16="http://schemas.microsoft.com/office/drawing/2014/main" id="{876A8908-01D8-F307-EAED-EE51A4AD4255}"/>
              </a:ext>
            </a:extLst>
          </p:cNvPr>
          <p:cNvSpPr txBox="1">
            <a:spLocks noChangeArrowheads="1"/>
          </p:cNvSpPr>
          <p:nvPr/>
        </p:nvSpPr>
        <p:spPr>
          <a:xfrm>
            <a:off x="381000" y="380986"/>
            <a:ext cx="7772400" cy="38370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2000" b="1">
                <a:latin typeface="+mn-lt"/>
              </a:rPr>
              <a:t>1.2 Team Members</a:t>
            </a:r>
          </a:p>
        </p:txBody>
      </p:sp>
      <p:graphicFrame>
        <p:nvGraphicFramePr>
          <p:cNvPr id="7" name="Table 6">
            <a:extLst>
              <a:ext uri="{FF2B5EF4-FFF2-40B4-BE49-F238E27FC236}">
                <a16:creationId xmlns:a16="http://schemas.microsoft.com/office/drawing/2014/main" id="{698BDA5E-53CE-4B59-637D-144EB6F9C3A9}"/>
              </a:ext>
            </a:extLst>
          </p:cNvPr>
          <p:cNvGraphicFramePr>
            <a:graphicFrameLocks noGrp="1"/>
          </p:cNvGraphicFramePr>
          <p:nvPr>
            <p:extLst>
              <p:ext uri="{D42A27DB-BD31-4B8C-83A1-F6EECF244321}">
                <p14:modId xmlns:p14="http://schemas.microsoft.com/office/powerpoint/2010/main" val="758784072"/>
              </p:ext>
            </p:extLst>
          </p:nvPr>
        </p:nvGraphicFramePr>
        <p:xfrm>
          <a:off x="859498" y="2188101"/>
          <a:ext cx="9846847" cy="4053840"/>
        </p:xfrm>
        <a:graphic>
          <a:graphicData uri="http://schemas.openxmlformats.org/drawingml/2006/table">
            <a:tbl>
              <a:tblPr/>
              <a:tblGrid>
                <a:gridCol w="402185">
                  <a:extLst>
                    <a:ext uri="{9D8B030D-6E8A-4147-A177-3AD203B41FA5}">
                      <a16:colId xmlns:a16="http://schemas.microsoft.com/office/drawing/2014/main" val="2437145043"/>
                    </a:ext>
                  </a:extLst>
                </a:gridCol>
                <a:gridCol w="5723420">
                  <a:extLst>
                    <a:ext uri="{9D8B030D-6E8A-4147-A177-3AD203B41FA5}">
                      <a16:colId xmlns:a16="http://schemas.microsoft.com/office/drawing/2014/main" val="144130766"/>
                    </a:ext>
                  </a:extLst>
                </a:gridCol>
                <a:gridCol w="3721242">
                  <a:extLst>
                    <a:ext uri="{9D8B030D-6E8A-4147-A177-3AD203B41FA5}">
                      <a16:colId xmlns:a16="http://schemas.microsoft.com/office/drawing/2014/main" val="2065464578"/>
                    </a:ext>
                  </a:extLst>
                </a:gridCol>
              </a:tblGrid>
              <a:tr h="190500">
                <a:tc>
                  <a:txBody>
                    <a:bodyPr/>
                    <a:lstStyle/>
                    <a:p>
                      <a:pPr algn="ctr" fontAlgn="t"/>
                      <a:r>
                        <a:rPr lang="en-US" sz="1600" b="1" i="0" u="none" strike="noStrike">
                          <a:solidFill>
                            <a:srgbClr val="000000"/>
                          </a:solidFill>
                          <a:effectLst/>
                          <a:latin typeface="Calibri" panose="020F0502020204030204" pitchFamily="34" charset="0"/>
                        </a:rPr>
                        <a:t>No</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t"/>
                      <a:r>
                        <a:rPr lang="en-US" sz="1600" b="1" i="0" u="none" strike="noStrike">
                          <a:solidFill>
                            <a:srgbClr val="000000"/>
                          </a:solidFill>
                          <a:effectLst/>
                          <a:latin typeface="Calibri" panose="020F0502020204030204" pitchFamily="34" charset="0"/>
                        </a:rPr>
                        <a:t>Name</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t"/>
                      <a:r>
                        <a:rPr lang="en-US" sz="1600" b="1" i="0" u="none" strike="noStrike">
                          <a:solidFill>
                            <a:srgbClr val="000000"/>
                          </a:solidFill>
                          <a:effectLst/>
                          <a:latin typeface="Calibri" panose="020F0502020204030204" pitchFamily="34" charset="0"/>
                        </a:rPr>
                        <a:t>Role</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3099297915"/>
                  </a:ext>
                </a:extLst>
              </a:tr>
              <a:tr h="190500">
                <a:tc>
                  <a:txBody>
                    <a:bodyPr/>
                    <a:lstStyle/>
                    <a:p>
                      <a:pPr algn="ctr" fontAlgn="t"/>
                      <a:r>
                        <a:rPr lang="de-DE" sz="1600" b="0" i="0" u="none" strike="noStrike">
                          <a:solidFill>
                            <a:srgbClr val="000000"/>
                          </a:solidFill>
                          <a:effectLst/>
                          <a:latin typeface="Calibri" panose="020F0502020204030204" pitchFamily="34" charset="0"/>
                        </a:rPr>
                        <a:t>1</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buNone/>
                      </a:pPr>
                      <a:r>
                        <a:rPr lang="en-US" sz="1600" b="0" i="0" u="none" strike="noStrike">
                          <a:solidFill>
                            <a:srgbClr val="000000"/>
                          </a:solidFill>
                          <a:effectLst/>
                          <a:latin typeface="Calibri" panose="020F0502020204030204" pitchFamily="34" charset="0"/>
                        </a:rPr>
                        <a:t>Mohd Rosnan Bin Nasir</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buNone/>
                      </a:pPr>
                      <a:r>
                        <a:rPr lang="en-US" sz="1600" b="0" i="0" u="none" strike="noStrike">
                          <a:solidFill>
                            <a:srgbClr val="000000"/>
                          </a:solidFill>
                          <a:effectLst/>
                          <a:latin typeface="Calibri" panose="020F0502020204030204" pitchFamily="34" charset="0"/>
                        </a:rPr>
                        <a:t>Facilitator 1</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28838623"/>
                  </a:ext>
                </a:extLst>
              </a:tr>
              <a:tr h="190500">
                <a:tc>
                  <a:txBody>
                    <a:bodyPr/>
                    <a:lstStyle/>
                    <a:p>
                      <a:pPr algn="ctr" fontAlgn="t"/>
                      <a:r>
                        <a:rPr lang="en-US" sz="1600" b="0" i="0" u="none" strike="noStrike">
                          <a:solidFill>
                            <a:srgbClr val="000000"/>
                          </a:solidFill>
                          <a:effectLst/>
                          <a:latin typeface="Calibri" panose="020F0502020204030204" pitchFamily="34" charset="0"/>
                        </a:rPr>
                        <a:t>2</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l" defTabSz="914400" rtl="0" eaLnBrk="1" fontAlgn="t" latinLnBrk="0" hangingPunct="1">
                        <a:buNone/>
                      </a:pPr>
                      <a:r>
                        <a:rPr lang="en-US" sz="1600" b="0" i="0" u="none" strike="noStrike" kern="1200">
                          <a:solidFill>
                            <a:srgbClr val="000000"/>
                          </a:solidFill>
                          <a:effectLst/>
                          <a:latin typeface="Calibri" panose="020F0502020204030204" pitchFamily="34" charset="0"/>
                          <a:ea typeface="+mn-ea"/>
                          <a:cs typeface="+mn-cs"/>
                        </a:rPr>
                        <a:t>Wan Mohmad Erfan</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t" latinLnBrk="0" hangingPunct="1">
                        <a:buNone/>
                      </a:pPr>
                      <a:r>
                        <a:rPr lang="en-US" sz="1600" b="0" i="0" u="none" strike="noStrike" kern="1200">
                          <a:solidFill>
                            <a:srgbClr val="000000"/>
                          </a:solidFill>
                          <a:effectLst/>
                          <a:latin typeface="Calibri" panose="020F0502020204030204" pitchFamily="34" charset="0"/>
                          <a:ea typeface="+mn-ea"/>
                          <a:cs typeface="+mn-cs"/>
                        </a:rPr>
                        <a:t>Facilitator 2</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66426776"/>
                  </a:ext>
                </a:extLst>
              </a:tr>
              <a:tr h="0">
                <a:tc>
                  <a:txBody>
                    <a:bodyPr/>
                    <a:lstStyle/>
                    <a:p>
                      <a:pPr algn="ctr" fontAlgn="t"/>
                      <a:r>
                        <a:rPr lang="en-US" sz="1600" b="0" i="0" u="none" strike="noStrike">
                          <a:solidFill>
                            <a:srgbClr val="000000"/>
                          </a:solidFill>
                          <a:effectLst/>
                          <a:latin typeface="Calibri" panose="020F0502020204030204" pitchFamily="34" charset="0"/>
                        </a:rPr>
                        <a:t>3</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l" defTabSz="914400" rtl="0" eaLnBrk="1" fontAlgn="t" latinLnBrk="0" hangingPunct="1">
                        <a:buNone/>
                      </a:pPr>
                      <a:r>
                        <a:rPr lang="en-US" sz="1600" b="0" i="0" u="none" strike="noStrike" kern="1200">
                          <a:solidFill>
                            <a:srgbClr val="000000"/>
                          </a:solidFill>
                          <a:effectLst/>
                          <a:latin typeface="Calibri" panose="020F0502020204030204" pitchFamily="34" charset="0"/>
                          <a:ea typeface="+mn-ea"/>
                          <a:cs typeface="+mn-cs"/>
                        </a:rPr>
                        <a:t>Nik Ahmad Zareen Bin Nik Abd Wadood</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t" latinLnBrk="0" hangingPunct="1">
                        <a:buNone/>
                      </a:pPr>
                      <a:r>
                        <a:rPr lang="en-US" sz="1600" b="0" i="0" u="none" strike="noStrike" kern="1200">
                          <a:solidFill>
                            <a:srgbClr val="000000"/>
                          </a:solidFill>
                          <a:effectLst/>
                          <a:latin typeface="Calibri" panose="020F0502020204030204" pitchFamily="34" charset="0"/>
                          <a:ea typeface="+mn-ea"/>
                          <a:cs typeface="+mn-cs"/>
                        </a:rPr>
                        <a:t>Team Lead</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74851759"/>
                  </a:ext>
                </a:extLst>
              </a:tr>
              <a:tr h="190500">
                <a:tc>
                  <a:txBody>
                    <a:bodyPr/>
                    <a:lstStyle/>
                    <a:p>
                      <a:pPr algn="ctr" fontAlgn="b"/>
                      <a:r>
                        <a:rPr lang="en-US" sz="1600" b="0" i="0" u="none" strike="noStrike">
                          <a:solidFill>
                            <a:srgbClr val="000000"/>
                          </a:solidFill>
                          <a:effectLst/>
                          <a:latin typeface="Calibri" panose="020F0502020204030204" pitchFamily="34" charset="0"/>
                        </a:rPr>
                        <a:t>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l" defTabSz="914400" rtl="0" eaLnBrk="1" fontAlgn="t" latinLnBrk="0" hangingPunct="1">
                        <a:buNone/>
                      </a:pPr>
                      <a:r>
                        <a:rPr lang="en-US" sz="1600" b="0" i="0" u="none" strike="noStrike" kern="1200">
                          <a:solidFill>
                            <a:srgbClr val="000000"/>
                          </a:solidFill>
                          <a:effectLst/>
                          <a:latin typeface="Calibri" panose="020F0502020204030204" pitchFamily="34" charset="0"/>
                          <a:ea typeface="+mn-ea"/>
                          <a:cs typeface="+mn-cs"/>
                        </a:rPr>
                        <a:t>Muhd Fadhli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t" latinLnBrk="0" hangingPunct="1">
                        <a:buNone/>
                      </a:pPr>
                      <a:r>
                        <a:rPr lang="en-US" sz="1600" b="0" i="0" u="none" strike="noStrike" kern="1200">
                          <a:solidFill>
                            <a:srgbClr val="000000"/>
                          </a:solidFill>
                          <a:effectLst/>
                          <a:latin typeface="Calibri" panose="020F0502020204030204" pitchFamily="34" charset="0"/>
                          <a:ea typeface="+mn-ea"/>
                          <a:cs typeface="+mn-cs"/>
                        </a:rPr>
                        <a:t>Participant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78283008"/>
                  </a:ext>
                </a:extLst>
              </a:tr>
              <a:tr h="190500">
                <a:tc>
                  <a:txBody>
                    <a:bodyPr/>
                    <a:lstStyle/>
                    <a:p>
                      <a:pPr algn="ctr" fontAlgn="t"/>
                      <a:r>
                        <a:rPr lang="en-US" sz="1600" b="0" i="0" u="none" strike="noStrike">
                          <a:solidFill>
                            <a:srgbClr val="000000"/>
                          </a:solidFill>
                          <a:effectLst/>
                          <a:latin typeface="Calibri" panose="020F0502020204030204" pitchFamily="34" charset="0"/>
                        </a:rPr>
                        <a:t>5</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l" defTabSz="914400" rtl="0" eaLnBrk="1" fontAlgn="t" latinLnBrk="0" hangingPunct="1">
                        <a:buNone/>
                      </a:pPr>
                      <a:r>
                        <a:rPr lang="en-US" sz="1600" b="0" i="0" u="none" strike="noStrike" kern="1200">
                          <a:solidFill>
                            <a:srgbClr val="000000"/>
                          </a:solidFill>
                          <a:effectLst/>
                          <a:latin typeface="Calibri" panose="020F0502020204030204" pitchFamily="34" charset="0"/>
                          <a:ea typeface="+mn-ea"/>
                          <a:cs typeface="+mn-cs"/>
                        </a:rPr>
                        <a:t>Ahmad Syamil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sz="1600" b="0" i="0" u="none" strike="noStrike" kern="1200" noProof="0">
                          <a:solidFill>
                            <a:srgbClr val="000000"/>
                          </a:solidFill>
                          <a:effectLst/>
                          <a:latin typeface="Calibri" panose="020F0502020204030204" pitchFamily="34" charset="0"/>
                          <a:ea typeface="+mn-ea"/>
                          <a:cs typeface="+mn-cs"/>
                        </a:rPr>
                        <a:t>Participant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2392915"/>
                  </a:ext>
                </a:extLst>
              </a:tr>
              <a:tr h="190500">
                <a:tc>
                  <a:txBody>
                    <a:bodyPr/>
                    <a:lstStyle/>
                    <a:p>
                      <a:pPr algn="ctr" fontAlgn="b"/>
                      <a:r>
                        <a:rPr lang="en-US" sz="1600" b="0" i="0" u="none" strike="noStrike">
                          <a:solidFill>
                            <a:srgbClr val="000000"/>
                          </a:solidFill>
                          <a:effectLst/>
                          <a:latin typeface="Calibri" panose="020F0502020204030204" pitchFamily="34" charset="0"/>
                        </a:rPr>
                        <a:t>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l" defTabSz="914400" rtl="0" eaLnBrk="1" fontAlgn="t" latinLnBrk="0" hangingPunct="1">
                        <a:buNone/>
                      </a:pPr>
                      <a:r>
                        <a:rPr lang="en-US" sz="1600" b="0" i="0" u="none" strike="noStrike" kern="1200">
                          <a:solidFill>
                            <a:srgbClr val="000000"/>
                          </a:solidFill>
                          <a:effectLst/>
                          <a:latin typeface="Calibri" panose="020F0502020204030204" pitchFamily="34" charset="0"/>
                          <a:ea typeface="+mn-ea"/>
                          <a:cs typeface="+mn-cs"/>
                        </a:rPr>
                        <a:t>Fattah Amin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sz="1600" b="0" i="0" u="none" strike="noStrike" kern="1200" noProof="0">
                          <a:solidFill>
                            <a:srgbClr val="000000"/>
                          </a:solidFill>
                          <a:effectLst/>
                          <a:latin typeface="Calibri" panose="020F0502020204030204" pitchFamily="34" charset="0"/>
                          <a:ea typeface="+mn-ea"/>
                          <a:cs typeface="+mn-cs"/>
                        </a:rPr>
                        <a:t>Participant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10392540"/>
                  </a:ext>
                </a:extLst>
              </a:tr>
              <a:tr h="190500">
                <a:tc>
                  <a:txBody>
                    <a:bodyPr/>
                    <a:lstStyle/>
                    <a:p>
                      <a:pPr algn="ctr" fontAlgn="b"/>
                      <a:r>
                        <a:rPr lang="en-US" sz="1600" b="0" i="0" u="none" strike="noStrike">
                          <a:solidFill>
                            <a:srgbClr val="000000"/>
                          </a:solidFill>
                          <a:effectLst/>
                          <a:latin typeface="Calibri" panose="020F0502020204030204" pitchFamily="34" charset="0"/>
                        </a:rPr>
                        <a:t>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l" defTabSz="914400" rtl="0" eaLnBrk="1" fontAlgn="t" latinLnBrk="0" hangingPunct="1">
                        <a:buNone/>
                      </a:pPr>
                      <a:r>
                        <a:rPr lang="en-US" sz="1600" b="0" i="0" u="none" strike="noStrike" kern="1200">
                          <a:solidFill>
                            <a:srgbClr val="000000"/>
                          </a:solidFill>
                          <a:effectLst/>
                          <a:latin typeface="Calibri" panose="020F0502020204030204" pitchFamily="34" charset="0"/>
                          <a:ea typeface="+mn-ea"/>
                          <a:cs typeface="+mn-cs"/>
                        </a:rPr>
                        <a:t>Mohd Shazni Bin Halid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sz="1600" b="0" i="0" u="none" strike="noStrike" kern="1200" noProof="0">
                          <a:solidFill>
                            <a:srgbClr val="000000"/>
                          </a:solidFill>
                          <a:effectLst/>
                          <a:latin typeface="Calibri" panose="020F0502020204030204" pitchFamily="34" charset="0"/>
                          <a:ea typeface="+mn-ea"/>
                          <a:cs typeface="+mn-cs"/>
                        </a:rPr>
                        <a:t>Participant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46039866"/>
                  </a:ext>
                </a:extLst>
              </a:tr>
              <a:tr h="190500">
                <a:tc>
                  <a:txBody>
                    <a:bodyPr/>
                    <a:lstStyle/>
                    <a:p>
                      <a:pPr algn="ctr" fontAlgn="b"/>
                      <a:r>
                        <a:rPr lang="en-US" sz="1600" b="0" i="0" u="none" strike="noStrike">
                          <a:solidFill>
                            <a:srgbClr val="000000"/>
                          </a:solidFill>
                          <a:effectLst/>
                          <a:latin typeface="Calibri" panose="020F0502020204030204" pitchFamily="34" charset="0"/>
                        </a:rPr>
                        <a:t>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l" defTabSz="914400" rtl="0" eaLnBrk="1" fontAlgn="t" latinLnBrk="0" hangingPunct="1">
                        <a:buNone/>
                      </a:pPr>
                      <a:r>
                        <a:rPr lang="en-US" sz="1600" b="0" i="0" u="none" strike="noStrike" kern="1200">
                          <a:solidFill>
                            <a:srgbClr val="000000"/>
                          </a:solidFill>
                          <a:effectLst/>
                          <a:latin typeface="Calibri" panose="020F0502020204030204" pitchFamily="34" charset="0"/>
                          <a:ea typeface="+mn-ea"/>
                          <a:cs typeface="+mn-cs"/>
                        </a:rPr>
                        <a:t>Muhamad </a:t>
                      </a:r>
                      <a:r>
                        <a:rPr lang="en-US" sz="1600" b="0" i="0" u="none" strike="noStrike" kern="1200" err="1">
                          <a:solidFill>
                            <a:srgbClr val="000000"/>
                          </a:solidFill>
                          <a:effectLst/>
                          <a:latin typeface="Calibri" panose="020F0502020204030204" pitchFamily="34" charset="0"/>
                          <a:ea typeface="+mn-ea"/>
                          <a:cs typeface="+mn-cs"/>
                        </a:rPr>
                        <a:t>Syaffizat</a:t>
                      </a:r>
                      <a:endParaRPr lang="en-US" sz="1600" b="0" i="0" u="none" strike="noStrike" kern="1200">
                        <a:solidFill>
                          <a:srgbClr val="000000"/>
                        </a:solidFill>
                        <a:effectLst/>
                        <a:latin typeface="Calibri" panose="020F0502020204030204" pitchFamily="34" charset="0"/>
                        <a:ea typeface="+mn-ea"/>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sz="1600" b="0" i="0" u="none" strike="noStrike" kern="1200" noProof="0">
                          <a:solidFill>
                            <a:srgbClr val="000000"/>
                          </a:solidFill>
                          <a:effectLst/>
                          <a:latin typeface="Calibri" panose="020F0502020204030204" pitchFamily="34" charset="0"/>
                          <a:ea typeface="+mn-ea"/>
                          <a:cs typeface="+mn-cs"/>
                        </a:rPr>
                        <a:t>Participant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87691008"/>
                  </a:ext>
                </a:extLst>
              </a:tr>
              <a:tr h="190500">
                <a:tc>
                  <a:txBody>
                    <a:bodyPr/>
                    <a:lstStyle/>
                    <a:p>
                      <a:pPr algn="ctr" fontAlgn="b"/>
                      <a:r>
                        <a:rPr lang="en-US" sz="1600" b="0" i="0" u="none" strike="noStrike">
                          <a:solidFill>
                            <a:srgbClr val="000000"/>
                          </a:solidFill>
                          <a:effectLst/>
                          <a:latin typeface="Calibri" panose="020F0502020204030204" pitchFamily="34" charset="0"/>
                        </a:rPr>
                        <a:t>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l" defTabSz="914400" rtl="0" eaLnBrk="1" fontAlgn="t" latinLnBrk="0" hangingPunct="1">
                        <a:buNone/>
                      </a:pPr>
                      <a:r>
                        <a:rPr lang="it-IT" sz="1600" b="0" i="0" u="none" strike="noStrike" kern="1200">
                          <a:solidFill>
                            <a:srgbClr val="000000"/>
                          </a:solidFill>
                          <a:effectLst/>
                          <a:latin typeface="Calibri" panose="020F0502020204030204" pitchFamily="34" charset="0"/>
                          <a:ea typeface="+mn-ea"/>
                          <a:cs typeface="+mn-cs"/>
                        </a:rPr>
                        <a:t>Mohd Zool Fadli Bin Che Rani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sz="1600" b="0" i="0" u="none" strike="noStrike" kern="1200" noProof="0">
                          <a:solidFill>
                            <a:srgbClr val="000000"/>
                          </a:solidFill>
                          <a:effectLst/>
                          <a:latin typeface="Calibri" panose="020F0502020204030204" pitchFamily="34" charset="0"/>
                          <a:ea typeface="+mn-ea"/>
                          <a:cs typeface="+mn-cs"/>
                        </a:rPr>
                        <a:t>Participant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48002781"/>
                  </a:ext>
                </a:extLst>
              </a:tr>
              <a:tr h="190500">
                <a:tc>
                  <a:txBody>
                    <a:bodyPr/>
                    <a:lstStyle/>
                    <a:p>
                      <a:pPr algn="ctr" fontAlgn="b"/>
                      <a:r>
                        <a:rPr lang="en-US" sz="1600" b="0" i="0" u="none" strike="noStrike">
                          <a:solidFill>
                            <a:srgbClr val="000000"/>
                          </a:solidFill>
                          <a:effectLst/>
                          <a:latin typeface="Calibri" panose="020F0502020204030204" pitchFamily="34" charset="0"/>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l" defTabSz="914400" rtl="0" eaLnBrk="1" fontAlgn="t" latinLnBrk="0" hangingPunct="1">
                        <a:buNone/>
                      </a:pPr>
                      <a:r>
                        <a:rPr lang="en-US" sz="1600" b="0" i="0" u="none" strike="noStrike" kern="1200">
                          <a:solidFill>
                            <a:srgbClr val="000000"/>
                          </a:solidFill>
                          <a:effectLst/>
                          <a:latin typeface="Calibri" panose="020F0502020204030204" pitchFamily="34" charset="0"/>
                          <a:ea typeface="+mn-ea"/>
                          <a:cs typeface="+mn-cs"/>
                        </a:rPr>
                        <a:t>Rozaimie Bin Aminuddin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sz="1600" b="0" i="0" u="none" strike="noStrike" kern="1200" noProof="0">
                          <a:solidFill>
                            <a:srgbClr val="000000"/>
                          </a:solidFill>
                          <a:effectLst/>
                          <a:latin typeface="Calibri" panose="020F0502020204030204" pitchFamily="34" charset="0"/>
                          <a:ea typeface="+mn-ea"/>
                          <a:cs typeface="+mn-cs"/>
                        </a:rPr>
                        <a:t>Participant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81192904"/>
                  </a:ext>
                </a:extLst>
              </a:tr>
              <a:tr h="190500">
                <a:tc>
                  <a:txBody>
                    <a:bodyPr/>
                    <a:lstStyle/>
                    <a:p>
                      <a:pPr algn="ctr" fontAlgn="b"/>
                      <a:r>
                        <a:rPr lang="en-US" sz="1600" b="0" i="0" u="none" strike="noStrike">
                          <a:solidFill>
                            <a:srgbClr val="000000"/>
                          </a:solidFill>
                          <a:effectLst/>
                          <a:latin typeface="Calibri" panose="020F0502020204030204" pitchFamily="34" charset="0"/>
                        </a:rPr>
                        <a:t>11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l" defTabSz="914400" rtl="0" eaLnBrk="1" fontAlgn="t" latinLnBrk="0" hangingPunct="1">
                        <a:buNone/>
                      </a:pPr>
                      <a:r>
                        <a:rPr lang="en-US" sz="1600" b="0" i="0" u="none" strike="noStrike" kern="1200">
                          <a:solidFill>
                            <a:srgbClr val="000000"/>
                          </a:solidFill>
                          <a:effectLst/>
                          <a:latin typeface="Calibri" panose="020F0502020204030204" pitchFamily="34" charset="0"/>
                          <a:ea typeface="+mn-ea"/>
                          <a:cs typeface="+mn-cs"/>
                        </a:rPr>
                        <a:t>Supian Bin Yahuza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sz="1600" b="0" i="0" u="none" strike="noStrike" kern="1200" noProof="0">
                          <a:solidFill>
                            <a:srgbClr val="000000"/>
                          </a:solidFill>
                          <a:effectLst/>
                          <a:latin typeface="Calibri" panose="020F0502020204030204" pitchFamily="34" charset="0"/>
                          <a:ea typeface="+mn-ea"/>
                          <a:cs typeface="+mn-cs"/>
                        </a:rPr>
                        <a:t>Participant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69303112"/>
                  </a:ext>
                </a:extLst>
              </a:tr>
              <a:tr h="190500">
                <a:tc>
                  <a:txBody>
                    <a:bodyPr/>
                    <a:lstStyle/>
                    <a:p>
                      <a:pPr algn="ctr" fontAlgn="b"/>
                      <a:r>
                        <a:rPr lang="en-US" sz="1600" b="0" i="0" u="none" strike="noStrike">
                          <a:solidFill>
                            <a:srgbClr val="000000"/>
                          </a:solidFill>
                          <a:effectLst/>
                          <a:latin typeface="Calibri" panose="020F0502020204030204" pitchFamily="34" charset="0"/>
                        </a:rPr>
                        <a:t>12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l" defTabSz="914400" rtl="0" eaLnBrk="1" fontAlgn="t" latinLnBrk="0" hangingPunct="1">
                        <a:buNone/>
                      </a:pPr>
                      <a:r>
                        <a:rPr lang="en-US" sz="1600" b="0" i="0" u="none" strike="noStrike" kern="1200">
                          <a:solidFill>
                            <a:srgbClr val="000000"/>
                          </a:solidFill>
                          <a:effectLst/>
                          <a:latin typeface="Calibri" panose="020F0502020204030204" pitchFamily="34" charset="0"/>
                          <a:ea typeface="+mn-ea"/>
                          <a:cs typeface="+mn-cs"/>
                        </a:rPr>
                        <a:t>Daeng Malibuk Bin Saadun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sz="1600" b="0" i="0" u="none" strike="noStrike" kern="1200" noProof="0">
                          <a:solidFill>
                            <a:srgbClr val="000000"/>
                          </a:solidFill>
                          <a:effectLst/>
                          <a:latin typeface="Calibri" panose="020F0502020204030204" pitchFamily="34" charset="0"/>
                          <a:ea typeface="+mn-ea"/>
                          <a:cs typeface="+mn-cs"/>
                        </a:rPr>
                        <a:t>Participant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69122394"/>
                  </a:ext>
                </a:extLst>
              </a:tr>
              <a:tr h="190500">
                <a:tc>
                  <a:txBody>
                    <a:bodyPr/>
                    <a:lstStyle/>
                    <a:p>
                      <a:pPr algn="ctr" fontAlgn="b"/>
                      <a:r>
                        <a:rPr lang="en-US" sz="1600" b="0" i="0" u="none" strike="noStrike">
                          <a:solidFill>
                            <a:srgbClr val="000000"/>
                          </a:solidFill>
                          <a:effectLst/>
                          <a:latin typeface="Calibri" panose="020F0502020204030204" pitchFamily="34" charset="0"/>
                        </a:rPr>
                        <a:t>13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l" defTabSz="914400" rtl="0" eaLnBrk="1" fontAlgn="t" latinLnBrk="0" hangingPunct="1">
                        <a:buNone/>
                      </a:pPr>
                      <a:r>
                        <a:rPr lang="en-US" sz="1600" b="0" i="0" u="none" strike="noStrike" kern="1200">
                          <a:solidFill>
                            <a:srgbClr val="000000"/>
                          </a:solidFill>
                          <a:effectLst/>
                          <a:latin typeface="Calibri" panose="020F0502020204030204" pitchFamily="34" charset="0"/>
                          <a:ea typeface="+mn-ea"/>
                          <a:cs typeface="+mn-cs"/>
                        </a:rPr>
                        <a:t>Muhammad Faizul Bin Ariffin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sz="1600" b="0" i="0" u="none" strike="noStrike" kern="1200" noProof="0">
                          <a:solidFill>
                            <a:srgbClr val="000000"/>
                          </a:solidFill>
                          <a:effectLst/>
                          <a:latin typeface="Calibri" panose="020F0502020204030204" pitchFamily="34" charset="0"/>
                          <a:ea typeface="+mn-ea"/>
                          <a:cs typeface="+mn-cs"/>
                        </a:rPr>
                        <a:t>Participant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36713584"/>
                  </a:ext>
                </a:extLst>
              </a:tr>
              <a:tr h="190500">
                <a:tc>
                  <a:txBody>
                    <a:bodyPr/>
                    <a:lstStyle/>
                    <a:p>
                      <a:pPr algn="ctr" fontAlgn="b"/>
                      <a:r>
                        <a:rPr lang="en-US" sz="1600" b="0" i="0" u="none" strike="noStrike">
                          <a:solidFill>
                            <a:srgbClr val="000000"/>
                          </a:solidFill>
                          <a:effectLst/>
                          <a:latin typeface="Calibri" panose="020F0502020204030204" pitchFamily="34" charset="0"/>
                        </a:rPr>
                        <a:t>14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l" defTabSz="914400" rtl="0" eaLnBrk="1" fontAlgn="t" latinLnBrk="0" hangingPunct="1">
                        <a:buNone/>
                      </a:pPr>
                      <a:r>
                        <a:rPr lang="de-DE" sz="1600" b="0" i="0" u="none" strike="noStrike" kern="1200">
                          <a:solidFill>
                            <a:srgbClr val="000000"/>
                          </a:solidFill>
                          <a:effectLst/>
                          <a:latin typeface="Calibri" panose="020F0502020204030204" pitchFamily="34" charset="0"/>
                          <a:ea typeface="+mn-ea"/>
                          <a:cs typeface="+mn-cs"/>
                        </a:rPr>
                        <a:t>Muhamad Rahmat Bin Mat Hassan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sz="1600" b="0" i="0" u="none" strike="noStrike" kern="1200" noProof="0">
                          <a:solidFill>
                            <a:srgbClr val="000000"/>
                          </a:solidFill>
                          <a:effectLst/>
                          <a:latin typeface="Calibri" panose="020F0502020204030204" pitchFamily="34" charset="0"/>
                          <a:ea typeface="+mn-ea"/>
                          <a:cs typeface="+mn-cs"/>
                        </a:rPr>
                        <a:t>Participant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89438359"/>
                  </a:ext>
                </a:extLst>
              </a:tr>
              <a:tr h="190500">
                <a:tc>
                  <a:txBody>
                    <a:bodyPr/>
                    <a:lstStyle/>
                    <a:p>
                      <a:pPr algn="ctr" fontAlgn="b"/>
                      <a:r>
                        <a:rPr lang="en-US" sz="1600" b="0" i="0" u="none" strike="noStrike">
                          <a:solidFill>
                            <a:srgbClr val="000000"/>
                          </a:solidFill>
                          <a:effectLst/>
                          <a:latin typeface="Calibri" panose="020F0502020204030204" pitchFamily="34" charset="0"/>
                        </a:rPr>
                        <a:t>15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l" defTabSz="914400" rtl="0" eaLnBrk="1" fontAlgn="t" latinLnBrk="0" hangingPunct="1">
                        <a:buNone/>
                      </a:pPr>
                      <a:r>
                        <a:rPr lang="en-US" sz="1600" b="0" i="0" u="none" strike="noStrike" kern="1200">
                          <a:solidFill>
                            <a:srgbClr val="000000"/>
                          </a:solidFill>
                          <a:effectLst/>
                          <a:latin typeface="Calibri" panose="020F0502020204030204" pitchFamily="34" charset="0"/>
                          <a:ea typeface="+mn-ea"/>
                          <a:cs typeface="+mn-cs"/>
                        </a:rPr>
                        <a:t>Mohd Khairuddin Bin Md Yusop</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sz="1600" b="0" i="0" u="none" strike="noStrike" kern="1200" noProof="0">
                          <a:solidFill>
                            <a:srgbClr val="000000"/>
                          </a:solidFill>
                          <a:effectLst/>
                          <a:latin typeface="Calibri" panose="020F0502020204030204" pitchFamily="34" charset="0"/>
                          <a:ea typeface="+mn-ea"/>
                          <a:cs typeface="+mn-cs"/>
                        </a:rPr>
                        <a:t>Participant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35793861"/>
                  </a:ext>
                </a:extLst>
              </a:tr>
            </a:tbl>
          </a:graphicData>
        </a:graphic>
      </p:graphicFrame>
    </p:spTree>
    <p:extLst>
      <p:ext uri="{BB962C8B-B14F-4D97-AF65-F5344CB8AC3E}">
        <p14:creationId xmlns:p14="http://schemas.microsoft.com/office/powerpoint/2010/main" val="23487041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38BF81D-13BA-4EF5-A2FB-5D0C92DFD23B}"/>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t="13483" b="26966"/>
          <a:stretch/>
        </p:blipFill>
        <p:spPr bwMode="auto">
          <a:xfrm>
            <a:off x="10748507" y="80255"/>
            <a:ext cx="1225443" cy="473074"/>
          </a:xfrm>
          <a:prstGeom prst="rect">
            <a:avLst/>
          </a:prstGeom>
          <a:noFill/>
          <a:ln>
            <a:noFill/>
          </a:ln>
          <a:extLst>
            <a:ext uri="{53640926-AAD7-44D8-BBD7-CCE9431645EC}">
              <a14:shadowObscured xmlns:a14="http://schemas.microsoft.com/office/drawing/2010/main"/>
            </a:ext>
          </a:extLst>
        </p:spPr>
      </p:pic>
      <p:cxnSp>
        <p:nvCxnSpPr>
          <p:cNvPr id="8" name="Straight Connector 7">
            <a:extLst>
              <a:ext uri="{FF2B5EF4-FFF2-40B4-BE49-F238E27FC236}">
                <a16:creationId xmlns:a16="http://schemas.microsoft.com/office/drawing/2014/main" id="{380124A7-698A-4D88-9046-55A67076DEA3}"/>
              </a:ext>
            </a:extLst>
          </p:cNvPr>
          <p:cNvCxnSpPr/>
          <p:nvPr/>
        </p:nvCxnSpPr>
        <p:spPr>
          <a:xfrm>
            <a:off x="381000" y="1123950"/>
            <a:ext cx="10607040" cy="0"/>
          </a:xfrm>
          <a:prstGeom prst="line">
            <a:avLst/>
          </a:prstGeom>
        </p:spPr>
        <p:style>
          <a:lnRef idx="3">
            <a:schemeClr val="accent3"/>
          </a:lnRef>
          <a:fillRef idx="0">
            <a:schemeClr val="accent3"/>
          </a:fillRef>
          <a:effectRef idx="2">
            <a:schemeClr val="accent3"/>
          </a:effectRef>
          <a:fontRef idx="minor">
            <a:schemeClr val="tx1"/>
          </a:fontRef>
        </p:style>
      </p:cxnSp>
      <p:sp>
        <p:nvSpPr>
          <p:cNvPr id="9" name="Rectangle 8">
            <a:extLst>
              <a:ext uri="{FF2B5EF4-FFF2-40B4-BE49-F238E27FC236}">
                <a16:creationId xmlns:a16="http://schemas.microsoft.com/office/drawing/2014/main" id="{E1E06449-2941-4951-BA5C-747B1A21BDF4}"/>
              </a:ext>
            </a:extLst>
          </p:cNvPr>
          <p:cNvSpPr/>
          <p:nvPr/>
        </p:nvSpPr>
        <p:spPr>
          <a:xfrm>
            <a:off x="380999" y="1156382"/>
            <a:ext cx="11592951" cy="338554"/>
          </a:xfrm>
          <a:prstGeom prst="rect">
            <a:avLst/>
          </a:prstGeom>
        </p:spPr>
        <p:txBody>
          <a:bodyPr wrap="square">
            <a:spAutoFit/>
          </a:bodyPr>
          <a:lstStyle/>
          <a:p>
            <a:pPr algn="just"/>
            <a:endParaRPr lang="en-US" sz="1600"/>
          </a:p>
        </p:txBody>
      </p:sp>
      <p:sp>
        <p:nvSpPr>
          <p:cNvPr id="11" name="TextBox 10">
            <a:extLst>
              <a:ext uri="{FF2B5EF4-FFF2-40B4-BE49-F238E27FC236}">
                <a16:creationId xmlns:a16="http://schemas.microsoft.com/office/drawing/2014/main" id="{C6F58807-C593-4302-C2B9-F134052BDE57}"/>
              </a:ext>
            </a:extLst>
          </p:cNvPr>
          <p:cNvSpPr txBox="1"/>
          <p:nvPr/>
        </p:nvSpPr>
        <p:spPr>
          <a:xfrm>
            <a:off x="404970" y="752965"/>
            <a:ext cx="10367507" cy="338554"/>
          </a:xfrm>
          <a:prstGeom prst="rect">
            <a:avLst/>
          </a:prstGeom>
          <a:noFill/>
        </p:spPr>
        <p:txBody>
          <a:bodyPr wrap="square">
            <a:spAutoFit/>
          </a:bodyPr>
          <a:lstStyle/>
          <a:p>
            <a:r>
              <a:rPr lang="en-US" sz="1600" b="1" i="1">
                <a:solidFill>
                  <a:schemeClr val="accent5">
                    <a:lumMod val="50000"/>
                  </a:schemeClr>
                </a:solidFill>
                <a:ea typeface="+mj-ea"/>
                <a:cs typeface="+mj-cs"/>
              </a:rPr>
              <a:t>Generator Transformers process flow and major parts  </a:t>
            </a:r>
            <a:endParaRPr lang="en-US" sz="1600"/>
          </a:p>
        </p:txBody>
      </p:sp>
      <p:sp>
        <p:nvSpPr>
          <p:cNvPr id="10" name="Rectangle 2">
            <a:extLst>
              <a:ext uri="{FF2B5EF4-FFF2-40B4-BE49-F238E27FC236}">
                <a16:creationId xmlns:a16="http://schemas.microsoft.com/office/drawing/2014/main" id="{370B9890-0305-CDB9-ACD8-E9BBB267350B}"/>
              </a:ext>
            </a:extLst>
          </p:cNvPr>
          <p:cNvSpPr txBox="1">
            <a:spLocks noChangeArrowheads="1"/>
          </p:cNvSpPr>
          <p:nvPr/>
        </p:nvSpPr>
        <p:spPr>
          <a:xfrm>
            <a:off x="381000" y="-108814"/>
            <a:ext cx="7772400" cy="8382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2400" b="1">
                <a:latin typeface="+mn-lt"/>
              </a:rPr>
              <a:t>1. INTRODUCTION</a:t>
            </a:r>
          </a:p>
        </p:txBody>
      </p:sp>
      <p:sp>
        <p:nvSpPr>
          <p:cNvPr id="14" name="Rectangle 2">
            <a:extLst>
              <a:ext uri="{FF2B5EF4-FFF2-40B4-BE49-F238E27FC236}">
                <a16:creationId xmlns:a16="http://schemas.microsoft.com/office/drawing/2014/main" id="{4337683F-93CC-EFFA-CE52-F7CB00B5F903}"/>
              </a:ext>
            </a:extLst>
          </p:cNvPr>
          <p:cNvSpPr txBox="1">
            <a:spLocks noChangeArrowheads="1"/>
          </p:cNvSpPr>
          <p:nvPr/>
        </p:nvSpPr>
        <p:spPr>
          <a:xfrm>
            <a:off x="381000" y="441680"/>
            <a:ext cx="7772400" cy="38370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2000" b="1">
                <a:latin typeface="+mn-lt"/>
              </a:rPr>
              <a:t>1.3 Operating Context</a:t>
            </a:r>
          </a:p>
        </p:txBody>
      </p:sp>
      <p:sp>
        <p:nvSpPr>
          <p:cNvPr id="2" name="Slide Number Placeholder 2">
            <a:extLst>
              <a:ext uri="{FF2B5EF4-FFF2-40B4-BE49-F238E27FC236}">
                <a16:creationId xmlns:a16="http://schemas.microsoft.com/office/drawing/2014/main" id="{4AE9D9B4-DF02-135C-8737-59C5EB62D562}"/>
              </a:ext>
            </a:extLst>
          </p:cNvPr>
          <p:cNvSpPr>
            <a:spLocks noGrp="1"/>
          </p:cNvSpPr>
          <p:nvPr>
            <p:ph type="sldNum" sz="quarter" idx="12"/>
          </p:nvPr>
        </p:nvSpPr>
        <p:spPr>
          <a:xfrm>
            <a:off x="8900311" y="6492875"/>
            <a:ext cx="2743200" cy="365125"/>
          </a:xfrm>
        </p:spPr>
        <p:txBody>
          <a:bodyPr/>
          <a:lstStyle/>
          <a:p>
            <a:r>
              <a:rPr lang="en-US"/>
              <a:t>3</a:t>
            </a:r>
          </a:p>
        </p:txBody>
      </p:sp>
      <p:sp>
        <p:nvSpPr>
          <p:cNvPr id="4" name="TextBox 3">
            <a:extLst>
              <a:ext uri="{FF2B5EF4-FFF2-40B4-BE49-F238E27FC236}">
                <a16:creationId xmlns:a16="http://schemas.microsoft.com/office/drawing/2014/main" id="{2E1A6012-227F-4F39-A1BF-C4CEC1339D21}"/>
              </a:ext>
            </a:extLst>
          </p:cNvPr>
          <p:cNvSpPr txBox="1"/>
          <p:nvPr/>
        </p:nvSpPr>
        <p:spPr>
          <a:xfrm>
            <a:off x="380999" y="1123950"/>
            <a:ext cx="11174382" cy="2126864"/>
          </a:xfrm>
          <a:prstGeom prst="rect">
            <a:avLst/>
          </a:prstGeom>
          <a:noFill/>
        </p:spPr>
        <p:txBody>
          <a:bodyPr wrap="square" lIns="91440" tIns="45720" rIns="91440" bIns="45720" anchor="t">
            <a:spAutoFit/>
          </a:bodyPr>
          <a:lstStyle/>
          <a:p>
            <a:r>
              <a:rPr lang="en-US">
                <a:ea typeface="+mn-lt"/>
                <a:cs typeface="+mn-lt"/>
              </a:rPr>
              <a:t>Primary Function:</a:t>
            </a:r>
            <a:endParaRPr lang="en-US" dirty="0">
              <a:ea typeface="+mn-lt"/>
              <a:cs typeface="+mn-lt"/>
            </a:endParaRPr>
          </a:p>
          <a:p>
            <a:endParaRPr lang="en-US" dirty="0">
              <a:ea typeface="+mn-lt"/>
              <a:cs typeface="+mn-lt"/>
            </a:endParaRPr>
          </a:p>
          <a:p>
            <a:pPr marL="285750" indent="-285750">
              <a:buFont typeface="Arial" panose="020B0604020202020204" pitchFamily="34" charset="0"/>
              <a:buChar char="•"/>
            </a:pPr>
            <a:r>
              <a:rPr lang="en-US">
                <a:ea typeface="+mn-lt"/>
                <a:cs typeface="+mn-lt"/>
              </a:rPr>
              <a:t>To step up the generator output voltage (11–25 kV) to transmission grid voltage (110–765 kV or as specified).To provide electrical isolation between generator and transmission system.</a:t>
            </a:r>
            <a:endParaRPr lang="en-US" dirty="0">
              <a:ea typeface="+mn-lt"/>
              <a:cs typeface="+mn-lt"/>
            </a:endParaRPr>
          </a:p>
          <a:p>
            <a:pPr marL="285750" indent="-285750">
              <a:buFont typeface="Arial" panose="020B0604020202020204" pitchFamily="34" charset="0"/>
              <a:buChar char="•"/>
            </a:pPr>
            <a:r>
              <a:rPr lang="en-US" dirty="0">
                <a:ea typeface="+mn-lt"/>
                <a:cs typeface="+mn-lt"/>
              </a:rPr>
              <a:t>To operate continuously with high reliability, supplying power to the transmission grid.</a:t>
            </a:r>
          </a:p>
          <a:p>
            <a:endParaRPr lang="en-US" dirty="0">
              <a:ea typeface="Calibri"/>
              <a:cs typeface="Calibri"/>
            </a:endParaRPr>
          </a:p>
          <a:p>
            <a:pPr>
              <a:lnSpc>
                <a:spcPct val="150000"/>
              </a:lnSpc>
            </a:pPr>
            <a:r>
              <a:rPr lang="en-US" b="1" dirty="0"/>
              <a:t>Reason of system selection: Common critical system.</a:t>
            </a:r>
            <a:endParaRPr lang="en-US" b="1" dirty="0">
              <a:ea typeface="Calibri" panose="020F0502020204030204"/>
              <a:cs typeface="Calibri" panose="020F0502020204030204"/>
            </a:endParaRPr>
          </a:p>
        </p:txBody>
      </p:sp>
    </p:spTree>
    <p:extLst>
      <p:ext uri="{BB962C8B-B14F-4D97-AF65-F5344CB8AC3E}">
        <p14:creationId xmlns:p14="http://schemas.microsoft.com/office/powerpoint/2010/main" val="17808986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38BF81D-13BA-4EF5-A2FB-5D0C92DFD23B}"/>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t="13483" b="26966"/>
          <a:stretch/>
        </p:blipFill>
        <p:spPr bwMode="auto">
          <a:xfrm>
            <a:off x="10748507" y="80255"/>
            <a:ext cx="1225443" cy="473074"/>
          </a:xfrm>
          <a:prstGeom prst="rect">
            <a:avLst/>
          </a:prstGeom>
          <a:noFill/>
          <a:ln>
            <a:noFill/>
          </a:ln>
          <a:extLst>
            <a:ext uri="{53640926-AAD7-44D8-BBD7-CCE9431645EC}">
              <a14:shadowObscured xmlns:a14="http://schemas.microsoft.com/office/drawing/2010/main"/>
            </a:ext>
          </a:extLst>
        </p:spPr>
      </p:pic>
      <p:cxnSp>
        <p:nvCxnSpPr>
          <p:cNvPr id="8" name="Straight Connector 7">
            <a:extLst>
              <a:ext uri="{FF2B5EF4-FFF2-40B4-BE49-F238E27FC236}">
                <a16:creationId xmlns:a16="http://schemas.microsoft.com/office/drawing/2014/main" id="{380124A7-698A-4D88-9046-55A67076DEA3}"/>
              </a:ext>
            </a:extLst>
          </p:cNvPr>
          <p:cNvCxnSpPr/>
          <p:nvPr/>
        </p:nvCxnSpPr>
        <p:spPr>
          <a:xfrm>
            <a:off x="141467" y="1158240"/>
            <a:ext cx="10607040" cy="0"/>
          </a:xfrm>
          <a:prstGeom prst="line">
            <a:avLst/>
          </a:prstGeom>
        </p:spPr>
        <p:style>
          <a:lnRef idx="3">
            <a:schemeClr val="accent3"/>
          </a:lnRef>
          <a:fillRef idx="0">
            <a:schemeClr val="accent3"/>
          </a:fillRef>
          <a:effectRef idx="2">
            <a:schemeClr val="accent3"/>
          </a:effectRef>
          <a:fontRef idx="minor">
            <a:schemeClr val="tx1"/>
          </a:fontRef>
        </p:style>
      </p:cxnSp>
      <p:sp>
        <p:nvSpPr>
          <p:cNvPr id="3" name="Slide Number Placeholder 2">
            <a:extLst>
              <a:ext uri="{FF2B5EF4-FFF2-40B4-BE49-F238E27FC236}">
                <a16:creationId xmlns:a16="http://schemas.microsoft.com/office/drawing/2014/main" id="{61EBBB7F-41E1-4571-8302-EC2AB097A93D}"/>
              </a:ext>
            </a:extLst>
          </p:cNvPr>
          <p:cNvSpPr>
            <a:spLocks noGrp="1"/>
          </p:cNvSpPr>
          <p:nvPr>
            <p:ph type="sldNum" sz="quarter" idx="12"/>
          </p:nvPr>
        </p:nvSpPr>
        <p:spPr>
          <a:xfrm>
            <a:off x="9159240" y="6412620"/>
            <a:ext cx="2743200" cy="365125"/>
          </a:xfrm>
        </p:spPr>
        <p:txBody>
          <a:bodyPr/>
          <a:lstStyle/>
          <a:p>
            <a:r>
              <a:rPr lang="en-US"/>
              <a:t>4</a:t>
            </a:r>
          </a:p>
        </p:txBody>
      </p:sp>
      <p:sp>
        <p:nvSpPr>
          <p:cNvPr id="2" name="TextBox 1">
            <a:extLst>
              <a:ext uri="{FF2B5EF4-FFF2-40B4-BE49-F238E27FC236}">
                <a16:creationId xmlns:a16="http://schemas.microsoft.com/office/drawing/2014/main" id="{1EC8B9AE-2719-A654-8717-5C30FD1A50B1}"/>
              </a:ext>
            </a:extLst>
          </p:cNvPr>
          <p:cNvSpPr txBox="1"/>
          <p:nvPr/>
        </p:nvSpPr>
        <p:spPr>
          <a:xfrm>
            <a:off x="8941190" y="1313853"/>
            <a:ext cx="3032760" cy="2031325"/>
          </a:xfrm>
          <a:prstGeom prst="rect">
            <a:avLst/>
          </a:prstGeom>
          <a:noFill/>
        </p:spPr>
        <p:txBody>
          <a:bodyPr wrap="square" rtlCol="0">
            <a:spAutoFit/>
          </a:bodyPr>
          <a:lstStyle/>
          <a:p>
            <a:pPr algn="l"/>
            <a:r>
              <a:rPr lang="en-US" b="1">
                <a:latin typeface="MS-PGothic"/>
              </a:rPr>
              <a:t>List of components </a:t>
            </a:r>
            <a:endParaRPr lang="en-US" b="1" i="0" u="none" strike="noStrike" baseline="0">
              <a:latin typeface="MS-PGothic"/>
            </a:endParaRPr>
          </a:p>
          <a:p>
            <a:pPr algn="l"/>
            <a:r>
              <a:rPr lang="en-US" b="0" i="0" u="none" strike="noStrike" baseline="0">
                <a:latin typeface="MS-PGothic"/>
              </a:rPr>
              <a:t>① </a:t>
            </a:r>
            <a:r>
              <a:rPr lang="en-US">
                <a:latin typeface="MS-PGothic"/>
              </a:rPr>
              <a:t>Cooler fan</a:t>
            </a:r>
          </a:p>
          <a:p>
            <a:r>
              <a:rPr lang="en-US" b="0" i="0" u="none" strike="noStrike" baseline="0">
                <a:latin typeface="MS-PGothic"/>
              </a:rPr>
              <a:t>② </a:t>
            </a:r>
            <a:r>
              <a:rPr lang="en-US">
                <a:latin typeface="MS-PGothic"/>
              </a:rPr>
              <a:t>Tap changer</a:t>
            </a:r>
          </a:p>
          <a:p>
            <a:r>
              <a:rPr lang="en-US" b="0" i="0" u="none" strike="noStrike" baseline="0">
                <a:latin typeface="MS-PGothic"/>
              </a:rPr>
              <a:t>③ </a:t>
            </a:r>
            <a:r>
              <a:rPr lang="en-US">
                <a:latin typeface="MS-PGothic"/>
              </a:rPr>
              <a:t>Conservator tank</a:t>
            </a:r>
          </a:p>
          <a:p>
            <a:r>
              <a:rPr lang="en-US" b="0" i="0" u="none" strike="noStrike" baseline="0">
                <a:latin typeface="MS-PGothic"/>
              </a:rPr>
              <a:t>④ </a:t>
            </a:r>
            <a:r>
              <a:rPr lang="en-US">
                <a:latin typeface="MS-PGothic"/>
              </a:rPr>
              <a:t>Bucholz relay</a:t>
            </a:r>
          </a:p>
          <a:p>
            <a:r>
              <a:rPr lang="en-US" b="0" i="0" u="none" strike="noStrike" baseline="0">
                <a:latin typeface="MS-PGothic"/>
              </a:rPr>
              <a:t>⑤ </a:t>
            </a:r>
            <a:r>
              <a:rPr lang="en-US">
                <a:latin typeface="MS-PGothic"/>
              </a:rPr>
              <a:t>PRD</a:t>
            </a:r>
          </a:p>
          <a:p>
            <a:r>
              <a:rPr lang="en-US">
                <a:latin typeface="MS-PGothic"/>
              </a:rPr>
              <a:t>⑥ Current transformers</a:t>
            </a:r>
          </a:p>
        </p:txBody>
      </p:sp>
      <p:sp>
        <p:nvSpPr>
          <p:cNvPr id="4" name="TextBox 3">
            <a:extLst>
              <a:ext uri="{FF2B5EF4-FFF2-40B4-BE49-F238E27FC236}">
                <a16:creationId xmlns:a16="http://schemas.microsoft.com/office/drawing/2014/main" id="{E9D30889-DA75-1CAE-E1FA-7A4B0A592C39}"/>
              </a:ext>
            </a:extLst>
          </p:cNvPr>
          <p:cNvSpPr txBox="1"/>
          <p:nvPr/>
        </p:nvSpPr>
        <p:spPr>
          <a:xfrm>
            <a:off x="417951" y="636298"/>
            <a:ext cx="10943277" cy="338554"/>
          </a:xfrm>
          <a:prstGeom prst="rect">
            <a:avLst/>
          </a:prstGeom>
          <a:noFill/>
        </p:spPr>
        <p:txBody>
          <a:bodyPr wrap="square">
            <a:spAutoFit/>
          </a:bodyPr>
          <a:lstStyle/>
          <a:p>
            <a:r>
              <a:rPr lang="en-MY" sz="1600" b="1" i="1">
                <a:solidFill>
                  <a:schemeClr val="accent5">
                    <a:lumMod val="50000"/>
                  </a:schemeClr>
                </a:solidFill>
                <a:ea typeface="+mj-ea"/>
                <a:cs typeface="+mj-cs"/>
              </a:rPr>
              <a:t>The scope or limits of the RCM analysis for the </a:t>
            </a:r>
            <a:r>
              <a:rPr lang="en-US" sz="1600" b="1" i="1">
                <a:solidFill>
                  <a:schemeClr val="accent5">
                    <a:lumMod val="50000"/>
                  </a:schemeClr>
                </a:solidFill>
                <a:ea typeface="+mj-ea"/>
                <a:cs typeface="+mj-cs"/>
              </a:rPr>
              <a:t>Generator Transformers </a:t>
            </a:r>
            <a:r>
              <a:rPr lang="en-MY" sz="1600" b="1" i="1">
                <a:solidFill>
                  <a:schemeClr val="accent5">
                    <a:lumMod val="50000"/>
                  </a:schemeClr>
                </a:solidFill>
                <a:ea typeface="+mj-ea"/>
                <a:cs typeface="+mj-cs"/>
              </a:rPr>
              <a:t>&amp; list of the components in this system.</a:t>
            </a:r>
          </a:p>
        </p:txBody>
      </p:sp>
      <p:sp>
        <p:nvSpPr>
          <p:cNvPr id="5" name="Rectangle 2">
            <a:extLst>
              <a:ext uri="{FF2B5EF4-FFF2-40B4-BE49-F238E27FC236}">
                <a16:creationId xmlns:a16="http://schemas.microsoft.com/office/drawing/2014/main" id="{B6725E97-F3E9-877D-F48C-E5FCD661971D}"/>
              </a:ext>
            </a:extLst>
          </p:cNvPr>
          <p:cNvSpPr txBox="1">
            <a:spLocks noChangeArrowheads="1"/>
          </p:cNvSpPr>
          <p:nvPr/>
        </p:nvSpPr>
        <p:spPr>
          <a:xfrm>
            <a:off x="381000" y="415887"/>
            <a:ext cx="7772400" cy="38370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2000" b="1">
                <a:latin typeface="+mn-lt"/>
              </a:rPr>
              <a:t>1.4 System Boundary</a:t>
            </a:r>
          </a:p>
        </p:txBody>
      </p:sp>
      <p:sp>
        <p:nvSpPr>
          <p:cNvPr id="7" name="Rectangle 2">
            <a:extLst>
              <a:ext uri="{FF2B5EF4-FFF2-40B4-BE49-F238E27FC236}">
                <a16:creationId xmlns:a16="http://schemas.microsoft.com/office/drawing/2014/main" id="{E847D79F-72BA-9C1A-9627-06D50BA2C2B8}"/>
              </a:ext>
            </a:extLst>
          </p:cNvPr>
          <p:cNvSpPr txBox="1">
            <a:spLocks noChangeArrowheads="1"/>
          </p:cNvSpPr>
          <p:nvPr/>
        </p:nvSpPr>
        <p:spPr>
          <a:xfrm>
            <a:off x="381000" y="-73886"/>
            <a:ext cx="7772400" cy="8382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2400" b="1">
                <a:latin typeface="+mn-lt"/>
              </a:rPr>
              <a:t>1. INTRODUCTION</a:t>
            </a:r>
          </a:p>
        </p:txBody>
      </p:sp>
      <p:pic>
        <p:nvPicPr>
          <p:cNvPr id="10" name="Picture 9">
            <a:extLst>
              <a:ext uri="{FF2B5EF4-FFF2-40B4-BE49-F238E27FC236}">
                <a16:creationId xmlns:a16="http://schemas.microsoft.com/office/drawing/2014/main" id="{681F33CC-D033-B36D-0930-6D71E4205E1E}"/>
              </a:ext>
            </a:extLst>
          </p:cNvPr>
          <p:cNvPicPr>
            <a:picLocks noChangeAspect="1"/>
          </p:cNvPicPr>
          <p:nvPr/>
        </p:nvPicPr>
        <p:blipFill>
          <a:blip r:embed="rId4"/>
          <a:stretch>
            <a:fillRect/>
          </a:stretch>
        </p:blipFill>
        <p:spPr>
          <a:xfrm>
            <a:off x="1405164" y="1313853"/>
            <a:ext cx="5610328" cy="5166433"/>
          </a:xfrm>
          <a:prstGeom prst="rect">
            <a:avLst/>
          </a:prstGeom>
          <a:ln w="38100">
            <a:solidFill>
              <a:srgbClr val="FF0000"/>
            </a:solidFill>
          </a:ln>
        </p:spPr>
      </p:pic>
    </p:spTree>
    <p:extLst>
      <p:ext uri="{BB962C8B-B14F-4D97-AF65-F5344CB8AC3E}">
        <p14:creationId xmlns:p14="http://schemas.microsoft.com/office/powerpoint/2010/main" val="35327243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38BF81D-13BA-4EF5-A2FB-5D0C92DFD23B}"/>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t="13483" b="26966"/>
          <a:stretch/>
        </p:blipFill>
        <p:spPr bwMode="auto">
          <a:xfrm>
            <a:off x="10748507" y="80255"/>
            <a:ext cx="1225443" cy="473074"/>
          </a:xfrm>
          <a:prstGeom prst="rect">
            <a:avLst/>
          </a:prstGeom>
          <a:noFill/>
          <a:ln>
            <a:noFill/>
          </a:ln>
          <a:extLst>
            <a:ext uri="{53640926-AAD7-44D8-BBD7-CCE9431645EC}">
              <a14:shadowObscured xmlns:a14="http://schemas.microsoft.com/office/drawing/2010/main"/>
            </a:ext>
          </a:extLst>
        </p:spPr>
      </p:pic>
      <p:sp>
        <p:nvSpPr>
          <p:cNvPr id="7" name="Rectangle 2">
            <a:extLst>
              <a:ext uri="{FF2B5EF4-FFF2-40B4-BE49-F238E27FC236}">
                <a16:creationId xmlns:a16="http://schemas.microsoft.com/office/drawing/2014/main" id="{C03F4BF0-7B0A-4933-9E69-005C2DC44043}"/>
              </a:ext>
            </a:extLst>
          </p:cNvPr>
          <p:cNvSpPr txBox="1">
            <a:spLocks noChangeArrowheads="1"/>
          </p:cNvSpPr>
          <p:nvPr/>
        </p:nvSpPr>
        <p:spPr>
          <a:xfrm>
            <a:off x="381000" y="0"/>
            <a:ext cx="7772400" cy="8382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2400" b="1">
                <a:latin typeface="+mn-lt"/>
              </a:rPr>
              <a:t>2. RCM METHODOLOGY</a:t>
            </a:r>
          </a:p>
        </p:txBody>
      </p:sp>
      <p:cxnSp>
        <p:nvCxnSpPr>
          <p:cNvPr id="8" name="Straight Connector 7">
            <a:extLst>
              <a:ext uri="{FF2B5EF4-FFF2-40B4-BE49-F238E27FC236}">
                <a16:creationId xmlns:a16="http://schemas.microsoft.com/office/drawing/2014/main" id="{380124A7-698A-4D88-9046-55A67076DEA3}"/>
              </a:ext>
            </a:extLst>
          </p:cNvPr>
          <p:cNvCxnSpPr/>
          <p:nvPr/>
        </p:nvCxnSpPr>
        <p:spPr>
          <a:xfrm>
            <a:off x="438193" y="922107"/>
            <a:ext cx="10607040" cy="0"/>
          </a:xfrm>
          <a:prstGeom prst="line">
            <a:avLst/>
          </a:prstGeom>
        </p:spPr>
        <p:style>
          <a:lnRef idx="3">
            <a:schemeClr val="accent3"/>
          </a:lnRef>
          <a:fillRef idx="0">
            <a:schemeClr val="accent3"/>
          </a:fillRef>
          <a:effectRef idx="2">
            <a:schemeClr val="accent3"/>
          </a:effectRef>
          <a:fontRef idx="minor">
            <a:schemeClr val="tx1"/>
          </a:fontRef>
        </p:style>
      </p:cxnSp>
      <p:sp>
        <p:nvSpPr>
          <p:cNvPr id="3" name="Slide Number Placeholder 2">
            <a:extLst>
              <a:ext uri="{FF2B5EF4-FFF2-40B4-BE49-F238E27FC236}">
                <a16:creationId xmlns:a16="http://schemas.microsoft.com/office/drawing/2014/main" id="{61EBBB7F-41E1-4571-8302-EC2AB097A93D}"/>
              </a:ext>
            </a:extLst>
          </p:cNvPr>
          <p:cNvSpPr>
            <a:spLocks noGrp="1"/>
          </p:cNvSpPr>
          <p:nvPr>
            <p:ph type="sldNum" sz="quarter" idx="12"/>
          </p:nvPr>
        </p:nvSpPr>
        <p:spPr/>
        <p:txBody>
          <a:bodyPr/>
          <a:lstStyle/>
          <a:p>
            <a:r>
              <a:rPr lang="en-US"/>
              <a:t>8</a:t>
            </a:r>
          </a:p>
        </p:txBody>
      </p:sp>
      <p:sp>
        <p:nvSpPr>
          <p:cNvPr id="9" name="Rectangle 8">
            <a:extLst>
              <a:ext uri="{FF2B5EF4-FFF2-40B4-BE49-F238E27FC236}">
                <a16:creationId xmlns:a16="http://schemas.microsoft.com/office/drawing/2014/main" id="{E1E06449-2941-4951-BA5C-747B1A21BDF4}"/>
              </a:ext>
            </a:extLst>
          </p:cNvPr>
          <p:cNvSpPr/>
          <p:nvPr/>
        </p:nvSpPr>
        <p:spPr>
          <a:xfrm>
            <a:off x="141467" y="1396940"/>
            <a:ext cx="2688139" cy="2554545"/>
          </a:xfrm>
          <a:prstGeom prst="rect">
            <a:avLst/>
          </a:prstGeom>
        </p:spPr>
        <p:txBody>
          <a:bodyPr wrap="square">
            <a:spAutoFit/>
          </a:bodyPr>
          <a:lstStyle/>
          <a:p>
            <a:pPr marL="285750" indent="-285750">
              <a:buFont typeface="Arial" panose="020B0604020202020204" pitchFamily="34" charset="0"/>
              <a:buChar char="•"/>
            </a:pPr>
            <a:r>
              <a:rPr lang="en-US" sz="1600"/>
              <a:t>The RCM methodology consists of four steps:</a:t>
            </a:r>
          </a:p>
          <a:p>
            <a:pPr marL="800100" lvl="1" indent="-342900" algn="just">
              <a:buFont typeface="+mj-lt"/>
              <a:buAutoNum type="arabicPeriod"/>
            </a:pPr>
            <a:r>
              <a:rPr lang="en-US" sz="1600"/>
              <a:t>Planning Step</a:t>
            </a:r>
          </a:p>
          <a:p>
            <a:pPr marL="800100" lvl="1" indent="-342900">
              <a:buFont typeface="+mj-lt"/>
              <a:buAutoNum type="arabicPeriod"/>
            </a:pPr>
            <a:r>
              <a:rPr lang="en-US" sz="1600"/>
              <a:t>RCM Analysis Facilitation Step</a:t>
            </a:r>
          </a:p>
          <a:p>
            <a:pPr marL="800100" lvl="1" indent="-342900">
              <a:buFont typeface="+mj-lt"/>
              <a:buAutoNum type="arabicPeriod"/>
            </a:pPr>
            <a:r>
              <a:rPr lang="en-US" sz="1600"/>
              <a:t>Audit Step</a:t>
            </a:r>
          </a:p>
          <a:p>
            <a:pPr marL="800100" lvl="1" indent="-342900">
              <a:buFont typeface="+mj-lt"/>
              <a:buAutoNum type="arabicPeriod"/>
            </a:pPr>
            <a:r>
              <a:rPr lang="en-US" sz="1600"/>
              <a:t>Implementation Step</a:t>
            </a:r>
          </a:p>
          <a:p>
            <a:pPr marL="285750" indent="-285750">
              <a:buFont typeface="Arial" panose="020B0604020202020204" pitchFamily="34" charset="0"/>
              <a:buChar char="•"/>
            </a:pPr>
            <a:r>
              <a:rPr lang="en-US" sz="1600"/>
              <a:t>The overall RCM Process is summarized in Diagram 1.</a:t>
            </a:r>
            <a:endParaRPr lang="en-US" sz="1400"/>
          </a:p>
        </p:txBody>
      </p:sp>
      <p:sp>
        <p:nvSpPr>
          <p:cNvPr id="4" name="Rectangle 3">
            <a:extLst>
              <a:ext uri="{FF2B5EF4-FFF2-40B4-BE49-F238E27FC236}">
                <a16:creationId xmlns:a16="http://schemas.microsoft.com/office/drawing/2014/main" id="{67CE1468-75DF-89B9-37D8-F993A8DF8259}"/>
              </a:ext>
            </a:extLst>
          </p:cNvPr>
          <p:cNvSpPr/>
          <p:nvPr/>
        </p:nvSpPr>
        <p:spPr>
          <a:xfrm>
            <a:off x="8358861" y="3750196"/>
            <a:ext cx="984739" cy="610949"/>
          </a:xfrm>
          <a:prstGeom prst="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5" name="TextBox 4">
            <a:extLst>
              <a:ext uri="{FF2B5EF4-FFF2-40B4-BE49-F238E27FC236}">
                <a16:creationId xmlns:a16="http://schemas.microsoft.com/office/drawing/2014/main" id="{A7BF9851-1E13-E715-68F8-104821B6BEA7}"/>
              </a:ext>
            </a:extLst>
          </p:cNvPr>
          <p:cNvSpPr txBox="1"/>
          <p:nvPr/>
        </p:nvSpPr>
        <p:spPr>
          <a:xfrm>
            <a:off x="381000" y="534987"/>
            <a:ext cx="10367507" cy="338554"/>
          </a:xfrm>
          <a:prstGeom prst="rect">
            <a:avLst/>
          </a:prstGeom>
          <a:noFill/>
        </p:spPr>
        <p:txBody>
          <a:bodyPr wrap="square" rtlCol="0">
            <a:spAutoFit/>
          </a:bodyPr>
          <a:lstStyle/>
          <a:p>
            <a:r>
              <a:rPr lang="en-US" sz="1600" b="1" i="1">
                <a:solidFill>
                  <a:schemeClr val="accent5">
                    <a:lumMod val="50000"/>
                  </a:schemeClr>
                </a:solidFill>
                <a:ea typeface="+mj-ea"/>
                <a:cs typeface="+mj-cs"/>
              </a:rPr>
              <a:t>The process flowchart represents the steps involved in the RCM Methodology. </a:t>
            </a:r>
          </a:p>
        </p:txBody>
      </p:sp>
      <p:sp>
        <p:nvSpPr>
          <p:cNvPr id="10" name="TextBox 9">
            <a:extLst>
              <a:ext uri="{FF2B5EF4-FFF2-40B4-BE49-F238E27FC236}">
                <a16:creationId xmlns:a16="http://schemas.microsoft.com/office/drawing/2014/main" id="{E4043BB3-70DB-3976-1010-26494D4DE8CD}"/>
              </a:ext>
            </a:extLst>
          </p:cNvPr>
          <p:cNvSpPr txBox="1"/>
          <p:nvPr/>
        </p:nvSpPr>
        <p:spPr>
          <a:xfrm>
            <a:off x="838199" y="5748154"/>
            <a:ext cx="1929223" cy="830997"/>
          </a:xfrm>
          <a:prstGeom prst="rect">
            <a:avLst/>
          </a:prstGeom>
          <a:noFill/>
        </p:spPr>
        <p:txBody>
          <a:bodyPr wrap="square">
            <a:spAutoFit/>
          </a:bodyPr>
          <a:lstStyle/>
          <a:p>
            <a:pPr algn="r"/>
            <a:r>
              <a:rPr lang="en-US" sz="1600" b="1" u="sng"/>
              <a:t>Diagram 1</a:t>
            </a:r>
          </a:p>
          <a:p>
            <a:pPr algn="r"/>
            <a:r>
              <a:rPr lang="en-US" sz="1600" b="1"/>
              <a:t>RCM Methodology Process Flowchart</a:t>
            </a:r>
            <a:endParaRPr lang="en-MY" sz="1600" b="1"/>
          </a:p>
        </p:txBody>
      </p:sp>
      <p:grpSp>
        <p:nvGrpSpPr>
          <p:cNvPr id="2" name="Group 1">
            <a:extLst>
              <a:ext uri="{FF2B5EF4-FFF2-40B4-BE49-F238E27FC236}">
                <a16:creationId xmlns:a16="http://schemas.microsoft.com/office/drawing/2014/main" id="{7302E3DF-E2D1-ED6E-3DF2-C1B7F98AA888}"/>
              </a:ext>
            </a:extLst>
          </p:cNvPr>
          <p:cNvGrpSpPr/>
          <p:nvPr/>
        </p:nvGrpSpPr>
        <p:grpSpPr>
          <a:xfrm>
            <a:off x="2767422" y="1008061"/>
            <a:ext cx="9249734" cy="5670541"/>
            <a:chOff x="2800800" y="970673"/>
            <a:chExt cx="9249734" cy="5670541"/>
          </a:xfrm>
        </p:grpSpPr>
        <p:pic>
          <p:nvPicPr>
            <p:cNvPr id="11" name="Picture 10">
              <a:extLst>
                <a:ext uri="{FF2B5EF4-FFF2-40B4-BE49-F238E27FC236}">
                  <a16:creationId xmlns:a16="http://schemas.microsoft.com/office/drawing/2014/main" id="{CDAB5D48-64B1-2301-856B-92D495498EDF}"/>
                </a:ext>
              </a:extLst>
            </p:cNvPr>
            <p:cNvPicPr>
              <a:picLocks noChangeAspect="1"/>
            </p:cNvPicPr>
            <p:nvPr/>
          </p:nvPicPr>
          <p:blipFill>
            <a:blip r:embed="rId4"/>
            <a:stretch>
              <a:fillRect/>
            </a:stretch>
          </p:blipFill>
          <p:spPr>
            <a:xfrm>
              <a:off x="2800800" y="970673"/>
              <a:ext cx="9249734" cy="5670541"/>
            </a:xfrm>
            <a:prstGeom prst="rect">
              <a:avLst/>
            </a:prstGeom>
          </p:spPr>
        </p:pic>
        <p:sp>
          <p:nvSpPr>
            <p:cNvPr id="12" name="Rectangle 11">
              <a:extLst>
                <a:ext uri="{FF2B5EF4-FFF2-40B4-BE49-F238E27FC236}">
                  <a16:creationId xmlns:a16="http://schemas.microsoft.com/office/drawing/2014/main" id="{767E1649-CD70-3B69-569F-106B2E04C0A1}"/>
                </a:ext>
              </a:extLst>
            </p:cNvPr>
            <p:cNvSpPr/>
            <p:nvPr/>
          </p:nvSpPr>
          <p:spPr>
            <a:xfrm>
              <a:off x="3372986" y="4105717"/>
              <a:ext cx="3233705" cy="1282156"/>
            </a:xfrm>
            <a:prstGeom prst="rect">
              <a:avLst/>
            </a:prstGeom>
            <a:solidFill>
              <a:schemeClr val="accent2">
                <a:lumMod val="20000"/>
                <a:lumOff val="80000"/>
                <a:alpha val="26000"/>
              </a:schemeClr>
            </a:solidFill>
            <a:ln w="19050">
              <a:noFill/>
              <a:prstDash val="dash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3" name="Rectangle 12">
              <a:extLst>
                <a:ext uri="{FF2B5EF4-FFF2-40B4-BE49-F238E27FC236}">
                  <a16:creationId xmlns:a16="http://schemas.microsoft.com/office/drawing/2014/main" id="{27F46D92-3FE7-5581-B7D9-6AC8B611F191}"/>
                </a:ext>
              </a:extLst>
            </p:cNvPr>
            <p:cNvSpPr/>
            <p:nvPr/>
          </p:nvSpPr>
          <p:spPr>
            <a:xfrm>
              <a:off x="5316843" y="1470127"/>
              <a:ext cx="3735952" cy="1824135"/>
            </a:xfrm>
            <a:prstGeom prst="rect">
              <a:avLst/>
            </a:prstGeom>
            <a:solidFill>
              <a:schemeClr val="accent5">
                <a:lumMod val="40000"/>
                <a:lumOff val="60000"/>
                <a:alpha val="26000"/>
              </a:schemeClr>
            </a:solidFill>
            <a:ln w="19050">
              <a:noFill/>
              <a:prstDash val="dash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4" name="Rectangle 13">
              <a:extLst>
                <a:ext uri="{FF2B5EF4-FFF2-40B4-BE49-F238E27FC236}">
                  <a16:creationId xmlns:a16="http://schemas.microsoft.com/office/drawing/2014/main" id="{9F929A3E-27E0-7EE6-A182-97E79A9F5871}"/>
                </a:ext>
              </a:extLst>
            </p:cNvPr>
            <p:cNvSpPr/>
            <p:nvPr/>
          </p:nvSpPr>
          <p:spPr>
            <a:xfrm>
              <a:off x="7012555" y="3406430"/>
              <a:ext cx="3003456" cy="1050514"/>
            </a:xfrm>
            <a:prstGeom prst="rect">
              <a:avLst/>
            </a:prstGeom>
            <a:solidFill>
              <a:schemeClr val="accent6">
                <a:lumMod val="20000"/>
                <a:lumOff val="80000"/>
                <a:alpha val="26000"/>
              </a:schemeClr>
            </a:solidFill>
            <a:ln w="19050">
              <a:noFill/>
              <a:prstDash val="dash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7" name="Freeform: Shape 16">
              <a:extLst>
                <a:ext uri="{FF2B5EF4-FFF2-40B4-BE49-F238E27FC236}">
                  <a16:creationId xmlns:a16="http://schemas.microsoft.com/office/drawing/2014/main" id="{BA11B3D6-89A7-0DD0-DE53-D489607BF312}"/>
                </a:ext>
              </a:extLst>
            </p:cNvPr>
            <p:cNvSpPr/>
            <p:nvPr/>
          </p:nvSpPr>
          <p:spPr>
            <a:xfrm>
              <a:off x="7569536" y="2198193"/>
              <a:ext cx="4305553" cy="4380958"/>
            </a:xfrm>
            <a:custGeom>
              <a:avLst/>
              <a:gdLst>
                <a:gd name="connsiteX0" fmla="*/ 1883301 w 4305553"/>
                <a:gd name="connsiteY0" fmla="*/ 30279 h 4717336"/>
                <a:gd name="connsiteX1" fmla="*/ 1883301 w 4305553"/>
                <a:gd name="connsiteY1" fmla="*/ 3360875 h 4717336"/>
                <a:gd name="connsiteX2" fmla="*/ 0 w 4305553"/>
                <a:gd name="connsiteY2" fmla="*/ 3366930 h 4717336"/>
                <a:gd name="connsiteX3" fmla="*/ 24223 w 4305553"/>
                <a:gd name="connsiteY3" fmla="*/ 4717336 h 4717336"/>
                <a:gd name="connsiteX4" fmla="*/ 4305553 w 4305553"/>
                <a:gd name="connsiteY4" fmla="*/ 4711280 h 4717336"/>
                <a:gd name="connsiteX5" fmla="*/ 4287386 w 4305553"/>
                <a:gd name="connsiteY5" fmla="*/ 0 h 4717336"/>
                <a:gd name="connsiteX6" fmla="*/ 1883301 w 4305553"/>
                <a:gd name="connsiteY6" fmla="*/ 30279 h 4717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05553" h="4717336">
                  <a:moveTo>
                    <a:pt x="1883301" y="30279"/>
                  </a:moveTo>
                  <a:lnTo>
                    <a:pt x="1883301" y="3360875"/>
                  </a:lnTo>
                  <a:lnTo>
                    <a:pt x="0" y="3366930"/>
                  </a:lnTo>
                  <a:lnTo>
                    <a:pt x="24223" y="4717336"/>
                  </a:lnTo>
                  <a:lnTo>
                    <a:pt x="4305553" y="4711280"/>
                  </a:lnTo>
                  <a:cubicBezTo>
                    <a:pt x="4299497" y="3140853"/>
                    <a:pt x="4293442" y="1570427"/>
                    <a:pt x="4287386" y="0"/>
                  </a:cubicBezTo>
                  <a:lnTo>
                    <a:pt x="1883301" y="30279"/>
                  </a:lnTo>
                  <a:close/>
                </a:path>
              </a:pathLst>
            </a:custGeom>
            <a:solidFill>
              <a:srgbClr val="7030A0">
                <a:alpha val="26000"/>
              </a:srgbClr>
            </a:solidFill>
            <a:ln w="19050">
              <a:noFill/>
              <a:prstDash val="dash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MY"/>
            </a:p>
          </p:txBody>
        </p:sp>
        <p:sp>
          <p:nvSpPr>
            <p:cNvPr id="18" name="TextBox 17">
              <a:extLst>
                <a:ext uri="{FF2B5EF4-FFF2-40B4-BE49-F238E27FC236}">
                  <a16:creationId xmlns:a16="http://schemas.microsoft.com/office/drawing/2014/main" id="{DCB18F48-971D-076B-5FAE-BA4164F324EE}"/>
                </a:ext>
              </a:extLst>
            </p:cNvPr>
            <p:cNvSpPr txBox="1"/>
            <p:nvPr/>
          </p:nvSpPr>
          <p:spPr>
            <a:xfrm>
              <a:off x="3800579" y="5387873"/>
              <a:ext cx="1929223" cy="276999"/>
            </a:xfrm>
            <a:prstGeom prst="rect">
              <a:avLst/>
            </a:prstGeom>
            <a:noFill/>
          </p:spPr>
          <p:txBody>
            <a:bodyPr wrap="square">
              <a:spAutoFit/>
            </a:bodyPr>
            <a:lstStyle/>
            <a:p>
              <a:pPr algn="ctr"/>
              <a:r>
                <a:rPr lang="en-US" sz="1200" b="1"/>
                <a:t>Planning Step</a:t>
              </a:r>
              <a:endParaRPr lang="en-MY" sz="1200" b="1"/>
            </a:p>
          </p:txBody>
        </p:sp>
        <p:sp>
          <p:nvSpPr>
            <p:cNvPr id="19" name="TextBox 18">
              <a:extLst>
                <a:ext uri="{FF2B5EF4-FFF2-40B4-BE49-F238E27FC236}">
                  <a16:creationId xmlns:a16="http://schemas.microsoft.com/office/drawing/2014/main" id="{F88C1789-32AD-3587-56D9-06377C36659A}"/>
                </a:ext>
              </a:extLst>
            </p:cNvPr>
            <p:cNvSpPr txBox="1"/>
            <p:nvPr/>
          </p:nvSpPr>
          <p:spPr>
            <a:xfrm>
              <a:off x="3954700" y="2443379"/>
              <a:ext cx="1577559" cy="461665"/>
            </a:xfrm>
            <a:prstGeom prst="rect">
              <a:avLst/>
            </a:prstGeom>
            <a:noFill/>
          </p:spPr>
          <p:txBody>
            <a:bodyPr wrap="square">
              <a:spAutoFit/>
            </a:bodyPr>
            <a:lstStyle/>
            <a:p>
              <a:pPr algn="ctr"/>
              <a:r>
                <a:rPr lang="en-US" sz="1200" b="1"/>
                <a:t>RCM Analysis Facilitation Step</a:t>
              </a:r>
            </a:p>
          </p:txBody>
        </p:sp>
        <p:sp>
          <p:nvSpPr>
            <p:cNvPr id="20" name="TextBox 19">
              <a:extLst>
                <a:ext uri="{FF2B5EF4-FFF2-40B4-BE49-F238E27FC236}">
                  <a16:creationId xmlns:a16="http://schemas.microsoft.com/office/drawing/2014/main" id="{58EBA230-997C-C6AA-E389-88538AA11170}"/>
                </a:ext>
              </a:extLst>
            </p:cNvPr>
            <p:cNvSpPr txBox="1"/>
            <p:nvPr/>
          </p:nvSpPr>
          <p:spPr>
            <a:xfrm>
              <a:off x="6944406" y="4412623"/>
              <a:ext cx="1577559" cy="276999"/>
            </a:xfrm>
            <a:prstGeom prst="rect">
              <a:avLst/>
            </a:prstGeom>
            <a:noFill/>
          </p:spPr>
          <p:txBody>
            <a:bodyPr wrap="square">
              <a:spAutoFit/>
            </a:bodyPr>
            <a:lstStyle/>
            <a:p>
              <a:pPr algn="ctr"/>
              <a:r>
                <a:rPr lang="en-US" sz="1200" b="1"/>
                <a:t>Audit Step</a:t>
              </a:r>
            </a:p>
          </p:txBody>
        </p:sp>
        <p:sp>
          <p:nvSpPr>
            <p:cNvPr id="21" name="TextBox 20">
              <a:extLst>
                <a:ext uri="{FF2B5EF4-FFF2-40B4-BE49-F238E27FC236}">
                  <a16:creationId xmlns:a16="http://schemas.microsoft.com/office/drawing/2014/main" id="{8DC53A5E-80F4-47AF-E101-00BF9538B14B}"/>
                </a:ext>
              </a:extLst>
            </p:cNvPr>
            <p:cNvSpPr txBox="1"/>
            <p:nvPr/>
          </p:nvSpPr>
          <p:spPr>
            <a:xfrm>
              <a:off x="10297530" y="1921194"/>
              <a:ext cx="1577559" cy="276999"/>
            </a:xfrm>
            <a:prstGeom prst="rect">
              <a:avLst/>
            </a:prstGeom>
            <a:noFill/>
          </p:spPr>
          <p:txBody>
            <a:bodyPr wrap="square">
              <a:spAutoFit/>
            </a:bodyPr>
            <a:lstStyle/>
            <a:p>
              <a:pPr algn="ctr"/>
              <a:r>
                <a:rPr lang="en-US" sz="1200" b="1"/>
                <a:t>Implementation Step</a:t>
              </a:r>
            </a:p>
          </p:txBody>
        </p:sp>
      </p:grpSp>
      <p:sp>
        <p:nvSpPr>
          <p:cNvPr id="15" name="Slide Number Placeholder 14352">
            <a:extLst>
              <a:ext uri="{FF2B5EF4-FFF2-40B4-BE49-F238E27FC236}">
                <a16:creationId xmlns:a16="http://schemas.microsoft.com/office/drawing/2014/main" id="{0AA63F0E-F2F3-B43D-A97D-C75C64FEADE4}"/>
              </a:ext>
            </a:extLst>
          </p:cNvPr>
          <p:cNvSpPr txBox="1">
            <a:spLocks/>
          </p:cNvSpPr>
          <p:nvPr/>
        </p:nvSpPr>
        <p:spPr>
          <a:xfrm>
            <a:off x="9380560" y="6518434"/>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5</a:t>
            </a:r>
          </a:p>
        </p:txBody>
      </p:sp>
      <p:sp>
        <p:nvSpPr>
          <p:cNvPr id="16" name="Rectangle 15">
            <a:extLst>
              <a:ext uri="{FF2B5EF4-FFF2-40B4-BE49-F238E27FC236}">
                <a16:creationId xmlns:a16="http://schemas.microsoft.com/office/drawing/2014/main" id="{B0FFCE54-C08A-417D-6650-B6155D948F91}"/>
              </a:ext>
            </a:extLst>
          </p:cNvPr>
          <p:cNvSpPr/>
          <p:nvPr/>
        </p:nvSpPr>
        <p:spPr>
          <a:xfrm>
            <a:off x="6979177" y="3443818"/>
            <a:ext cx="2401383" cy="100619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64397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 name="Picture 347">
            <a:extLst>
              <a:ext uri="{FF2B5EF4-FFF2-40B4-BE49-F238E27FC236}">
                <a16:creationId xmlns:a16="http://schemas.microsoft.com/office/drawing/2014/main" id="{F3683BE6-9B66-444A-8EF4-87EDE88C6DDA}"/>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t="13483" b="26966"/>
          <a:stretch/>
        </p:blipFill>
        <p:spPr bwMode="auto">
          <a:xfrm>
            <a:off x="10748507" y="80255"/>
            <a:ext cx="1225443" cy="473074"/>
          </a:xfrm>
          <a:prstGeom prst="rect">
            <a:avLst/>
          </a:prstGeom>
          <a:noFill/>
          <a:ln>
            <a:noFill/>
          </a:ln>
          <a:extLst>
            <a:ext uri="{53640926-AAD7-44D8-BBD7-CCE9431645EC}">
              <a14:shadowObscured xmlns:a14="http://schemas.microsoft.com/office/drawing/2010/main"/>
            </a:ext>
          </a:extLst>
        </p:spPr>
      </p:pic>
      <p:cxnSp>
        <p:nvCxnSpPr>
          <p:cNvPr id="350" name="Straight Connector 349">
            <a:extLst>
              <a:ext uri="{FF2B5EF4-FFF2-40B4-BE49-F238E27FC236}">
                <a16:creationId xmlns:a16="http://schemas.microsoft.com/office/drawing/2014/main" id="{84EFE9C2-03E0-4415-AC4B-C36058A9DFB0}"/>
              </a:ext>
            </a:extLst>
          </p:cNvPr>
          <p:cNvCxnSpPr/>
          <p:nvPr/>
        </p:nvCxnSpPr>
        <p:spPr>
          <a:xfrm>
            <a:off x="152399" y="762000"/>
            <a:ext cx="10607040" cy="0"/>
          </a:xfrm>
          <a:prstGeom prst="line">
            <a:avLst/>
          </a:prstGeom>
        </p:spPr>
        <p:style>
          <a:lnRef idx="3">
            <a:schemeClr val="accent3"/>
          </a:lnRef>
          <a:fillRef idx="0">
            <a:schemeClr val="accent3"/>
          </a:fillRef>
          <a:effectRef idx="2">
            <a:schemeClr val="accent3"/>
          </a:effectRef>
          <a:fontRef idx="minor">
            <a:schemeClr val="tx1"/>
          </a:fontRef>
        </p:style>
      </p:cxnSp>
      <p:sp>
        <p:nvSpPr>
          <p:cNvPr id="3" name="Rectangle 2">
            <a:extLst>
              <a:ext uri="{FF2B5EF4-FFF2-40B4-BE49-F238E27FC236}">
                <a16:creationId xmlns:a16="http://schemas.microsoft.com/office/drawing/2014/main" id="{80BD1D10-0327-D8B0-A28F-D529E8B8BC08}"/>
              </a:ext>
            </a:extLst>
          </p:cNvPr>
          <p:cNvSpPr txBox="1">
            <a:spLocks noChangeArrowheads="1"/>
          </p:cNvSpPr>
          <p:nvPr/>
        </p:nvSpPr>
        <p:spPr>
          <a:xfrm>
            <a:off x="381000" y="84976"/>
            <a:ext cx="7772400" cy="48404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2400" b="1">
                <a:latin typeface="+mn-lt"/>
              </a:rPr>
              <a:t>3. ANALYSIS</a:t>
            </a:r>
          </a:p>
        </p:txBody>
      </p:sp>
      <p:sp>
        <p:nvSpPr>
          <p:cNvPr id="4" name="Rectangle 2">
            <a:extLst>
              <a:ext uri="{FF2B5EF4-FFF2-40B4-BE49-F238E27FC236}">
                <a16:creationId xmlns:a16="http://schemas.microsoft.com/office/drawing/2014/main" id="{A93B2A30-1868-7793-4FB4-0F95301BF89A}"/>
              </a:ext>
            </a:extLst>
          </p:cNvPr>
          <p:cNvSpPr txBox="1">
            <a:spLocks noChangeArrowheads="1"/>
          </p:cNvSpPr>
          <p:nvPr/>
        </p:nvSpPr>
        <p:spPr>
          <a:xfrm>
            <a:off x="381000" y="401346"/>
            <a:ext cx="7772400" cy="38370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2000" b="1">
                <a:latin typeface="+mn-lt"/>
              </a:rPr>
              <a:t>3.1 Comparison Between Existing &amp; New Maintenance Plan</a:t>
            </a:r>
          </a:p>
        </p:txBody>
      </p:sp>
      <p:graphicFrame>
        <p:nvGraphicFramePr>
          <p:cNvPr id="5" name="Table 4">
            <a:extLst>
              <a:ext uri="{FF2B5EF4-FFF2-40B4-BE49-F238E27FC236}">
                <a16:creationId xmlns:a16="http://schemas.microsoft.com/office/drawing/2014/main" id="{07555C8E-02B6-039B-7A42-349F2926853B}"/>
              </a:ext>
            </a:extLst>
          </p:cNvPr>
          <p:cNvGraphicFramePr>
            <a:graphicFrameLocks noGrp="1"/>
          </p:cNvGraphicFramePr>
          <p:nvPr>
            <p:extLst>
              <p:ext uri="{D42A27DB-BD31-4B8C-83A1-F6EECF244321}">
                <p14:modId xmlns:p14="http://schemas.microsoft.com/office/powerpoint/2010/main" val="710605614"/>
              </p:ext>
            </p:extLst>
          </p:nvPr>
        </p:nvGraphicFramePr>
        <p:xfrm>
          <a:off x="398969" y="885387"/>
          <a:ext cx="11241343" cy="5723659"/>
        </p:xfrm>
        <a:graphic>
          <a:graphicData uri="http://schemas.openxmlformats.org/drawingml/2006/table">
            <a:tbl>
              <a:tblPr/>
              <a:tblGrid>
                <a:gridCol w="270495">
                  <a:extLst>
                    <a:ext uri="{9D8B030D-6E8A-4147-A177-3AD203B41FA5}">
                      <a16:colId xmlns:a16="http://schemas.microsoft.com/office/drawing/2014/main" val="1294252608"/>
                    </a:ext>
                  </a:extLst>
                </a:gridCol>
                <a:gridCol w="365695">
                  <a:extLst>
                    <a:ext uri="{9D8B030D-6E8A-4147-A177-3AD203B41FA5}">
                      <a16:colId xmlns:a16="http://schemas.microsoft.com/office/drawing/2014/main" val="1805815740"/>
                    </a:ext>
                  </a:extLst>
                </a:gridCol>
                <a:gridCol w="1612809">
                  <a:extLst>
                    <a:ext uri="{9D8B030D-6E8A-4147-A177-3AD203B41FA5}">
                      <a16:colId xmlns:a16="http://schemas.microsoft.com/office/drawing/2014/main" val="3035394961"/>
                    </a:ext>
                  </a:extLst>
                </a:gridCol>
                <a:gridCol w="1969127">
                  <a:extLst>
                    <a:ext uri="{9D8B030D-6E8A-4147-A177-3AD203B41FA5}">
                      <a16:colId xmlns:a16="http://schemas.microsoft.com/office/drawing/2014/main" val="1701720666"/>
                    </a:ext>
                  </a:extLst>
                </a:gridCol>
                <a:gridCol w="515724">
                  <a:extLst>
                    <a:ext uri="{9D8B030D-6E8A-4147-A177-3AD203B41FA5}">
                      <a16:colId xmlns:a16="http://schemas.microsoft.com/office/drawing/2014/main" val="2609560151"/>
                    </a:ext>
                  </a:extLst>
                </a:gridCol>
                <a:gridCol w="646999">
                  <a:extLst>
                    <a:ext uri="{9D8B030D-6E8A-4147-A177-3AD203B41FA5}">
                      <a16:colId xmlns:a16="http://schemas.microsoft.com/office/drawing/2014/main" val="3929048725"/>
                    </a:ext>
                  </a:extLst>
                </a:gridCol>
                <a:gridCol w="338339">
                  <a:extLst>
                    <a:ext uri="{9D8B030D-6E8A-4147-A177-3AD203B41FA5}">
                      <a16:colId xmlns:a16="http://schemas.microsoft.com/office/drawing/2014/main" val="382295608"/>
                    </a:ext>
                  </a:extLst>
                </a:gridCol>
                <a:gridCol w="261776">
                  <a:extLst>
                    <a:ext uri="{9D8B030D-6E8A-4147-A177-3AD203B41FA5}">
                      <a16:colId xmlns:a16="http://schemas.microsoft.com/office/drawing/2014/main" val="3893606776"/>
                    </a:ext>
                  </a:extLst>
                </a:gridCol>
                <a:gridCol w="356318">
                  <a:extLst>
                    <a:ext uri="{9D8B030D-6E8A-4147-A177-3AD203B41FA5}">
                      <a16:colId xmlns:a16="http://schemas.microsoft.com/office/drawing/2014/main" val="4059290192"/>
                    </a:ext>
                  </a:extLst>
                </a:gridCol>
                <a:gridCol w="1575645">
                  <a:extLst>
                    <a:ext uri="{9D8B030D-6E8A-4147-A177-3AD203B41FA5}">
                      <a16:colId xmlns:a16="http://schemas.microsoft.com/office/drawing/2014/main" val="1762520102"/>
                    </a:ext>
                  </a:extLst>
                </a:gridCol>
                <a:gridCol w="1490472">
                  <a:extLst>
                    <a:ext uri="{9D8B030D-6E8A-4147-A177-3AD203B41FA5}">
                      <a16:colId xmlns:a16="http://schemas.microsoft.com/office/drawing/2014/main" val="2079417516"/>
                    </a:ext>
                  </a:extLst>
                </a:gridCol>
                <a:gridCol w="640080">
                  <a:extLst>
                    <a:ext uri="{9D8B030D-6E8A-4147-A177-3AD203B41FA5}">
                      <a16:colId xmlns:a16="http://schemas.microsoft.com/office/drawing/2014/main" val="44813359"/>
                    </a:ext>
                  </a:extLst>
                </a:gridCol>
                <a:gridCol w="576072">
                  <a:extLst>
                    <a:ext uri="{9D8B030D-6E8A-4147-A177-3AD203B41FA5}">
                      <a16:colId xmlns:a16="http://schemas.microsoft.com/office/drawing/2014/main" val="2932282089"/>
                    </a:ext>
                  </a:extLst>
                </a:gridCol>
                <a:gridCol w="621792">
                  <a:extLst>
                    <a:ext uri="{9D8B030D-6E8A-4147-A177-3AD203B41FA5}">
                      <a16:colId xmlns:a16="http://schemas.microsoft.com/office/drawing/2014/main" val="108536809"/>
                    </a:ext>
                  </a:extLst>
                </a:gridCol>
              </a:tblGrid>
              <a:tr h="134953">
                <a:tc gridSpan="6">
                  <a:txBody>
                    <a:bodyPr/>
                    <a:lstStyle/>
                    <a:p>
                      <a:pPr algn="ctr" fontAlgn="t">
                        <a:buNone/>
                      </a:pPr>
                      <a:r>
                        <a:rPr lang="en-US" sz="1100" b="1" i="0" u="none" strike="noStrike">
                          <a:solidFill>
                            <a:srgbClr val="000000"/>
                          </a:solidFill>
                          <a:effectLst/>
                          <a:latin typeface="Calibri" panose="020F0502020204030204" pitchFamily="34" charset="0"/>
                        </a:rPr>
                        <a:t>Current Maintenance Plan</a:t>
                      </a:r>
                    </a:p>
                  </a:txBody>
                  <a:tcPr marL="3647" marR="3647" marT="3647" marB="0">
                    <a:lnL>
                      <a:noFill/>
                    </a:lnL>
                    <a:lnR w="6350" cap="flat" cmpd="sng" algn="ctr">
                      <a:solidFill>
                        <a:srgbClr val="000000"/>
                      </a:solidFill>
                      <a:prstDash val="solid"/>
                      <a:round/>
                      <a:headEnd type="none" w="med" len="med"/>
                      <a:tailEnd type="none" w="med" len="med"/>
                    </a:lnR>
                    <a:lnT>
                      <a:noFill/>
                    </a:lnT>
                    <a:lnB>
                      <a:noFill/>
                    </a:lnB>
                    <a:solidFill>
                      <a:srgbClr val="FFFF0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3647" marR="3647" marT="36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4472C4"/>
                    </a:solidFill>
                  </a:tcPr>
                </a:tc>
                <a:tc gridSpan="7">
                  <a:txBody>
                    <a:bodyPr/>
                    <a:lstStyle/>
                    <a:p>
                      <a:pPr algn="ctr" fontAlgn="b">
                        <a:buNone/>
                      </a:pPr>
                      <a:r>
                        <a:rPr lang="en-US" sz="1100" b="1" i="0" u="none" strike="noStrike">
                          <a:solidFill>
                            <a:srgbClr val="000000"/>
                          </a:solidFill>
                          <a:effectLst/>
                          <a:latin typeface="Calibri" panose="020F0502020204030204" pitchFamily="34" charset="0"/>
                        </a:rPr>
                        <a:t>RCM Recommended Maintenance Plan</a:t>
                      </a:r>
                    </a:p>
                  </a:txBody>
                  <a:tcPr marL="3647" marR="3647" marT="3647" marB="0" anchor="b">
                    <a:lnL w="6350" cap="flat" cmpd="sng" algn="ctr">
                      <a:solidFill>
                        <a:srgbClr val="000000"/>
                      </a:solidFill>
                      <a:prstDash val="solid"/>
                      <a:round/>
                      <a:headEnd type="none" w="med" len="med"/>
                      <a:tailEnd type="none" w="med" len="med"/>
                    </a:lnL>
                    <a:lnR>
                      <a:noFill/>
                    </a:lnR>
                    <a:lnT>
                      <a:noFill/>
                    </a:lnT>
                    <a:lnB>
                      <a:noFill/>
                    </a:lnB>
                    <a:solidFill>
                      <a:srgbClr val="FFFF0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729969974"/>
                  </a:ext>
                </a:extLst>
              </a:tr>
              <a:tr h="105774">
                <a:tc>
                  <a:txBody>
                    <a:bodyPr/>
                    <a:lstStyle/>
                    <a:p>
                      <a:pPr algn="l" fontAlgn="t">
                        <a:buNone/>
                      </a:pPr>
                      <a:endParaRPr lang="en-US" sz="1000" b="0" i="0" u="none" strike="noStrike">
                        <a:solidFill>
                          <a:srgbClr val="000000"/>
                        </a:solidFill>
                        <a:effectLst/>
                        <a:latin typeface="Calibri" panose="020F0502020204030204" pitchFamily="34" charset="0"/>
                      </a:endParaRPr>
                    </a:p>
                  </a:txBody>
                  <a:tcPr marL="3647" marR="3647" marT="3647" marB="0">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t">
                        <a:buNone/>
                      </a:pPr>
                      <a:endParaRPr lang="en-US" sz="1000" b="0" i="0" u="none" strike="noStrike">
                        <a:solidFill>
                          <a:srgbClr val="000000"/>
                        </a:solidFill>
                        <a:effectLst/>
                        <a:latin typeface="Calibri" panose="020F0502020204030204" pitchFamily="34" charset="0"/>
                      </a:endParaRPr>
                    </a:p>
                  </a:txBody>
                  <a:tcPr marL="3647" marR="3647" marT="3647" marB="0">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t">
                        <a:buNone/>
                      </a:pPr>
                      <a:endParaRPr lang="en-US" sz="1000" b="0" i="0" u="none" strike="noStrike">
                        <a:solidFill>
                          <a:srgbClr val="000000"/>
                        </a:solidFill>
                        <a:effectLst/>
                        <a:latin typeface="Calibri" panose="020F0502020204030204" pitchFamily="34" charset="0"/>
                      </a:endParaRPr>
                    </a:p>
                  </a:txBody>
                  <a:tcPr marL="3647" marR="3647" marT="3647" marB="0">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t">
                        <a:buNone/>
                      </a:pPr>
                      <a:endParaRPr lang="en-US" sz="1000" b="0" i="0" u="none" strike="noStrike">
                        <a:solidFill>
                          <a:srgbClr val="000000"/>
                        </a:solidFill>
                        <a:effectLst/>
                        <a:latin typeface="Calibri" panose="020F0502020204030204" pitchFamily="34" charset="0"/>
                      </a:endParaRPr>
                    </a:p>
                  </a:txBody>
                  <a:tcPr marL="3647" marR="3647" marT="3647" marB="0">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t">
                        <a:buNone/>
                      </a:pPr>
                      <a:endParaRPr lang="en-US" sz="1000" b="0" i="0" u="none" strike="noStrike">
                        <a:solidFill>
                          <a:srgbClr val="000000"/>
                        </a:solidFill>
                        <a:effectLst/>
                        <a:latin typeface="Calibri" panose="020F0502020204030204" pitchFamily="34" charset="0"/>
                      </a:endParaRPr>
                    </a:p>
                  </a:txBody>
                  <a:tcPr marL="3647" marR="3647" marT="3647" marB="0">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t">
                        <a:buNone/>
                      </a:pPr>
                      <a:endParaRPr lang="en-US" sz="1000" b="0" i="0" u="none" strike="noStrike">
                        <a:solidFill>
                          <a:srgbClr val="000000"/>
                        </a:solidFill>
                        <a:effectLst/>
                        <a:latin typeface="Calibri" panose="020F0502020204030204" pitchFamily="34" charset="0"/>
                      </a:endParaRPr>
                    </a:p>
                  </a:txBody>
                  <a:tcPr marL="3647" marR="3647" marT="3647" marB="0">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3647" marR="3647" marT="36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4472C4"/>
                    </a:solidFill>
                  </a:tcPr>
                </a:tc>
                <a:tc>
                  <a:txBody>
                    <a:bodyPr/>
                    <a:lstStyle/>
                    <a:p>
                      <a:pPr algn="l" fontAlgn="t">
                        <a:buNone/>
                      </a:pPr>
                      <a:endParaRPr lang="en-US" sz="1000" b="0" i="0" u="none" strike="noStrike">
                        <a:solidFill>
                          <a:srgbClr val="000000"/>
                        </a:solidFill>
                        <a:effectLst/>
                        <a:latin typeface="Calibri" panose="020F0502020204030204" pitchFamily="34" charset="0"/>
                      </a:endParaRPr>
                    </a:p>
                  </a:txBody>
                  <a:tcPr marL="3647" marR="3647" marT="3647" marB="0">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a:txBody>
                    <a:bodyPr/>
                    <a:lstStyle/>
                    <a:p>
                      <a:pPr algn="l" fontAlgn="t">
                        <a:buNone/>
                      </a:pPr>
                      <a:endParaRPr lang="en-US" sz="1000" b="0" i="0" u="none" strike="noStrike">
                        <a:solidFill>
                          <a:srgbClr val="000000"/>
                        </a:solidFill>
                        <a:effectLst/>
                        <a:latin typeface="Calibri" panose="020F0502020204030204" pitchFamily="34" charset="0"/>
                      </a:endParaRPr>
                    </a:p>
                  </a:txBody>
                  <a:tcPr marL="3647" marR="3647" marT="3647" marB="0">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3647" marR="3647" marT="3647"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3647" marR="3647" marT="3647"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3647" marR="3647" marT="3647"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t">
                        <a:buNone/>
                      </a:pPr>
                      <a:endParaRPr lang="en-US" sz="1000" b="0" i="0" u="none" strike="noStrike">
                        <a:solidFill>
                          <a:srgbClr val="000000"/>
                        </a:solidFill>
                        <a:effectLst/>
                        <a:latin typeface="Calibri" panose="020F0502020204030204" pitchFamily="34" charset="0"/>
                      </a:endParaRPr>
                    </a:p>
                  </a:txBody>
                  <a:tcPr marL="3647" marR="3647" marT="3647" marB="0">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3647" marR="3647" marT="3647" marB="0"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48821180"/>
                  </a:ext>
                </a:extLst>
              </a:tr>
              <a:tr h="140591">
                <a:tc>
                  <a:txBody>
                    <a:bodyPr/>
                    <a:lstStyle/>
                    <a:p>
                      <a:pPr algn="l" fontAlgn="t">
                        <a:buNone/>
                      </a:pPr>
                      <a:r>
                        <a:rPr lang="en-US" sz="1050" b="1" i="0" u="none" strike="noStrike">
                          <a:solidFill>
                            <a:srgbClr val="000000"/>
                          </a:solidFill>
                          <a:effectLst/>
                          <a:latin typeface="Calibri" panose="020F0502020204030204" pitchFamily="34" charset="0"/>
                        </a:rPr>
                        <a:t>No</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50" b="1" i="0" u="none" strike="noStrike">
                          <a:solidFill>
                            <a:srgbClr val="000000"/>
                          </a:solidFill>
                          <a:effectLst/>
                          <a:latin typeface="Calibri" panose="020F0502020204030204" pitchFamily="34" charset="0"/>
                        </a:rPr>
                        <a:t>Ref</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50" b="1" i="0" u="none" strike="noStrike">
                          <a:solidFill>
                            <a:srgbClr val="000000"/>
                          </a:solidFill>
                          <a:effectLst/>
                          <a:latin typeface="Calibri" panose="020F0502020204030204" pitchFamily="34" charset="0"/>
                        </a:rPr>
                        <a:t>Failure Mode</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50" b="1" i="0" u="none" strike="noStrike">
                          <a:solidFill>
                            <a:srgbClr val="000000"/>
                          </a:solidFill>
                          <a:effectLst/>
                          <a:latin typeface="Calibri" panose="020F0502020204030204" pitchFamily="34" charset="0"/>
                        </a:rPr>
                        <a:t>Proposed Task</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50" b="1" i="0" u="none" strike="noStrike">
                          <a:solidFill>
                            <a:srgbClr val="000000"/>
                          </a:solidFill>
                          <a:effectLst/>
                          <a:latin typeface="Calibri" panose="020F0502020204030204" pitchFamily="34" charset="0"/>
                        </a:rPr>
                        <a:t>Interval</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50" b="1" i="0" u="none" strike="noStrike">
                          <a:solidFill>
                            <a:srgbClr val="000000"/>
                          </a:solidFill>
                          <a:effectLst/>
                          <a:latin typeface="Calibri" panose="020F0502020204030204" pitchFamily="34" charset="0"/>
                        </a:rPr>
                        <a:t>Trade</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3647" marR="3647" marT="36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4472C4"/>
                    </a:solidFill>
                  </a:tcPr>
                </a:tc>
                <a:tc>
                  <a:txBody>
                    <a:bodyPr/>
                    <a:lstStyle/>
                    <a:p>
                      <a:pPr algn="l" fontAlgn="t">
                        <a:buNone/>
                      </a:pPr>
                      <a:r>
                        <a:rPr lang="en-US" sz="1050" b="1" i="0" u="none" strike="noStrike">
                          <a:solidFill>
                            <a:srgbClr val="000000"/>
                          </a:solidFill>
                          <a:effectLst/>
                          <a:latin typeface="Calibri" panose="020F0502020204030204" pitchFamily="34" charset="0"/>
                        </a:rPr>
                        <a:t>No</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50" b="1" i="0" u="none" strike="noStrike">
                          <a:solidFill>
                            <a:srgbClr val="000000"/>
                          </a:solidFill>
                          <a:effectLst/>
                          <a:latin typeface="Calibri" panose="020F0502020204030204" pitchFamily="34" charset="0"/>
                        </a:rPr>
                        <a:t>Ref</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50" b="1" i="0" u="none" strike="noStrike">
                          <a:solidFill>
                            <a:srgbClr val="000000"/>
                          </a:solidFill>
                          <a:effectLst/>
                          <a:latin typeface="Calibri" panose="020F0502020204030204" pitchFamily="34" charset="0"/>
                        </a:rPr>
                        <a:t>Failure Mode</a:t>
                      </a:r>
                    </a:p>
                  </a:txBody>
                  <a:tcPr marL="3647" marR="3647" marT="36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50" b="1" i="0" u="none" strike="noStrike">
                          <a:solidFill>
                            <a:srgbClr val="000000"/>
                          </a:solidFill>
                          <a:effectLst/>
                          <a:latin typeface="Calibri" panose="020F0502020204030204" pitchFamily="34" charset="0"/>
                        </a:rPr>
                        <a:t>Proposed Task</a:t>
                      </a:r>
                    </a:p>
                  </a:txBody>
                  <a:tcPr marL="3647" marR="3647" marT="36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50" b="1" i="0" u="none" strike="noStrike">
                          <a:solidFill>
                            <a:srgbClr val="000000"/>
                          </a:solidFill>
                          <a:effectLst/>
                          <a:latin typeface="Calibri" panose="020F0502020204030204" pitchFamily="34" charset="0"/>
                        </a:rPr>
                        <a:t>Interval</a:t>
                      </a:r>
                    </a:p>
                  </a:txBody>
                  <a:tcPr marL="3647" marR="3647" marT="36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50" b="1" i="0" u="none" strike="noStrike">
                          <a:solidFill>
                            <a:srgbClr val="000000"/>
                          </a:solidFill>
                          <a:effectLst/>
                          <a:latin typeface="Calibri" panose="020F0502020204030204" pitchFamily="34" charset="0"/>
                        </a:rPr>
                        <a:t>Trade</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50" b="1" i="0" u="none" strike="noStrike">
                          <a:solidFill>
                            <a:srgbClr val="000000"/>
                          </a:solidFill>
                          <a:effectLst/>
                          <a:latin typeface="Calibri" panose="020F0502020204030204" pitchFamily="34" charset="0"/>
                        </a:rPr>
                        <a:t>Remarks</a:t>
                      </a:r>
                    </a:p>
                  </a:txBody>
                  <a:tcPr marL="3647" marR="3647" marT="36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56949090"/>
                  </a:ext>
                </a:extLst>
              </a:tr>
              <a:tr h="846195">
                <a:tc>
                  <a:txBody>
                    <a:bodyPr/>
                    <a:lstStyle/>
                    <a:p>
                      <a:pPr algn="ctr" fontAlgn="t">
                        <a:buNone/>
                      </a:pPr>
                      <a:r>
                        <a:rPr lang="en-US" sz="1000" b="0" i="0" u="none" strike="noStrike">
                          <a:solidFill>
                            <a:srgbClr val="000000"/>
                          </a:solidFill>
                          <a:effectLst/>
                          <a:latin typeface="Calibri" panose="020F0502020204030204" pitchFamily="34" charset="0"/>
                        </a:rPr>
                        <a:t>1</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01-A-01</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 Core insulation degraded</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Perform Dissolve Gas Analysis (DGA)</a:t>
                      </a:r>
                      <a:br>
                        <a:rPr lang="en-US" sz="1000" b="0" i="0" u="none" strike="noStrike">
                          <a:solidFill>
                            <a:srgbClr val="000000"/>
                          </a:solidFill>
                          <a:effectLst/>
                          <a:latin typeface="Calibri" panose="020F0502020204030204" pitchFamily="34" charset="0"/>
                        </a:rPr>
                      </a:br>
                      <a:br>
                        <a:rPr lang="en-US" sz="1000" b="0" i="0" u="none" strike="noStrike">
                          <a:solidFill>
                            <a:srgbClr val="000000"/>
                          </a:solidFill>
                          <a:effectLst/>
                          <a:latin typeface="Calibri" panose="020F0502020204030204" pitchFamily="34" charset="0"/>
                        </a:rPr>
                      </a:br>
                      <a:r>
                        <a:rPr lang="en-US" sz="1000" b="0" i="0" u="none" strike="noStrike">
                          <a:solidFill>
                            <a:srgbClr val="000000"/>
                          </a:solidFill>
                          <a:effectLst/>
                          <a:latin typeface="Calibri" panose="020F0502020204030204" pitchFamily="34" charset="0"/>
                        </a:rPr>
                        <a:t>Perform Sweep Frequency Response Analysis (SFRA)</a:t>
                      </a:r>
                      <a:br>
                        <a:rPr lang="en-US" sz="1000" b="0" i="0" u="none" strike="noStrike">
                          <a:solidFill>
                            <a:srgbClr val="000000"/>
                          </a:solidFill>
                          <a:effectLst/>
                          <a:latin typeface="Calibri" panose="020F0502020204030204" pitchFamily="34" charset="0"/>
                        </a:rPr>
                      </a:br>
                      <a:br>
                        <a:rPr lang="en-US" sz="1000" b="0" i="0" u="none" strike="noStrike">
                          <a:solidFill>
                            <a:srgbClr val="000000"/>
                          </a:solidFill>
                          <a:effectLst/>
                          <a:latin typeface="Calibri" panose="020F0502020204030204" pitchFamily="34" charset="0"/>
                        </a:rPr>
                      </a:br>
                      <a:r>
                        <a:rPr lang="en-US" sz="1000" b="0" i="0" u="none" strike="noStrike">
                          <a:solidFill>
                            <a:srgbClr val="000000"/>
                          </a:solidFill>
                          <a:effectLst/>
                          <a:latin typeface="Calibri" panose="020F0502020204030204" pitchFamily="34" charset="0"/>
                        </a:rPr>
                        <a:t>Excitation current measurement</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6 months</a:t>
                      </a:r>
                      <a:br>
                        <a:rPr lang="en-US" sz="1000" b="0" i="0" u="none" strike="noStrike">
                          <a:solidFill>
                            <a:srgbClr val="000000"/>
                          </a:solidFill>
                          <a:effectLst/>
                          <a:latin typeface="Calibri" panose="020F0502020204030204" pitchFamily="34" charset="0"/>
                        </a:rPr>
                      </a:br>
                      <a:br>
                        <a:rPr lang="en-US" sz="1000" b="0" i="0" u="none" strike="noStrike">
                          <a:solidFill>
                            <a:srgbClr val="000000"/>
                          </a:solidFill>
                          <a:effectLst/>
                          <a:latin typeface="Calibri" panose="020F0502020204030204" pitchFamily="34" charset="0"/>
                        </a:rPr>
                      </a:br>
                      <a:br>
                        <a:rPr lang="en-US" sz="1000" b="0" i="0" u="none" strike="noStrike">
                          <a:solidFill>
                            <a:srgbClr val="000000"/>
                          </a:solidFill>
                          <a:effectLst/>
                          <a:latin typeface="Calibri" panose="020F0502020204030204" pitchFamily="34" charset="0"/>
                        </a:rPr>
                      </a:br>
                      <a:br>
                        <a:rPr lang="en-US" sz="1000" b="0" i="0" u="none" strike="noStrike">
                          <a:solidFill>
                            <a:srgbClr val="000000"/>
                          </a:solidFill>
                          <a:effectLst/>
                          <a:latin typeface="Calibri" panose="020F0502020204030204" pitchFamily="34" charset="0"/>
                        </a:rPr>
                      </a:br>
                      <a:r>
                        <a:rPr lang="en-US" sz="1000" b="0" i="0" u="none" strike="noStrike">
                          <a:solidFill>
                            <a:srgbClr val="000000"/>
                          </a:solidFill>
                          <a:effectLst/>
                          <a:latin typeface="Calibri" panose="020F0502020204030204" pitchFamily="34" charset="0"/>
                        </a:rPr>
                        <a:t>10 Years</a:t>
                      </a:r>
                      <a:br>
                        <a:rPr lang="en-US" sz="1000" b="0" i="0" u="none" strike="noStrike">
                          <a:solidFill>
                            <a:srgbClr val="000000"/>
                          </a:solidFill>
                          <a:effectLst/>
                          <a:latin typeface="Calibri" panose="020F0502020204030204" pitchFamily="34" charset="0"/>
                        </a:rPr>
                      </a:br>
                      <a:br>
                        <a:rPr lang="en-US" sz="1000" b="0" i="0" u="none" strike="noStrike">
                          <a:solidFill>
                            <a:srgbClr val="000000"/>
                          </a:solidFill>
                          <a:effectLst/>
                          <a:latin typeface="Calibri" panose="020F0502020204030204" pitchFamily="34" charset="0"/>
                        </a:rPr>
                      </a:br>
                      <a:r>
                        <a:rPr lang="en-US" sz="1000" b="0" i="0" u="none" strike="noStrike">
                          <a:solidFill>
                            <a:srgbClr val="000000"/>
                          </a:solidFill>
                          <a:effectLst/>
                          <a:latin typeface="Calibri" panose="020F0502020204030204" pitchFamily="34" charset="0"/>
                        </a:rPr>
                        <a:t>10 Years</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CBSBELEC</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4472C4"/>
                    </a:solidFill>
                  </a:tcPr>
                </a:tc>
                <a:tc>
                  <a:txBody>
                    <a:bodyPr/>
                    <a:lstStyle/>
                    <a:p>
                      <a:pPr algn="ctr" fontAlgn="t">
                        <a:buNone/>
                      </a:pPr>
                      <a:r>
                        <a:rPr lang="en-US" sz="1000" b="0" i="0" u="none" strike="noStrike">
                          <a:solidFill>
                            <a:srgbClr val="000000"/>
                          </a:solidFill>
                          <a:effectLst/>
                          <a:latin typeface="Calibri" panose="020F0502020204030204" pitchFamily="34" charset="0"/>
                        </a:rPr>
                        <a:t>1</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01-A-01</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 Core insulation degraded</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Perform Dissolve Gas Analysis (DGA)</a:t>
                      </a:r>
                      <a:br>
                        <a:rPr lang="en-US" sz="1000" b="0" i="0" u="none" strike="noStrike">
                          <a:solidFill>
                            <a:srgbClr val="000000"/>
                          </a:solidFill>
                          <a:effectLst/>
                          <a:latin typeface="Calibri" panose="020F0502020204030204" pitchFamily="34" charset="0"/>
                        </a:rPr>
                      </a:br>
                      <a:br>
                        <a:rPr lang="en-US" sz="1000" b="0" i="0" u="none" strike="noStrike">
                          <a:solidFill>
                            <a:srgbClr val="000000"/>
                          </a:solidFill>
                          <a:effectLst/>
                          <a:latin typeface="Calibri" panose="020F0502020204030204" pitchFamily="34" charset="0"/>
                        </a:rPr>
                      </a:br>
                      <a:r>
                        <a:rPr lang="en-US" sz="1000" b="0" i="0" u="none" strike="noStrike">
                          <a:solidFill>
                            <a:srgbClr val="000000"/>
                          </a:solidFill>
                          <a:effectLst/>
                          <a:latin typeface="Calibri" panose="020F0502020204030204" pitchFamily="34" charset="0"/>
                        </a:rPr>
                        <a:t>Perform Sweep Frequency Response Analysis (SFRA)</a:t>
                      </a:r>
                      <a:br>
                        <a:rPr lang="en-US" sz="1000" b="0" i="0" u="none" strike="noStrike">
                          <a:solidFill>
                            <a:srgbClr val="000000"/>
                          </a:solidFill>
                          <a:effectLst/>
                          <a:latin typeface="Calibri" panose="020F0502020204030204" pitchFamily="34" charset="0"/>
                        </a:rPr>
                      </a:br>
                      <a:br>
                        <a:rPr lang="en-US" sz="1000" b="0" i="0" u="none" strike="noStrike">
                          <a:solidFill>
                            <a:srgbClr val="000000"/>
                          </a:solidFill>
                          <a:effectLst/>
                          <a:latin typeface="Calibri" panose="020F0502020204030204" pitchFamily="34" charset="0"/>
                        </a:rPr>
                      </a:br>
                      <a:r>
                        <a:rPr lang="en-US" sz="1000" b="0" i="0" u="none" strike="noStrike">
                          <a:solidFill>
                            <a:srgbClr val="000000"/>
                          </a:solidFill>
                          <a:effectLst/>
                          <a:latin typeface="Calibri" panose="020F0502020204030204" pitchFamily="34" charset="0"/>
                        </a:rPr>
                        <a:t>Excitation current measurement</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dirty="0">
                          <a:solidFill>
                            <a:srgbClr val="000000"/>
                          </a:solidFill>
                          <a:effectLst/>
                          <a:latin typeface="Calibri" panose="020F0502020204030204" pitchFamily="34" charset="0"/>
                        </a:rPr>
                        <a:t>6 months</a:t>
                      </a:r>
                      <a:br>
                        <a:rPr lang="en-US" sz="1000" b="0" i="0" u="none" strike="noStrike" dirty="0">
                          <a:solidFill>
                            <a:srgbClr val="000000"/>
                          </a:solidFill>
                          <a:effectLst/>
                          <a:latin typeface="Calibri" panose="020F0502020204030204" pitchFamily="34" charset="0"/>
                        </a:rPr>
                      </a:br>
                      <a:br>
                        <a:rPr lang="en-US" sz="1000" b="0" i="0" u="none" strike="noStrike" dirty="0">
                          <a:solidFill>
                            <a:srgbClr val="000000"/>
                          </a:solidFill>
                          <a:effectLst/>
                          <a:latin typeface="Calibri" panose="020F0502020204030204" pitchFamily="34" charset="0"/>
                        </a:rPr>
                      </a:br>
                      <a:br>
                        <a:rPr lang="en-US" sz="1000" b="0" i="0" u="none" strike="noStrike" dirty="0">
                          <a:solidFill>
                            <a:srgbClr val="000000"/>
                          </a:solidFill>
                          <a:effectLst/>
                          <a:latin typeface="Calibri" panose="020F0502020204030204" pitchFamily="34" charset="0"/>
                        </a:rPr>
                      </a:br>
                      <a:br>
                        <a:rPr lang="en-US" sz="1000" b="0" i="0" u="none" strike="noStrike" dirty="0">
                          <a:solidFill>
                            <a:srgbClr val="000000"/>
                          </a:solidFill>
                          <a:effectLst/>
                          <a:latin typeface="Calibri" panose="020F0502020204030204" pitchFamily="34" charset="0"/>
                        </a:rPr>
                      </a:br>
                      <a:r>
                        <a:rPr lang="en-US" sz="1000" b="0" i="0" u="none" strike="noStrike" dirty="0">
                          <a:solidFill>
                            <a:srgbClr val="000000"/>
                          </a:solidFill>
                          <a:effectLst/>
                          <a:latin typeface="Calibri" panose="020F0502020204030204" pitchFamily="34" charset="0"/>
                        </a:rPr>
                        <a:t>8 Years</a:t>
                      </a:r>
                      <a:br>
                        <a:rPr lang="en-US" sz="1000" b="0" i="0" u="none" strike="noStrike" dirty="0">
                          <a:solidFill>
                            <a:srgbClr val="000000"/>
                          </a:solidFill>
                          <a:effectLst/>
                          <a:latin typeface="Calibri" panose="020F0502020204030204" pitchFamily="34" charset="0"/>
                        </a:rPr>
                      </a:br>
                      <a:br>
                        <a:rPr lang="en-US" sz="1000" b="0" i="0" u="none" strike="noStrike" dirty="0">
                          <a:solidFill>
                            <a:srgbClr val="000000"/>
                          </a:solidFill>
                          <a:effectLst/>
                          <a:latin typeface="Calibri" panose="020F0502020204030204" pitchFamily="34" charset="0"/>
                        </a:rPr>
                      </a:br>
                      <a:br>
                        <a:rPr lang="en-US" sz="1000" b="0" i="0" u="none" strike="noStrike" dirty="0">
                          <a:solidFill>
                            <a:srgbClr val="000000"/>
                          </a:solidFill>
                          <a:effectLst/>
                          <a:latin typeface="Calibri" panose="020F0502020204030204" pitchFamily="34" charset="0"/>
                        </a:rPr>
                      </a:br>
                      <a:r>
                        <a:rPr lang="en-US" sz="1000" b="0" i="0" u="none" strike="noStrike" dirty="0">
                          <a:solidFill>
                            <a:srgbClr val="000000"/>
                          </a:solidFill>
                          <a:effectLst/>
                          <a:latin typeface="Calibri" panose="020F0502020204030204" pitchFamily="34" charset="0"/>
                        </a:rPr>
                        <a:t>8 Years</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CBSBELEC</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No change</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40772269"/>
                  </a:ext>
                </a:extLst>
              </a:tr>
              <a:tr h="196230">
                <a:tc>
                  <a:txBody>
                    <a:bodyPr/>
                    <a:lstStyle/>
                    <a:p>
                      <a:pPr algn="ctr" fontAlgn="t">
                        <a:buNone/>
                      </a:pPr>
                      <a:r>
                        <a:rPr lang="en-US" sz="1000" b="0" i="0" u="none" strike="noStrike">
                          <a:solidFill>
                            <a:srgbClr val="000000"/>
                          </a:solidFill>
                          <a:effectLst/>
                          <a:latin typeface="Calibri" panose="020F0502020204030204" pitchFamily="34" charset="0"/>
                        </a:rPr>
                        <a:t>2</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01-A-02</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HV or LV Winding open circuit</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Winding resistance check</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10 years</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CBSBELEC</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4472C4"/>
                    </a:solidFill>
                  </a:tcPr>
                </a:tc>
                <a:tc>
                  <a:txBody>
                    <a:bodyPr/>
                    <a:lstStyle/>
                    <a:p>
                      <a:pPr algn="ctr" fontAlgn="t">
                        <a:buNone/>
                      </a:pPr>
                      <a:r>
                        <a:rPr lang="en-US" sz="1000" b="0" i="0" u="none" strike="noStrike">
                          <a:solidFill>
                            <a:srgbClr val="000000"/>
                          </a:solidFill>
                          <a:effectLst/>
                          <a:latin typeface="Calibri" panose="020F0502020204030204" pitchFamily="34" charset="0"/>
                        </a:rPr>
                        <a:t>2</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01-A-02</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HV or LV Winding open circuit</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Winding resistance check</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dirty="0">
                          <a:solidFill>
                            <a:srgbClr val="000000"/>
                          </a:solidFill>
                          <a:effectLst/>
                          <a:latin typeface="Calibri" panose="020F0502020204030204" pitchFamily="34" charset="0"/>
                        </a:rPr>
                        <a:t>8 years</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CBSBELEC</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No change</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73939568"/>
                  </a:ext>
                </a:extLst>
              </a:tr>
              <a:tr h="211549">
                <a:tc>
                  <a:txBody>
                    <a:bodyPr/>
                    <a:lstStyle/>
                    <a:p>
                      <a:pPr algn="ctr" fontAlgn="t">
                        <a:buNone/>
                      </a:pPr>
                      <a:r>
                        <a:rPr lang="en-US" sz="1000" b="0" i="0" u="none" strike="noStrike">
                          <a:solidFill>
                            <a:srgbClr val="000000"/>
                          </a:solidFill>
                          <a:effectLst/>
                          <a:latin typeface="Calibri" panose="020F0502020204030204" pitchFamily="34" charset="0"/>
                        </a:rPr>
                        <a:t>3</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01-A-03</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Winding Paper Insulation deteriorate</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Perform Dissolve Gas Analysis (DGA)</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6  months</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CBSELEC</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4472C4"/>
                    </a:solidFill>
                  </a:tcPr>
                </a:tc>
                <a:tc>
                  <a:txBody>
                    <a:bodyPr/>
                    <a:lstStyle/>
                    <a:p>
                      <a:pPr algn="ctr" fontAlgn="t">
                        <a:buNone/>
                      </a:pPr>
                      <a:r>
                        <a:rPr lang="en-US" sz="1000" b="0" i="0" u="none" strike="noStrike">
                          <a:solidFill>
                            <a:srgbClr val="000000"/>
                          </a:solidFill>
                          <a:effectLst/>
                          <a:latin typeface="Calibri" panose="020F0502020204030204" pitchFamily="34" charset="0"/>
                        </a:rPr>
                        <a:t>3</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01-A-03</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Winding Paper Insulation deteriorate</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Perform Dissolve Gas Analysis (DGA)</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6  months</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CBSELEC</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No change</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97941646"/>
                  </a:ext>
                </a:extLst>
              </a:tr>
              <a:tr h="196230">
                <a:tc>
                  <a:txBody>
                    <a:bodyPr/>
                    <a:lstStyle/>
                    <a:p>
                      <a:pPr algn="ctr" fontAlgn="t">
                        <a:buNone/>
                      </a:pPr>
                      <a:r>
                        <a:rPr lang="en-US" sz="1000" b="0" i="0" u="none" strike="noStrike">
                          <a:solidFill>
                            <a:srgbClr val="000000"/>
                          </a:solidFill>
                          <a:effectLst/>
                          <a:latin typeface="Calibri" panose="020F0502020204030204" pitchFamily="34" charset="0"/>
                        </a:rPr>
                        <a:t>4</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01-A-04</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Winding partial discharge</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Perform partial discharge</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6 months</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CBSBELEC</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4472C4"/>
                    </a:solidFill>
                  </a:tcPr>
                </a:tc>
                <a:tc>
                  <a:txBody>
                    <a:bodyPr/>
                    <a:lstStyle/>
                    <a:p>
                      <a:pPr algn="ctr" fontAlgn="t">
                        <a:buNone/>
                      </a:pPr>
                      <a:r>
                        <a:rPr lang="en-US" sz="1000" b="0" i="0" u="none" strike="noStrike">
                          <a:solidFill>
                            <a:srgbClr val="000000"/>
                          </a:solidFill>
                          <a:effectLst/>
                          <a:latin typeface="Calibri" panose="020F0502020204030204" pitchFamily="34" charset="0"/>
                        </a:rPr>
                        <a:t>4</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01-A-04</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Winding partial discharge</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Perform partial discharge</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6 months</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CBSBELEC</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No change</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46675070"/>
                  </a:ext>
                </a:extLst>
              </a:tr>
              <a:tr h="211549">
                <a:tc>
                  <a:txBody>
                    <a:bodyPr/>
                    <a:lstStyle/>
                    <a:p>
                      <a:pPr algn="ctr" fontAlgn="t">
                        <a:buNone/>
                      </a:pPr>
                      <a:r>
                        <a:rPr lang="en-US" sz="1000" b="0" i="0" u="none" strike="noStrike">
                          <a:solidFill>
                            <a:srgbClr val="000000"/>
                          </a:solidFill>
                          <a:effectLst/>
                          <a:latin typeface="Calibri" panose="020F0502020204030204" pitchFamily="34" charset="0"/>
                        </a:rPr>
                        <a:t>5</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01-A-05</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Transformer oil quality degraded</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Perform Dissolve Gas Analysis (DGA)</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6  months</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CBSELEC</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4472C4"/>
                    </a:solidFill>
                  </a:tcPr>
                </a:tc>
                <a:tc>
                  <a:txBody>
                    <a:bodyPr/>
                    <a:lstStyle/>
                    <a:p>
                      <a:pPr algn="ctr" fontAlgn="t">
                        <a:buNone/>
                      </a:pPr>
                      <a:r>
                        <a:rPr lang="en-US" sz="1000" b="0" i="0" u="none" strike="noStrike">
                          <a:solidFill>
                            <a:srgbClr val="000000"/>
                          </a:solidFill>
                          <a:effectLst/>
                          <a:latin typeface="Calibri" panose="020F0502020204030204" pitchFamily="34" charset="0"/>
                        </a:rPr>
                        <a:t>5</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01-A-05</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Transformer oil quality degraded</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Perform Dissolve Gas Analysis (DGA)</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6  months</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CBSELEC</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No change</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82496204"/>
                  </a:ext>
                </a:extLst>
              </a:tr>
              <a:tr h="196230">
                <a:tc>
                  <a:txBody>
                    <a:bodyPr/>
                    <a:lstStyle/>
                    <a:p>
                      <a:pPr algn="ctr" fontAlgn="t">
                        <a:buNone/>
                      </a:pPr>
                      <a:r>
                        <a:rPr lang="en-US" sz="1000" b="0" i="0" u="none" strike="noStrike">
                          <a:solidFill>
                            <a:srgbClr val="000000"/>
                          </a:solidFill>
                          <a:effectLst/>
                          <a:latin typeface="Calibri" panose="020F0502020204030204" pitchFamily="34" charset="0"/>
                        </a:rPr>
                        <a:t>6</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01-A-06</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HV Bushing Short to Ground </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Perform thermography</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1 month</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CBSBELEC</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4472C4"/>
                    </a:solidFill>
                  </a:tcPr>
                </a:tc>
                <a:tc>
                  <a:txBody>
                    <a:bodyPr/>
                    <a:lstStyle/>
                    <a:p>
                      <a:pPr algn="ctr" fontAlgn="t">
                        <a:buNone/>
                      </a:pPr>
                      <a:r>
                        <a:rPr lang="en-US" sz="1000" b="0" i="0" u="none" strike="noStrike">
                          <a:solidFill>
                            <a:srgbClr val="000000"/>
                          </a:solidFill>
                          <a:effectLst/>
                          <a:latin typeface="Calibri" panose="020F0502020204030204" pitchFamily="34" charset="0"/>
                        </a:rPr>
                        <a:t>6</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01-A-06</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HV Bushing Short to Ground </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Perform thermography</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1 month</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CBSBELEC</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No change</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56937731"/>
                  </a:ext>
                </a:extLst>
              </a:tr>
              <a:tr h="196230">
                <a:tc>
                  <a:txBody>
                    <a:bodyPr/>
                    <a:lstStyle/>
                    <a:p>
                      <a:pPr algn="ctr" fontAlgn="t">
                        <a:buNone/>
                      </a:pPr>
                      <a:r>
                        <a:rPr lang="en-US" sz="1000" b="0" i="0" u="none" strike="noStrike">
                          <a:solidFill>
                            <a:srgbClr val="000000"/>
                          </a:solidFill>
                          <a:effectLst/>
                          <a:latin typeface="Calibri" panose="020F0502020204030204" pitchFamily="34" charset="0"/>
                        </a:rPr>
                        <a:t>7</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01-A-07</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HV Bushing Contamination</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Perform cleaning </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10 years</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CBSBELEC</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4472C4"/>
                    </a:solidFill>
                  </a:tcPr>
                </a:tc>
                <a:tc>
                  <a:txBody>
                    <a:bodyPr/>
                    <a:lstStyle/>
                    <a:p>
                      <a:pPr algn="ctr" fontAlgn="t">
                        <a:buNone/>
                      </a:pPr>
                      <a:r>
                        <a:rPr lang="en-US" sz="1000" b="0" i="0" u="none" strike="noStrike">
                          <a:solidFill>
                            <a:srgbClr val="000000"/>
                          </a:solidFill>
                          <a:effectLst/>
                          <a:latin typeface="Calibri" panose="020F0502020204030204" pitchFamily="34" charset="0"/>
                        </a:rPr>
                        <a:t>7</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01-A-07</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HV Bushing Contamination</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dirty="0">
                          <a:solidFill>
                            <a:srgbClr val="000000"/>
                          </a:solidFill>
                          <a:effectLst/>
                          <a:latin typeface="Calibri" panose="020F0502020204030204" pitchFamily="34" charset="0"/>
                        </a:rPr>
                        <a:t>Perform cleaning </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dirty="0">
                          <a:solidFill>
                            <a:srgbClr val="000000"/>
                          </a:solidFill>
                          <a:effectLst/>
                          <a:latin typeface="Calibri" panose="020F0502020204030204" pitchFamily="34" charset="0"/>
                        </a:rPr>
                        <a:t>8 years</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CBSBELEC</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No change</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4878510"/>
                  </a:ext>
                </a:extLst>
              </a:tr>
              <a:tr h="196230">
                <a:tc>
                  <a:txBody>
                    <a:bodyPr/>
                    <a:lstStyle/>
                    <a:p>
                      <a:pPr algn="ctr" fontAlgn="t">
                        <a:buNone/>
                      </a:pPr>
                      <a:r>
                        <a:rPr lang="en-US" sz="1000" b="0" i="0" u="none" strike="noStrike">
                          <a:solidFill>
                            <a:srgbClr val="000000"/>
                          </a:solidFill>
                          <a:effectLst/>
                          <a:latin typeface="Calibri" panose="020F0502020204030204" pitchFamily="34" charset="0"/>
                        </a:rPr>
                        <a:t>8</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01-A-08</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LV Bushing Contamination</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Perform cleaning </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10 years</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CBSBELEC</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4472C4"/>
                    </a:solidFill>
                  </a:tcPr>
                </a:tc>
                <a:tc>
                  <a:txBody>
                    <a:bodyPr/>
                    <a:lstStyle/>
                    <a:p>
                      <a:pPr algn="ctr" fontAlgn="t">
                        <a:buNone/>
                      </a:pPr>
                      <a:r>
                        <a:rPr lang="en-US" sz="1000" b="0" i="0" u="none" strike="noStrike">
                          <a:solidFill>
                            <a:srgbClr val="000000"/>
                          </a:solidFill>
                          <a:effectLst/>
                          <a:latin typeface="Calibri" panose="020F0502020204030204" pitchFamily="34" charset="0"/>
                        </a:rPr>
                        <a:t>8</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01-A-08</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LV Bushing Contamination</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Perform cleaning </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dirty="0">
                          <a:solidFill>
                            <a:srgbClr val="000000"/>
                          </a:solidFill>
                          <a:effectLst/>
                          <a:latin typeface="Calibri" panose="020F0502020204030204" pitchFamily="34" charset="0"/>
                        </a:rPr>
                        <a:t>8 years</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CBSBELEC</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No change</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2094605"/>
                  </a:ext>
                </a:extLst>
              </a:tr>
              <a:tr h="196230">
                <a:tc>
                  <a:txBody>
                    <a:bodyPr/>
                    <a:lstStyle/>
                    <a:p>
                      <a:pPr algn="ctr" fontAlgn="t">
                        <a:buNone/>
                      </a:pPr>
                      <a:r>
                        <a:rPr lang="en-US" sz="1000" b="0" i="0" u="none" strike="noStrike">
                          <a:solidFill>
                            <a:srgbClr val="000000"/>
                          </a:solidFill>
                          <a:effectLst/>
                          <a:latin typeface="Calibri" panose="020F0502020204030204" pitchFamily="34" charset="0"/>
                        </a:rPr>
                        <a:t>9</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01-A-10</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HV Bushing Crack</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Perform thermography</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1 month</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CBSBELEC</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4472C4"/>
                    </a:solidFill>
                  </a:tcPr>
                </a:tc>
                <a:tc>
                  <a:txBody>
                    <a:bodyPr/>
                    <a:lstStyle/>
                    <a:p>
                      <a:pPr algn="ctr" fontAlgn="t">
                        <a:buNone/>
                      </a:pPr>
                      <a:r>
                        <a:rPr lang="en-US" sz="1000" b="0" i="0" u="none" strike="noStrike">
                          <a:solidFill>
                            <a:srgbClr val="000000"/>
                          </a:solidFill>
                          <a:effectLst/>
                          <a:latin typeface="Calibri" panose="020F0502020204030204" pitchFamily="34" charset="0"/>
                        </a:rPr>
                        <a:t>9</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01-A-10</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HV Bushing Crack</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Perform thermography</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1 month</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CBSBELEC</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No change</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76274792"/>
                  </a:ext>
                </a:extLst>
              </a:tr>
              <a:tr h="211549">
                <a:tc>
                  <a:txBody>
                    <a:bodyPr/>
                    <a:lstStyle/>
                    <a:p>
                      <a:pPr algn="ctr" fontAlgn="t">
                        <a:buNone/>
                      </a:pPr>
                      <a:r>
                        <a:rPr lang="en-US" sz="1000" b="0" i="0" u="none" strike="noStrike">
                          <a:solidFill>
                            <a:srgbClr val="000000"/>
                          </a:solidFill>
                          <a:effectLst/>
                          <a:latin typeface="Calibri" panose="020F0502020204030204" pitchFamily="34" charset="0"/>
                        </a:rPr>
                        <a:t>10</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01-B-01</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Core deformation</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Excitation current measurement</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10 years</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CBSBELEC</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4472C4"/>
                    </a:solidFill>
                  </a:tcPr>
                </a:tc>
                <a:tc>
                  <a:txBody>
                    <a:bodyPr/>
                    <a:lstStyle/>
                    <a:p>
                      <a:pPr algn="ctr" fontAlgn="t">
                        <a:buNone/>
                      </a:pPr>
                      <a:r>
                        <a:rPr lang="en-US" sz="1000" b="0" i="0" u="none" strike="noStrike">
                          <a:solidFill>
                            <a:srgbClr val="000000"/>
                          </a:solidFill>
                          <a:effectLst/>
                          <a:latin typeface="Calibri" panose="020F0502020204030204" pitchFamily="34" charset="0"/>
                        </a:rPr>
                        <a:t>10</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01-B-01</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Core deformation</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Excitation current measurement</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dirty="0">
                          <a:solidFill>
                            <a:srgbClr val="000000"/>
                          </a:solidFill>
                          <a:effectLst/>
                          <a:latin typeface="Calibri" panose="020F0502020204030204" pitchFamily="34" charset="0"/>
                        </a:rPr>
                        <a:t>8 years</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CBSBELEC</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No change</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51473598"/>
                  </a:ext>
                </a:extLst>
              </a:tr>
              <a:tr h="211549">
                <a:tc>
                  <a:txBody>
                    <a:bodyPr/>
                    <a:lstStyle/>
                    <a:p>
                      <a:pPr algn="ctr" fontAlgn="t">
                        <a:buNone/>
                      </a:pPr>
                      <a:r>
                        <a:rPr lang="en-US" sz="1000" b="0" i="0" u="none" strike="noStrike">
                          <a:solidFill>
                            <a:srgbClr val="000000"/>
                          </a:solidFill>
                          <a:effectLst/>
                          <a:latin typeface="Calibri" panose="020F0502020204030204" pitchFamily="34" charset="0"/>
                        </a:rPr>
                        <a:t>11</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01-B-02</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Winding Deformation or Displacement</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Perform Sweep Frequency Response Analysis (SFRA)</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6 months</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CBSBELEC</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4472C4"/>
                    </a:solidFill>
                  </a:tcPr>
                </a:tc>
                <a:tc>
                  <a:txBody>
                    <a:bodyPr/>
                    <a:lstStyle/>
                    <a:p>
                      <a:pPr algn="ctr" fontAlgn="t">
                        <a:buNone/>
                      </a:pPr>
                      <a:r>
                        <a:rPr lang="en-US" sz="1000" b="0" i="0" u="none" strike="noStrike">
                          <a:solidFill>
                            <a:srgbClr val="000000"/>
                          </a:solidFill>
                          <a:effectLst/>
                          <a:latin typeface="Calibri" panose="020F0502020204030204" pitchFamily="34" charset="0"/>
                        </a:rPr>
                        <a:t>11</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01-B-02</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Winding Deformation or Displacement</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dirty="0">
                          <a:solidFill>
                            <a:srgbClr val="000000"/>
                          </a:solidFill>
                          <a:effectLst/>
                          <a:latin typeface="Calibri" panose="020F0502020204030204" pitchFamily="34" charset="0"/>
                        </a:rPr>
                        <a:t>Perform Sweep Frequency Response Analysis (SFRA)</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6 months</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CBSBELEC</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No change</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30018856"/>
                  </a:ext>
                </a:extLst>
              </a:tr>
              <a:tr h="211549">
                <a:tc>
                  <a:txBody>
                    <a:bodyPr/>
                    <a:lstStyle/>
                    <a:p>
                      <a:pPr algn="ctr" fontAlgn="t">
                        <a:buNone/>
                      </a:pPr>
                      <a:r>
                        <a:rPr lang="en-US" sz="1000" b="0" i="0" u="none" strike="noStrike">
                          <a:solidFill>
                            <a:srgbClr val="000000"/>
                          </a:solidFill>
                          <a:effectLst/>
                          <a:latin typeface="Calibri" panose="020F0502020204030204" pitchFamily="34" charset="0"/>
                        </a:rPr>
                        <a:t>12</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02-B-03</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Arcing due to Tap contact high resistance</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Perform OLTC servicing / overhaul</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10 years</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CBSBELEC</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4472C4"/>
                    </a:solidFill>
                  </a:tcPr>
                </a:tc>
                <a:tc>
                  <a:txBody>
                    <a:bodyPr/>
                    <a:lstStyle/>
                    <a:p>
                      <a:pPr algn="ctr" fontAlgn="t">
                        <a:buNone/>
                      </a:pPr>
                      <a:r>
                        <a:rPr lang="en-US" sz="1000" b="0" i="0" u="none" strike="noStrike">
                          <a:solidFill>
                            <a:srgbClr val="000000"/>
                          </a:solidFill>
                          <a:effectLst/>
                          <a:latin typeface="Calibri" panose="020F0502020204030204" pitchFamily="34" charset="0"/>
                        </a:rPr>
                        <a:t>12</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02-B-03</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Arcing due to Tap contact high resistance</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Perform OLTC servicing / overhaul</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dirty="0">
                          <a:solidFill>
                            <a:srgbClr val="000000"/>
                          </a:solidFill>
                          <a:effectLst/>
                          <a:latin typeface="Calibri" panose="020F0502020204030204" pitchFamily="34" charset="0"/>
                        </a:rPr>
                        <a:t>8 years</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CBSBELEC</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No change</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80262207"/>
                  </a:ext>
                </a:extLst>
              </a:tr>
              <a:tr h="211549">
                <a:tc>
                  <a:txBody>
                    <a:bodyPr/>
                    <a:lstStyle/>
                    <a:p>
                      <a:pPr algn="ctr" fontAlgn="t">
                        <a:buNone/>
                      </a:pPr>
                      <a:r>
                        <a:rPr lang="en-US" sz="1000" b="0" i="0" u="none" strike="noStrike">
                          <a:solidFill>
                            <a:srgbClr val="000000"/>
                          </a:solidFill>
                          <a:effectLst/>
                          <a:latin typeface="Calibri" panose="020F0502020204030204" pitchFamily="34" charset="0"/>
                        </a:rPr>
                        <a:t>13</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03-A-05</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Dehumidifier silica gel exhausted</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Visual inspection (change in color)</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1 month</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CBSBELEC</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4472C4"/>
                    </a:solidFill>
                  </a:tcPr>
                </a:tc>
                <a:tc>
                  <a:txBody>
                    <a:bodyPr/>
                    <a:lstStyle/>
                    <a:p>
                      <a:pPr algn="ctr" fontAlgn="t">
                        <a:buNone/>
                      </a:pPr>
                      <a:r>
                        <a:rPr lang="en-US" sz="1000" b="0" i="0" u="none" strike="noStrike">
                          <a:solidFill>
                            <a:srgbClr val="000000"/>
                          </a:solidFill>
                          <a:effectLst/>
                          <a:latin typeface="Calibri" panose="020F0502020204030204" pitchFamily="34" charset="0"/>
                        </a:rPr>
                        <a:t>13</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03-A-05</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Dehumidifier silica gel exhausted</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Visual inspection (change in color)</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1 month</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CBSBELEC</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No change</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26052329"/>
                  </a:ext>
                </a:extLst>
              </a:tr>
              <a:tr h="196230">
                <a:tc>
                  <a:txBody>
                    <a:bodyPr/>
                    <a:lstStyle/>
                    <a:p>
                      <a:pPr algn="ctr" fontAlgn="t">
                        <a:buNone/>
                      </a:pPr>
                      <a:r>
                        <a:rPr lang="en-US" sz="1000" b="0" i="0" u="none" strike="noStrike">
                          <a:solidFill>
                            <a:srgbClr val="000000"/>
                          </a:solidFill>
                          <a:effectLst/>
                          <a:latin typeface="Calibri" panose="020F0502020204030204" pitchFamily="34" charset="0"/>
                        </a:rPr>
                        <a:t>14</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05-A-02</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Bucholz relay open circuit</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Transformer Guard Test</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4 years</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CBSBELEC</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4472C4"/>
                    </a:solidFill>
                  </a:tcPr>
                </a:tc>
                <a:tc>
                  <a:txBody>
                    <a:bodyPr/>
                    <a:lstStyle/>
                    <a:p>
                      <a:pPr algn="ctr" fontAlgn="t">
                        <a:buNone/>
                      </a:pPr>
                      <a:r>
                        <a:rPr lang="en-US" sz="1000" b="0" i="0" u="none" strike="noStrike">
                          <a:solidFill>
                            <a:srgbClr val="000000"/>
                          </a:solidFill>
                          <a:effectLst/>
                          <a:latin typeface="Calibri" panose="020F0502020204030204" pitchFamily="34" charset="0"/>
                        </a:rPr>
                        <a:t>14</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05-A-02</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Bucholz relay open circuit</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Transformer Guard Test</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4 years</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CBSBELEC</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dirty="0">
                          <a:solidFill>
                            <a:srgbClr val="000000"/>
                          </a:solidFill>
                          <a:effectLst/>
                          <a:latin typeface="Calibri" panose="020F0502020204030204" pitchFamily="34" charset="0"/>
                        </a:rPr>
                        <a:t>No change</a:t>
                      </a:r>
                    </a:p>
                  </a:txBody>
                  <a:tcPr marL="3647" marR="3647" marT="364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16210666"/>
                  </a:ext>
                </a:extLst>
              </a:tr>
            </a:tbl>
          </a:graphicData>
        </a:graphic>
      </p:graphicFrame>
      <p:sp>
        <p:nvSpPr>
          <p:cNvPr id="6" name="Slide Number Placeholder 14352">
            <a:extLst>
              <a:ext uri="{FF2B5EF4-FFF2-40B4-BE49-F238E27FC236}">
                <a16:creationId xmlns:a16="http://schemas.microsoft.com/office/drawing/2014/main" id="{3CDA7BF1-34B7-AFD5-38B0-9A94AB238BC2}"/>
              </a:ext>
            </a:extLst>
          </p:cNvPr>
          <p:cNvSpPr txBox="1">
            <a:spLocks/>
          </p:cNvSpPr>
          <p:nvPr/>
        </p:nvSpPr>
        <p:spPr>
          <a:xfrm>
            <a:off x="9380560" y="6518434"/>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6</a:t>
            </a:r>
          </a:p>
        </p:txBody>
      </p:sp>
    </p:spTree>
    <p:extLst>
      <p:ext uri="{BB962C8B-B14F-4D97-AF65-F5344CB8AC3E}">
        <p14:creationId xmlns:p14="http://schemas.microsoft.com/office/powerpoint/2010/main" val="2200010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 name="Picture 347">
            <a:extLst>
              <a:ext uri="{FF2B5EF4-FFF2-40B4-BE49-F238E27FC236}">
                <a16:creationId xmlns:a16="http://schemas.microsoft.com/office/drawing/2014/main" id="{F3683BE6-9B66-444A-8EF4-87EDE88C6DDA}"/>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t="13483" b="26966"/>
          <a:stretch/>
        </p:blipFill>
        <p:spPr bwMode="auto">
          <a:xfrm>
            <a:off x="10748507" y="80255"/>
            <a:ext cx="1225443" cy="473074"/>
          </a:xfrm>
          <a:prstGeom prst="rect">
            <a:avLst/>
          </a:prstGeom>
          <a:noFill/>
          <a:ln>
            <a:noFill/>
          </a:ln>
          <a:extLst>
            <a:ext uri="{53640926-AAD7-44D8-BBD7-CCE9431645EC}">
              <a14:shadowObscured xmlns:a14="http://schemas.microsoft.com/office/drawing/2010/main"/>
            </a:ext>
          </a:extLst>
        </p:spPr>
      </p:pic>
      <p:cxnSp>
        <p:nvCxnSpPr>
          <p:cNvPr id="350" name="Straight Connector 349">
            <a:extLst>
              <a:ext uri="{FF2B5EF4-FFF2-40B4-BE49-F238E27FC236}">
                <a16:creationId xmlns:a16="http://schemas.microsoft.com/office/drawing/2014/main" id="{84EFE9C2-03E0-4415-AC4B-C36058A9DFB0}"/>
              </a:ext>
            </a:extLst>
          </p:cNvPr>
          <p:cNvCxnSpPr/>
          <p:nvPr/>
        </p:nvCxnSpPr>
        <p:spPr>
          <a:xfrm>
            <a:off x="152399" y="762000"/>
            <a:ext cx="10607040" cy="0"/>
          </a:xfrm>
          <a:prstGeom prst="line">
            <a:avLst/>
          </a:prstGeom>
        </p:spPr>
        <p:style>
          <a:lnRef idx="3">
            <a:schemeClr val="accent3"/>
          </a:lnRef>
          <a:fillRef idx="0">
            <a:schemeClr val="accent3"/>
          </a:fillRef>
          <a:effectRef idx="2">
            <a:schemeClr val="accent3"/>
          </a:effectRef>
          <a:fontRef idx="minor">
            <a:schemeClr val="tx1"/>
          </a:fontRef>
        </p:style>
      </p:cxnSp>
      <p:sp>
        <p:nvSpPr>
          <p:cNvPr id="2" name="Rectangle 2">
            <a:extLst>
              <a:ext uri="{FF2B5EF4-FFF2-40B4-BE49-F238E27FC236}">
                <a16:creationId xmlns:a16="http://schemas.microsoft.com/office/drawing/2014/main" id="{AB5E869B-6224-3D5A-4503-0BAC4B9BDB08}"/>
              </a:ext>
            </a:extLst>
          </p:cNvPr>
          <p:cNvSpPr txBox="1">
            <a:spLocks noChangeArrowheads="1"/>
          </p:cNvSpPr>
          <p:nvPr/>
        </p:nvSpPr>
        <p:spPr>
          <a:xfrm>
            <a:off x="381000" y="84976"/>
            <a:ext cx="7772400" cy="48404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2400" b="1">
                <a:latin typeface="+mn-lt"/>
              </a:rPr>
              <a:t>3. ANALYSIS</a:t>
            </a:r>
          </a:p>
        </p:txBody>
      </p:sp>
      <p:sp>
        <p:nvSpPr>
          <p:cNvPr id="3" name="Rectangle 2">
            <a:extLst>
              <a:ext uri="{FF2B5EF4-FFF2-40B4-BE49-F238E27FC236}">
                <a16:creationId xmlns:a16="http://schemas.microsoft.com/office/drawing/2014/main" id="{B2C94962-3346-547C-5AAB-EC0B2BEA0147}"/>
              </a:ext>
            </a:extLst>
          </p:cNvPr>
          <p:cNvSpPr txBox="1">
            <a:spLocks noChangeArrowheads="1"/>
          </p:cNvSpPr>
          <p:nvPr/>
        </p:nvSpPr>
        <p:spPr>
          <a:xfrm>
            <a:off x="381000" y="401346"/>
            <a:ext cx="7772400" cy="38370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2000" b="1">
                <a:latin typeface="+mn-lt"/>
              </a:rPr>
              <a:t>3.1 Comparison Between Existing &amp; New Maintenance Plan</a:t>
            </a:r>
          </a:p>
        </p:txBody>
      </p:sp>
      <p:graphicFrame>
        <p:nvGraphicFramePr>
          <p:cNvPr id="5" name="Table 4">
            <a:extLst>
              <a:ext uri="{FF2B5EF4-FFF2-40B4-BE49-F238E27FC236}">
                <a16:creationId xmlns:a16="http://schemas.microsoft.com/office/drawing/2014/main" id="{11DCE2E4-DA2B-678B-039F-6BBE1E0A5FBD}"/>
              </a:ext>
            </a:extLst>
          </p:cNvPr>
          <p:cNvGraphicFramePr>
            <a:graphicFrameLocks noGrp="1"/>
          </p:cNvGraphicFramePr>
          <p:nvPr>
            <p:extLst>
              <p:ext uri="{D42A27DB-BD31-4B8C-83A1-F6EECF244321}">
                <p14:modId xmlns:p14="http://schemas.microsoft.com/office/powerpoint/2010/main" val="1336265612"/>
              </p:ext>
            </p:extLst>
          </p:nvPr>
        </p:nvGraphicFramePr>
        <p:xfrm>
          <a:off x="497718" y="885387"/>
          <a:ext cx="11160883" cy="5277628"/>
        </p:xfrm>
        <a:graphic>
          <a:graphicData uri="http://schemas.openxmlformats.org/drawingml/2006/table">
            <a:tbl>
              <a:tblPr/>
              <a:tblGrid>
                <a:gridCol w="172623">
                  <a:extLst>
                    <a:ext uri="{9D8B030D-6E8A-4147-A177-3AD203B41FA5}">
                      <a16:colId xmlns:a16="http://schemas.microsoft.com/office/drawing/2014/main" val="3555257579"/>
                    </a:ext>
                  </a:extLst>
                </a:gridCol>
                <a:gridCol w="274254">
                  <a:extLst>
                    <a:ext uri="{9D8B030D-6E8A-4147-A177-3AD203B41FA5}">
                      <a16:colId xmlns:a16="http://schemas.microsoft.com/office/drawing/2014/main" val="1257494972"/>
                    </a:ext>
                  </a:extLst>
                </a:gridCol>
                <a:gridCol w="1687271">
                  <a:extLst>
                    <a:ext uri="{9D8B030D-6E8A-4147-A177-3AD203B41FA5}">
                      <a16:colId xmlns:a16="http://schemas.microsoft.com/office/drawing/2014/main" val="3885517735"/>
                    </a:ext>
                  </a:extLst>
                </a:gridCol>
                <a:gridCol w="1831377">
                  <a:extLst>
                    <a:ext uri="{9D8B030D-6E8A-4147-A177-3AD203B41FA5}">
                      <a16:colId xmlns:a16="http://schemas.microsoft.com/office/drawing/2014/main" val="2846407343"/>
                    </a:ext>
                  </a:extLst>
                </a:gridCol>
                <a:gridCol w="762299">
                  <a:extLst>
                    <a:ext uri="{9D8B030D-6E8A-4147-A177-3AD203B41FA5}">
                      <a16:colId xmlns:a16="http://schemas.microsoft.com/office/drawing/2014/main" val="3416262008"/>
                    </a:ext>
                  </a:extLst>
                </a:gridCol>
                <a:gridCol w="557780">
                  <a:extLst>
                    <a:ext uri="{9D8B030D-6E8A-4147-A177-3AD203B41FA5}">
                      <a16:colId xmlns:a16="http://schemas.microsoft.com/office/drawing/2014/main" val="1874357103"/>
                    </a:ext>
                  </a:extLst>
                </a:gridCol>
                <a:gridCol w="334668">
                  <a:extLst>
                    <a:ext uri="{9D8B030D-6E8A-4147-A177-3AD203B41FA5}">
                      <a16:colId xmlns:a16="http://schemas.microsoft.com/office/drawing/2014/main" val="3779418212"/>
                    </a:ext>
                  </a:extLst>
                </a:gridCol>
                <a:gridCol w="185927">
                  <a:extLst>
                    <a:ext uri="{9D8B030D-6E8A-4147-A177-3AD203B41FA5}">
                      <a16:colId xmlns:a16="http://schemas.microsoft.com/office/drawing/2014/main" val="1057771448"/>
                    </a:ext>
                  </a:extLst>
                </a:gridCol>
                <a:gridCol w="372837">
                  <a:extLst>
                    <a:ext uri="{9D8B030D-6E8A-4147-A177-3AD203B41FA5}">
                      <a16:colId xmlns:a16="http://schemas.microsoft.com/office/drawing/2014/main" val="728483118"/>
                    </a:ext>
                  </a:extLst>
                </a:gridCol>
                <a:gridCol w="1783911">
                  <a:extLst>
                    <a:ext uri="{9D8B030D-6E8A-4147-A177-3AD203B41FA5}">
                      <a16:colId xmlns:a16="http://schemas.microsoft.com/office/drawing/2014/main" val="3597802948"/>
                    </a:ext>
                  </a:extLst>
                </a:gridCol>
                <a:gridCol w="1433143">
                  <a:extLst>
                    <a:ext uri="{9D8B030D-6E8A-4147-A177-3AD203B41FA5}">
                      <a16:colId xmlns:a16="http://schemas.microsoft.com/office/drawing/2014/main" val="120610653"/>
                    </a:ext>
                  </a:extLst>
                </a:gridCol>
                <a:gridCol w="603504">
                  <a:extLst>
                    <a:ext uri="{9D8B030D-6E8A-4147-A177-3AD203B41FA5}">
                      <a16:colId xmlns:a16="http://schemas.microsoft.com/office/drawing/2014/main" val="1130515500"/>
                    </a:ext>
                  </a:extLst>
                </a:gridCol>
                <a:gridCol w="548640">
                  <a:extLst>
                    <a:ext uri="{9D8B030D-6E8A-4147-A177-3AD203B41FA5}">
                      <a16:colId xmlns:a16="http://schemas.microsoft.com/office/drawing/2014/main" val="2519154860"/>
                    </a:ext>
                  </a:extLst>
                </a:gridCol>
                <a:gridCol w="612649">
                  <a:extLst>
                    <a:ext uri="{9D8B030D-6E8A-4147-A177-3AD203B41FA5}">
                      <a16:colId xmlns:a16="http://schemas.microsoft.com/office/drawing/2014/main" val="3139140057"/>
                    </a:ext>
                  </a:extLst>
                </a:gridCol>
              </a:tblGrid>
              <a:tr h="159248">
                <a:tc gridSpan="6">
                  <a:txBody>
                    <a:bodyPr/>
                    <a:lstStyle/>
                    <a:p>
                      <a:pPr algn="ctr" fontAlgn="t">
                        <a:buNone/>
                      </a:pPr>
                      <a:r>
                        <a:rPr lang="en-US" sz="1100" b="1" i="0" u="none" strike="noStrike">
                          <a:solidFill>
                            <a:srgbClr val="000000"/>
                          </a:solidFill>
                          <a:effectLst/>
                          <a:latin typeface="Calibri" panose="020F0502020204030204" pitchFamily="34" charset="0"/>
                        </a:rPr>
                        <a:t>Current Maintenance Plan</a:t>
                      </a:r>
                    </a:p>
                  </a:txBody>
                  <a:tcPr marL="4304" marR="4304" marT="4304" marB="0">
                    <a:lnL>
                      <a:noFill/>
                    </a:lnL>
                    <a:lnR w="6350" cap="flat" cmpd="sng" algn="ctr">
                      <a:solidFill>
                        <a:srgbClr val="000000"/>
                      </a:solidFill>
                      <a:prstDash val="solid"/>
                      <a:round/>
                      <a:headEnd type="none" w="med" len="med"/>
                      <a:tailEnd type="none" w="med" len="med"/>
                    </a:lnR>
                    <a:lnT>
                      <a:noFill/>
                    </a:lnT>
                    <a:lnB>
                      <a:noFill/>
                    </a:lnB>
                    <a:solidFill>
                      <a:srgbClr val="FFFF0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304" marR="4304" marT="430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4472C4"/>
                    </a:solidFill>
                  </a:tcPr>
                </a:tc>
                <a:tc gridSpan="7">
                  <a:txBody>
                    <a:bodyPr/>
                    <a:lstStyle/>
                    <a:p>
                      <a:pPr algn="ctr" fontAlgn="b">
                        <a:buNone/>
                      </a:pPr>
                      <a:r>
                        <a:rPr lang="en-US" sz="1100" b="1" i="0" u="none" strike="noStrike">
                          <a:solidFill>
                            <a:srgbClr val="000000"/>
                          </a:solidFill>
                          <a:effectLst/>
                          <a:latin typeface="Calibri" panose="020F0502020204030204" pitchFamily="34" charset="0"/>
                        </a:rPr>
                        <a:t>RCM Recommended Maintenance Plan</a:t>
                      </a:r>
                    </a:p>
                  </a:txBody>
                  <a:tcPr marL="4304" marR="4304" marT="4304" marB="0" anchor="b">
                    <a:lnL w="6350" cap="flat" cmpd="sng" algn="ctr">
                      <a:solidFill>
                        <a:srgbClr val="000000"/>
                      </a:solidFill>
                      <a:prstDash val="solid"/>
                      <a:round/>
                      <a:headEnd type="none" w="med" len="med"/>
                      <a:tailEnd type="none" w="med" len="med"/>
                    </a:lnL>
                    <a:lnR>
                      <a:noFill/>
                    </a:lnR>
                    <a:lnT>
                      <a:noFill/>
                    </a:lnT>
                    <a:lnB>
                      <a:noFill/>
                    </a:lnB>
                    <a:solidFill>
                      <a:srgbClr val="FFFF0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420489930"/>
                  </a:ext>
                </a:extLst>
              </a:tr>
              <a:tr h="124816">
                <a:tc>
                  <a:txBody>
                    <a:bodyPr/>
                    <a:lstStyle/>
                    <a:p>
                      <a:pPr algn="l" fontAlgn="t">
                        <a:buNone/>
                      </a:pPr>
                      <a:endParaRPr lang="en-US" sz="1000" b="0" i="0" u="none" strike="noStrike">
                        <a:solidFill>
                          <a:srgbClr val="000000"/>
                        </a:solidFill>
                        <a:effectLst/>
                        <a:latin typeface="Calibri" panose="020F0502020204030204" pitchFamily="34" charset="0"/>
                      </a:endParaRPr>
                    </a:p>
                  </a:txBody>
                  <a:tcPr marL="4304" marR="4304" marT="4304" marB="0">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t">
                        <a:buNone/>
                      </a:pPr>
                      <a:endParaRPr lang="en-US" sz="1000" b="0" i="0" u="none" strike="noStrike">
                        <a:solidFill>
                          <a:srgbClr val="000000"/>
                        </a:solidFill>
                        <a:effectLst/>
                        <a:latin typeface="Calibri" panose="020F0502020204030204" pitchFamily="34" charset="0"/>
                      </a:endParaRPr>
                    </a:p>
                  </a:txBody>
                  <a:tcPr marL="4304" marR="4304" marT="4304" marB="0">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t">
                        <a:buNone/>
                      </a:pPr>
                      <a:endParaRPr lang="en-US" sz="1000" b="0" i="0" u="none" strike="noStrike">
                        <a:solidFill>
                          <a:srgbClr val="000000"/>
                        </a:solidFill>
                        <a:effectLst/>
                        <a:latin typeface="Calibri" panose="020F0502020204030204" pitchFamily="34" charset="0"/>
                      </a:endParaRPr>
                    </a:p>
                  </a:txBody>
                  <a:tcPr marL="4304" marR="4304" marT="4304" marB="0">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t">
                        <a:buNone/>
                      </a:pPr>
                      <a:endParaRPr lang="en-US" sz="1000" b="0" i="0" u="none" strike="noStrike">
                        <a:solidFill>
                          <a:srgbClr val="000000"/>
                        </a:solidFill>
                        <a:effectLst/>
                        <a:latin typeface="Calibri" panose="020F0502020204030204" pitchFamily="34" charset="0"/>
                      </a:endParaRPr>
                    </a:p>
                  </a:txBody>
                  <a:tcPr marL="4304" marR="4304" marT="4304" marB="0">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t">
                        <a:buNone/>
                      </a:pPr>
                      <a:endParaRPr lang="en-US" sz="1000" b="0" i="0" u="none" strike="noStrike">
                        <a:solidFill>
                          <a:srgbClr val="000000"/>
                        </a:solidFill>
                        <a:effectLst/>
                        <a:latin typeface="Calibri" panose="020F0502020204030204" pitchFamily="34" charset="0"/>
                      </a:endParaRPr>
                    </a:p>
                  </a:txBody>
                  <a:tcPr marL="4304" marR="4304" marT="4304" marB="0">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t">
                        <a:buNone/>
                      </a:pPr>
                      <a:endParaRPr lang="en-US" sz="1000" b="0" i="0" u="none" strike="noStrike">
                        <a:solidFill>
                          <a:srgbClr val="000000"/>
                        </a:solidFill>
                        <a:effectLst/>
                        <a:latin typeface="Calibri" panose="020F0502020204030204" pitchFamily="34" charset="0"/>
                      </a:endParaRPr>
                    </a:p>
                  </a:txBody>
                  <a:tcPr marL="4304" marR="4304" marT="4304" marB="0">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304" marR="4304" marT="430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4472C4"/>
                    </a:solidFill>
                  </a:tcPr>
                </a:tc>
                <a:tc>
                  <a:txBody>
                    <a:bodyPr/>
                    <a:lstStyle/>
                    <a:p>
                      <a:pPr algn="l" fontAlgn="t">
                        <a:buNone/>
                      </a:pPr>
                      <a:endParaRPr lang="en-US" sz="1000" b="0" i="0" u="none" strike="noStrike">
                        <a:solidFill>
                          <a:srgbClr val="000000"/>
                        </a:solidFill>
                        <a:effectLst/>
                        <a:latin typeface="Calibri" panose="020F0502020204030204" pitchFamily="34" charset="0"/>
                      </a:endParaRPr>
                    </a:p>
                  </a:txBody>
                  <a:tcPr marL="4304" marR="4304" marT="4304" marB="0">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a:txBody>
                    <a:bodyPr/>
                    <a:lstStyle/>
                    <a:p>
                      <a:pPr algn="l" fontAlgn="t">
                        <a:buNone/>
                      </a:pPr>
                      <a:endParaRPr lang="en-US" sz="1000" b="0" i="0" u="none" strike="noStrike">
                        <a:solidFill>
                          <a:srgbClr val="000000"/>
                        </a:solidFill>
                        <a:effectLst/>
                        <a:latin typeface="Calibri" panose="020F0502020204030204" pitchFamily="34" charset="0"/>
                      </a:endParaRPr>
                    </a:p>
                  </a:txBody>
                  <a:tcPr marL="4304" marR="4304" marT="4304" marB="0">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4304" marR="4304" marT="4304"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4304" marR="4304" marT="4304"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4304" marR="4304" marT="4304"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t">
                        <a:buNone/>
                      </a:pPr>
                      <a:endParaRPr lang="en-US" sz="1000" b="0" i="0" u="none" strike="noStrike">
                        <a:solidFill>
                          <a:srgbClr val="000000"/>
                        </a:solidFill>
                        <a:effectLst/>
                        <a:latin typeface="Calibri" panose="020F0502020204030204" pitchFamily="34" charset="0"/>
                      </a:endParaRPr>
                    </a:p>
                  </a:txBody>
                  <a:tcPr marL="4304" marR="4304" marT="4304" marB="0">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4304" marR="4304" marT="4304" marB="0"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14951372"/>
                  </a:ext>
                </a:extLst>
              </a:tr>
              <a:tr h="130133">
                <a:tc>
                  <a:txBody>
                    <a:bodyPr/>
                    <a:lstStyle/>
                    <a:p>
                      <a:pPr algn="l" fontAlgn="t">
                        <a:buNone/>
                      </a:pPr>
                      <a:r>
                        <a:rPr lang="en-US" sz="1050" b="1" i="0" u="none" strike="noStrike">
                          <a:solidFill>
                            <a:srgbClr val="000000"/>
                          </a:solidFill>
                          <a:effectLst/>
                          <a:latin typeface="Calibri" panose="020F0502020204030204" pitchFamily="34" charset="0"/>
                        </a:rPr>
                        <a:t>No</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50" b="1" i="0" u="none" strike="noStrike">
                          <a:solidFill>
                            <a:srgbClr val="000000"/>
                          </a:solidFill>
                          <a:effectLst/>
                          <a:latin typeface="Calibri" panose="020F0502020204030204" pitchFamily="34" charset="0"/>
                        </a:rPr>
                        <a:t>Ref</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50" b="1" i="0" u="none" strike="noStrike">
                          <a:solidFill>
                            <a:srgbClr val="000000"/>
                          </a:solidFill>
                          <a:effectLst/>
                          <a:latin typeface="Calibri" panose="020F0502020204030204" pitchFamily="34" charset="0"/>
                        </a:rPr>
                        <a:t>Failure Mode</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50" b="1" i="0" u="none" strike="noStrike">
                          <a:solidFill>
                            <a:srgbClr val="000000"/>
                          </a:solidFill>
                          <a:effectLst/>
                          <a:latin typeface="Calibri" panose="020F0502020204030204" pitchFamily="34" charset="0"/>
                        </a:rPr>
                        <a:t>Proposed Task</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50" b="1" i="0" u="none" strike="noStrike">
                          <a:solidFill>
                            <a:srgbClr val="000000"/>
                          </a:solidFill>
                          <a:effectLst/>
                          <a:latin typeface="Calibri" panose="020F0502020204030204" pitchFamily="34" charset="0"/>
                        </a:rPr>
                        <a:t>Interval</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50" b="1" i="0" u="none" strike="noStrike">
                          <a:solidFill>
                            <a:srgbClr val="000000"/>
                          </a:solidFill>
                          <a:effectLst/>
                          <a:latin typeface="Calibri" panose="020F0502020204030204" pitchFamily="34" charset="0"/>
                        </a:rPr>
                        <a:t>Trade</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304" marR="4304" marT="430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4472C4"/>
                    </a:solidFill>
                  </a:tcPr>
                </a:tc>
                <a:tc>
                  <a:txBody>
                    <a:bodyPr/>
                    <a:lstStyle/>
                    <a:p>
                      <a:pPr algn="l" fontAlgn="t">
                        <a:buNone/>
                      </a:pPr>
                      <a:r>
                        <a:rPr lang="en-US" sz="1050" b="1" i="0" u="none" strike="noStrike">
                          <a:solidFill>
                            <a:srgbClr val="000000"/>
                          </a:solidFill>
                          <a:effectLst/>
                          <a:latin typeface="Calibri" panose="020F0502020204030204" pitchFamily="34" charset="0"/>
                        </a:rPr>
                        <a:t>No</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50" b="1" i="0" u="none" strike="noStrike">
                          <a:solidFill>
                            <a:srgbClr val="000000"/>
                          </a:solidFill>
                          <a:effectLst/>
                          <a:latin typeface="Calibri" panose="020F0502020204030204" pitchFamily="34" charset="0"/>
                        </a:rPr>
                        <a:t>Ref</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50" b="1" i="0" u="none" strike="noStrike">
                          <a:solidFill>
                            <a:srgbClr val="000000"/>
                          </a:solidFill>
                          <a:effectLst/>
                          <a:latin typeface="Calibri" panose="020F0502020204030204" pitchFamily="34" charset="0"/>
                        </a:rPr>
                        <a:t>Failure Mode</a:t>
                      </a:r>
                    </a:p>
                  </a:txBody>
                  <a:tcPr marL="4304" marR="4304" marT="430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50" b="1" i="0" u="none" strike="noStrike">
                          <a:solidFill>
                            <a:srgbClr val="000000"/>
                          </a:solidFill>
                          <a:effectLst/>
                          <a:latin typeface="Calibri" panose="020F0502020204030204" pitchFamily="34" charset="0"/>
                        </a:rPr>
                        <a:t>Proposed Task</a:t>
                      </a:r>
                    </a:p>
                  </a:txBody>
                  <a:tcPr marL="4304" marR="4304" marT="430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50" b="1" i="0" u="none" strike="noStrike">
                          <a:solidFill>
                            <a:srgbClr val="000000"/>
                          </a:solidFill>
                          <a:effectLst/>
                          <a:latin typeface="Calibri" panose="020F0502020204030204" pitchFamily="34" charset="0"/>
                        </a:rPr>
                        <a:t>Interval</a:t>
                      </a:r>
                    </a:p>
                  </a:txBody>
                  <a:tcPr marL="4304" marR="4304" marT="430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50" b="1" i="0" u="none" strike="noStrike">
                          <a:solidFill>
                            <a:srgbClr val="000000"/>
                          </a:solidFill>
                          <a:effectLst/>
                          <a:latin typeface="Calibri" panose="020F0502020204030204" pitchFamily="34" charset="0"/>
                        </a:rPr>
                        <a:t>Trade</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50" b="1" i="0" u="none" strike="noStrike">
                          <a:solidFill>
                            <a:srgbClr val="000000"/>
                          </a:solidFill>
                          <a:effectLst/>
                          <a:latin typeface="Calibri" panose="020F0502020204030204" pitchFamily="34" charset="0"/>
                        </a:rPr>
                        <a:t>Remarks</a:t>
                      </a:r>
                    </a:p>
                  </a:txBody>
                  <a:tcPr marL="4304" marR="4304" marT="430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28145973"/>
                  </a:ext>
                </a:extLst>
              </a:tr>
              <a:tr h="231555">
                <a:tc>
                  <a:txBody>
                    <a:bodyPr/>
                    <a:lstStyle/>
                    <a:p>
                      <a:pPr algn="ctr" fontAlgn="t">
                        <a:buNone/>
                      </a:pPr>
                      <a:r>
                        <a:rPr lang="en-US" sz="1000" b="0" i="0" u="none" strike="noStrike">
                          <a:solidFill>
                            <a:srgbClr val="000000"/>
                          </a:solidFill>
                          <a:effectLst/>
                          <a:latin typeface="Calibri" panose="020F0502020204030204" pitchFamily="34" charset="0"/>
                        </a:rPr>
                        <a:t>15</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05-A-04</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Bocholz mechanism stuck</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Transformer Guard Test</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4 years</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CBSBELEC</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4472C4"/>
                    </a:solidFill>
                  </a:tcPr>
                </a:tc>
                <a:tc>
                  <a:txBody>
                    <a:bodyPr/>
                    <a:lstStyle/>
                    <a:p>
                      <a:pPr algn="ctr" fontAlgn="t">
                        <a:buNone/>
                      </a:pPr>
                      <a:r>
                        <a:rPr lang="en-US" sz="1000" b="0" i="0" u="none" strike="noStrike">
                          <a:solidFill>
                            <a:srgbClr val="000000"/>
                          </a:solidFill>
                          <a:effectLst/>
                          <a:latin typeface="Calibri" panose="020F0502020204030204" pitchFamily="34" charset="0"/>
                        </a:rPr>
                        <a:t>15</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05-A-04</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Bocholz mechanism stuck</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Transformer Guard Test</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4 years</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CBSBELEC</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No change</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60278260"/>
                  </a:ext>
                </a:extLst>
              </a:tr>
              <a:tr h="249632">
                <a:tc>
                  <a:txBody>
                    <a:bodyPr/>
                    <a:lstStyle/>
                    <a:p>
                      <a:pPr algn="ctr" fontAlgn="t">
                        <a:buNone/>
                      </a:pPr>
                      <a:r>
                        <a:rPr lang="en-US" sz="1000" b="0" i="0" u="none" strike="noStrike">
                          <a:solidFill>
                            <a:srgbClr val="000000"/>
                          </a:solidFill>
                          <a:effectLst/>
                          <a:latin typeface="Calibri" panose="020F0502020204030204" pitchFamily="34" charset="0"/>
                        </a:rPr>
                        <a:t>16</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06-A-01</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Main tank PRD Limit switch stuck</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Perform switch functional test</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4 years</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CBSBELEC</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4472C4"/>
                    </a:solidFill>
                  </a:tcPr>
                </a:tc>
                <a:tc>
                  <a:txBody>
                    <a:bodyPr/>
                    <a:lstStyle/>
                    <a:p>
                      <a:pPr algn="ctr" fontAlgn="t">
                        <a:buNone/>
                      </a:pPr>
                      <a:r>
                        <a:rPr lang="en-US" sz="1000" b="0" i="0" u="none" strike="noStrike">
                          <a:solidFill>
                            <a:srgbClr val="000000"/>
                          </a:solidFill>
                          <a:effectLst/>
                          <a:latin typeface="Calibri" panose="020F0502020204030204" pitchFamily="34" charset="0"/>
                        </a:rPr>
                        <a:t>16</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06-A-01</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Main tank PRD Limit switch stuck</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Perform switch functional test</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4 years</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CBSBELEC</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No change</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29183493"/>
                  </a:ext>
                </a:extLst>
              </a:tr>
              <a:tr h="231555">
                <a:tc>
                  <a:txBody>
                    <a:bodyPr/>
                    <a:lstStyle/>
                    <a:p>
                      <a:pPr algn="ctr" fontAlgn="t">
                        <a:buNone/>
                      </a:pPr>
                      <a:r>
                        <a:rPr lang="en-US" sz="1000" b="0" i="0" u="none" strike="noStrike">
                          <a:solidFill>
                            <a:srgbClr val="000000"/>
                          </a:solidFill>
                          <a:effectLst/>
                          <a:latin typeface="Calibri" panose="020F0502020204030204" pitchFamily="34" charset="0"/>
                        </a:rPr>
                        <a:t>17</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07-A-05</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Radiator fin dirty</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Perform cleaning </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4 years</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CBSBELEC</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4472C4"/>
                    </a:solidFill>
                  </a:tcPr>
                </a:tc>
                <a:tc>
                  <a:txBody>
                    <a:bodyPr/>
                    <a:lstStyle/>
                    <a:p>
                      <a:pPr algn="ctr" fontAlgn="t">
                        <a:buNone/>
                      </a:pPr>
                      <a:r>
                        <a:rPr lang="en-US" sz="1000" b="0" i="0" u="none" strike="noStrike">
                          <a:solidFill>
                            <a:srgbClr val="000000"/>
                          </a:solidFill>
                          <a:effectLst/>
                          <a:latin typeface="Calibri" panose="020F0502020204030204" pitchFamily="34" charset="0"/>
                        </a:rPr>
                        <a:t>17</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07-A-05</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Radiator fin dirty</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Perform cleaning </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4 years</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CBSBELEC</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No change</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85316310"/>
                  </a:ext>
                </a:extLst>
              </a:tr>
              <a:tr h="249632">
                <a:tc>
                  <a:txBody>
                    <a:bodyPr/>
                    <a:lstStyle/>
                    <a:p>
                      <a:pPr algn="ctr" fontAlgn="t">
                        <a:buNone/>
                      </a:pPr>
                      <a:r>
                        <a:rPr lang="en-US" sz="1000" b="0" i="0" u="none" strike="noStrike">
                          <a:solidFill>
                            <a:srgbClr val="000000"/>
                          </a:solidFill>
                          <a:effectLst/>
                          <a:latin typeface="Calibri" panose="020F0502020204030204" pitchFamily="34" charset="0"/>
                        </a:rPr>
                        <a:t>18</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10-A-01</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Dial Type Temp (DTT) faulty</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Do function test. If DTT fail the test, replace the DTT</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4 Years</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CBSBELEC</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4472C4"/>
                    </a:solidFill>
                  </a:tcPr>
                </a:tc>
                <a:tc>
                  <a:txBody>
                    <a:bodyPr/>
                    <a:lstStyle/>
                    <a:p>
                      <a:pPr algn="ctr" fontAlgn="t">
                        <a:buNone/>
                      </a:pPr>
                      <a:r>
                        <a:rPr lang="en-US" sz="1000" b="0" i="0" u="none" strike="noStrike">
                          <a:solidFill>
                            <a:srgbClr val="000000"/>
                          </a:solidFill>
                          <a:effectLst/>
                          <a:latin typeface="Calibri" panose="020F0502020204030204" pitchFamily="34" charset="0"/>
                        </a:rPr>
                        <a:t>18</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10-A-01</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Dial Type Temp (DTT) faulty</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Do function test. If DTT fail the test, replace the DTT</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4 Years</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CBSBELEC</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No change</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34575699"/>
                  </a:ext>
                </a:extLst>
              </a:tr>
              <a:tr h="374447">
                <a:tc>
                  <a:txBody>
                    <a:bodyPr/>
                    <a:lstStyle/>
                    <a:p>
                      <a:pPr algn="ctr" fontAlgn="t">
                        <a:buNone/>
                      </a:pPr>
                      <a:r>
                        <a:rPr lang="en-US" sz="1000" b="0" i="0" u="none" strike="noStrike">
                          <a:solidFill>
                            <a:srgbClr val="000000"/>
                          </a:solidFill>
                          <a:effectLst/>
                          <a:latin typeface="Calibri" panose="020F0502020204030204" pitchFamily="34" charset="0"/>
                        </a:rPr>
                        <a:t>19</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10-A-02</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Signal cable open circuit</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Do function test. If test failed, check cable connection and re-tighten </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4 Years</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CBSBELEC</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4472C4"/>
                    </a:solidFill>
                  </a:tcPr>
                </a:tc>
                <a:tc>
                  <a:txBody>
                    <a:bodyPr/>
                    <a:lstStyle/>
                    <a:p>
                      <a:pPr algn="ctr" fontAlgn="t">
                        <a:buNone/>
                      </a:pPr>
                      <a:r>
                        <a:rPr lang="en-US" sz="1000" b="0" i="0" u="none" strike="noStrike">
                          <a:solidFill>
                            <a:srgbClr val="000000"/>
                          </a:solidFill>
                          <a:effectLst/>
                          <a:latin typeface="Calibri" panose="020F0502020204030204" pitchFamily="34" charset="0"/>
                        </a:rPr>
                        <a:t>19</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10-A-02</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Signal cable open circuit</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Do function test. If test failed, check cable connection and re-tighten </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4 Years</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CBSBELEC</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No change</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79259440"/>
                  </a:ext>
                </a:extLst>
              </a:tr>
              <a:tr h="374447">
                <a:tc>
                  <a:txBody>
                    <a:bodyPr/>
                    <a:lstStyle/>
                    <a:p>
                      <a:pPr algn="ctr" fontAlgn="t">
                        <a:buNone/>
                      </a:pPr>
                      <a:r>
                        <a:rPr lang="en-US" sz="1000" b="0" i="0" u="none" strike="noStrike">
                          <a:solidFill>
                            <a:srgbClr val="000000"/>
                          </a:solidFill>
                          <a:effectLst/>
                          <a:latin typeface="Calibri" panose="020F0502020204030204" pitchFamily="34" charset="0"/>
                        </a:rPr>
                        <a:t>20</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10-A-03</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Temperature probe faulty</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Do function test. If test failed, check cable connection and re-tighten </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4 Years</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CBSBELEC</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4472C4"/>
                    </a:solidFill>
                  </a:tcPr>
                </a:tc>
                <a:tc>
                  <a:txBody>
                    <a:bodyPr/>
                    <a:lstStyle/>
                    <a:p>
                      <a:pPr algn="ctr" fontAlgn="t">
                        <a:buNone/>
                      </a:pPr>
                      <a:r>
                        <a:rPr lang="en-US" sz="1000" b="0" i="0" u="none" strike="noStrike">
                          <a:solidFill>
                            <a:srgbClr val="000000"/>
                          </a:solidFill>
                          <a:effectLst/>
                          <a:latin typeface="Calibri" panose="020F0502020204030204" pitchFamily="34" charset="0"/>
                        </a:rPr>
                        <a:t>20</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10-A-03</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Temperature probe faulty</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Do function test. If test failed, check cable connection and re-tighten </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4 Years</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CBSBELEC</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No change</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73193705"/>
                  </a:ext>
                </a:extLst>
              </a:tr>
              <a:tr h="249632">
                <a:tc>
                  <a:txBody>
                    <a:bodyPr/>
                    <a:lstStyle/>
                    <a:p>
                      <a:pPr algn="ctr" fontAlgn="t">
                        <a:buNone/>
                      </a:pPr>
                      <a:r>
                        <a:rPr lang="en-US" sz="1000" b="0" i="0" u="none" strike="noStrike">
                          <a:solidFill>
                            <a:srgbClr val="000000"/>
                          </a:solidFill>
                          <a:effectLst/>
                          <a:latin typeface="Calibri" panose="020F0502020204030204" pitchFamily="34" charset="0"/>
                        </a:rPr>
                        <a:t>21</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11-A-01</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Dial Type Temp (DTT) faulty</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Do function test. If DTT fail the test, replace the DTT</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4 Years</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CBSBELEC</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4472C4"/>
                    </a:solidFill>
                  </a:tcPr>
                </a:tc>
                <a:tc>
                  <a:txBody>
                    <a:bodyPr/>
                    <a:lstStyle/>
                    <a:p>
                      <a:pPr algn="ctr" fontAlgn="t">
                        <a:buNone/>
                      </a:pPr>
                      <a:r>
                        <a:rPr lang="en-US" sz="1000" b="0" i="0" u="none" strike="noStrike">
                          <a:solidFill>
                            <a:srgbClr val="000000"/>
                          </a:solidFill>
                          <a:effectLst/>
                          <a:latin typeface="Calibri" panose="020F0502020204030204" pitchFamily="34" charset="0"/>
                        </a:rPr>
                        <a:t>21</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11-A-01</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Dial Type Temp (DTT) faulty</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Do function test. If DTT fail the test, replace the DTT</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4 Years</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CBSBELEC</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No change</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96371737"/>
                  </a:ext>
                </a:extLst>
              </a:tr>
              <a:tr h="374447">
                <a:tc>
                  <a:txBody>
                    <a:bodyPr/>
                    <a:lstStyle/>
                    <a:p>
                      <a:pPr algn="ctr" fontAlgn="t">
                        <a:buNone/>
                      </a:pPr>
                      <a:r>
                        <a:rPr lang="en-US" sz="1000" b="0" i="0" u="none" strike="noStrike">
                          <a:solidFill>
                            <a:srgbClr val="000000"/>
                          </a:solidFill>
                          <a:effectLst/>
                          <a:latin typeface="Calibri" panose="020F0502020204030204" pitchFamily="34" charset="0"/>
                        </a:rPr>
                        <a:t>22</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11-A-02</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Signal cable open circuit</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Do function test. If test failed, check cable connection and re-tighten </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4 Years</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CBSBELEC</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4472C4"/>
                    </a:solidFill>
                  </a:tcPr>
                </a:tc>
                <a:tc>
                  <a:txBody>
                    <a:bodyPr/>
                    <a:lstStyle/>
                    <a:p>
                      <a:pPr algn="ctr" fontAlgn="t">
                        <a:buNone/>
                      </a:pPr>
                      <a:r>
                        <a:rPr lang="en-US" sz="1000" b="0" i="0" u="none" strike="noStrike">
                          <a:solidFill>
                            <a:srgbClr val="000000"/>
                          </a:solidFill>
                          <a:effectLst/>
                          <a:latin typeface="Calibri" panose="020F0502020204030204" pitchFamily="34" charset="0"/>
                        </a:rPr>
                        <a:t>22</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11-A-02</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Signal cable open circuit</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Do function test. If test failed, check cable connection and re-tighten </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4 Years</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CBSBELEC</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No change</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80508856"/>
                  </a:ext>
                </a:extLst>
              </a:tr>
              <a:tr h="249632">
                <a:tc>
                  <a:txBody>
                    <a:bodyPr/>
                    <a:lstStyle/>
                    <a:p>
                      <a:pPr algn="ctr" fontAlgn="t">
                        <a:buNone/>
                      </a:pPr>
                      <a:r>
                        <a:rPr lang="en-US" sz="1000" b="0" i="0" u="none" strike="noStrike">
                          <a:solidFill>
                            <a:srgbClr val="000000"/>
                          </a:solidFill>
                          <a:effectLst/>
                          <a:latin typeface="Calibri" panose="020F0502020204030204" pitchFamily="34" charset="0"/>
                        </a:rPr>
                        <a:t>23</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12-A-01</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Main tank body corroded</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Perform visal inspection (observe for corrosion)</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1 month</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CBSBELEC</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4472C4"/>
                    </a:solidFill>
                  </a:tcPr>
                </a:tc>
                <a:tc>
                  <a:txBody>
                    <a:bodyPr/>
                    <a:lstStyle/>
                    <a:p>
                      <a:pPr algn="ctr" fontAlgn="t">
                        <a:buNone/>
                      </a:pPr>
                      <a:r>
                        <a:rPr lang="en-US" sz="1000" b="0" i="0" u="none" strike="noStrike">
                          <a:solidFill>
                            <a:srgbClr val="000000"/>
                          </a:solidFill>
                          <a:effectLst/>
                          <a:latin typeface="Calibri" panose="020F0502020204030204" pitchFamily="34" charset="0"/>
                        </a:rPr>
                        <a:t>23</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12-A-01</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Main tank body corroded</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Perform visal inspection (observe for corrosion)</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1 month</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CBSBELEC</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No change</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47310842"/>
                  </a:ext>
                </a:extLst>
              </a:tr>
              <a:tr h="249632">
                <a:tc>
                  <a:txBody>
                    <a:bodyPr/>
                    <a:lstStyle/>
                    <a:p>
                      <a:pPr algn="ctr" fontAlgn="t">
                        <a:buNone/>
                      </a:pPr>
                      <a:r>
                        <a:rPr lang="en-US" sz="1000" b="0" i="0" u="none" strike="noStrike">
                          <a:solidFill>
                            <a:srgbClr val="000000"/>
                          </a:solidFill>
                          <a:effectLst/>
                          <a:latin typeface="Calibri" panose="020F0502020204030204" pitchFamily="34" charset="0"/>
                        </a:rPr>
                        <a:t>24</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12-A-02</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Maintank LV cable box gasket worn out</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Perform visal inspection (observe for corrosion)</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1 month</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CBSBELEC</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4472C4"/>
                    </a:solidFill>
                  </a:tcPr>
                </a:tc>
                <a:tc>
                  <a:txBody>
                    <a:bodyPr/>
                    <a:lstStyle/>
                    <a:p>
                      <a:pPr algn="ctr" fontAlgn="t">
                        <a:buNone/>
                      </a:pPr>
                      <a:r>
                        <a:rPr lang="en-US" sz="1000" b="0" i="0" u="none" strike="noStrike">
                          <a:solidFill>
                            <a:srgbClr val="000000"/>
                          </a:solidFill>
                          <a:effectLst/>
                          <a:latin typeface="Calibri" panose="020F0502020204030204" pitchFamily="34" charset="0"/>
                        </a:rPr>
                        <a:t>24</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12-A-02</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Maintank LV cable box gasket worn out</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Perform visal inspection (observe for corrosion)</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1 month</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CBSBELEC</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No change</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20541500"/>
                  </a:ext>
                </a:extLst>
              </a:tr>
              <a:tr h="249632">
                <a:tc>
                  <a:txBody>
                    <a:bodyPr/>
                    <a:lstStyle/>
                    <a:p>
                      <a:pPr algn="ctr" fontAlgn="t">
                        <a:buNone/>
                      </a:pPr>
                      <a:r>
                        <a:rPr lang="en-US" sz="1000" b="0" i="0" u="none" strike="noStrike">
                          <a:solidFill>
                            <a:srgbClr val="000000"/>
                          </a:solidFill>
                          <a:effectLst/>
                          <a:latin typeface="Calibri" panose="020F0502020204030204" pitchFamily="34" charset="0"/>
                        </a:rPr>
                        <a:t>25</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12-A-03</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Main tank welded joint cracked</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Perform visal inspection (observe for corrosion)</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1 month</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CBSBELEC</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4472C4"/>
                    </a:solidFill>
                  </a:tcPr>
                </a:tc>
                <a:tc>
                  <a:txBody>
                    <a:bodyPr/>
                    <a:lstStyle/>
                    <a:p>
                      <a:pPr algn="ctr" fontAlgn="t">
                        <a:buNone/>
                      </a:pPr>
                      <a:r>
                        <a:rPr lang="en-US" sz="1000" b="0" i="0" u="none" strike="noStrike">
                          <a:solidFill>
                            <a:srgbClr val="000000"/>
                          </a:solidFill>
                          <a:effectLst/>
                          <a:latin typeface="Calibri" panose="020F0502020204030204" pitchFamily="34" charset="0"/>
                        </a:rPr>
                        <a:t>25</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12-A-03</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Main tank welded joint cracked</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Perform visal inspection (observe for corrosion)</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1 month</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CBSBELEC</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No change</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14290048"/>
                  </a:ext>
                </a:extLst>
              </a:tr>
              <a:tr h="249632">
                <a:tc>
                  <a:txBody>
                    <a:bodyPr/>
                    <a:lstStyle/>
                    <a:p>
                      <a:pPr algn="ctr" fontAlgn="t">
                        <a:buNone/>
                      </a:pPr>
                      <a:r>
                        <a:rPr lang="en-US" sz="1000" b="0" i="0" u="none" strike="noStrike">
                          <a:solidFill>
                            <a:srgbClr val="000000"/>
                          </a:solidFill>
                          <a:effectLst/>
                          <a:latin typeface="Calibri" panose="020F0502020204030204" pitchFamily="34" charset="0"/>
                        </a:rPr>
                        <a:t>26</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13-A-01</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OLTC PRD Limit switch stuck</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Perform switch functional test</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4 years</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CBSBELEC</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4472C4"/>
                    </a:solidFill>
                  </a:tcPr>
                </a:tc>
                <a:tc>
                  <a:txBody>
                    <a:bodyPr/>
                    <a:lstStyle/>
                    <a:p>
                      <a:pPr algn="ctr" fontAlgn="t">
                        <a:buNone/>
                      </a:pPr>
                      <a:r>
                        <a:rPr lang="en-US" sz="1000" b="0" i="0" u="none" strike="noStrike">
                          <a:solidFill>
                            <a:srgbClr val="000000"/>
                          </a:solidFill>
                          <a:effectLst/>
                          <a:latin typeface="Calibri" panose="020F0502020204030204" pitchFamily="34" charset="0"/>
                        </a:rPr>
                        <a:t>26</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13-A-01</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OLTC PRD Limit switch stuck</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Perform switch functional test</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4 years</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CBSBELEC</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No change</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30504579"/>
                  </a:ext>
                </a:extLst>
              </a:tr>
              <a:tr h="231555">
                <a:tc>
                  <a:txBody>
                    <a:bodyPr/>
                    <a:lstStyle/>
                    <a:p>
                      <a:pPr algn="ctr" fontAlgn="t">
                        <a:buNone/>
                      </a:pPr>
                      <a:r>
                        <a:rPr lang="en-US" sz="1000" b="0" i="0" u="none" strike="noStrike">
                          <a:solidFill>
                            <a:srgbClr val="000000"/>
                          </a:solidFill>
                          <a:effectLst/>
                          <a:latin typeface="Calibri" panose="020F0502020204030204" pitchFamily="34" charset="0"/>
                        </a:rPr>
                        <a:t>27</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13-A-02</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Main tank PRD spring jammed</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Perform PRD replacement </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10 years</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CBSBELEC</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4472C4"/>
                    </a:solidFill>
                  </a:tcPr>
                </a:tc>
                <a:tc>
                  <a:txBody>
                    <a:bodyPr/>
                    <a:lstStyle/>
                    <a:p>
                      <a:pPr algn="ctr" fontAlgn="t">
                        <a:buNone/>
                      </a:pPr>
                      <a:r>
                        <a:rPr lang="en-US" sz="1000" b="0" i="0" u="none" strike="noStrike">
                          <a:solidFill>
                            <a:srgbClr val="000000"/>
                          </a:solidFill>
                          <a:effectLst/>
                          <a:latin typeface="Calibri" panose="020F0502020204030204" pitchFamily="34" charset="0"/>
                        </a:rPr>
                        <a:t>27</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13-A-02</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Main tank PRD spring jammed</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Perform PRD replacement </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dirty="0">
                          <a:solidFill>
                            <a:srgbClr val="000000"/>
                          </a:solidFill>
                          <a:effectLst/>
                          <a:latin typeface="Calibri" panose="020F0502020204030204" pitchFamily="34" charset="0"/>
                        </a:rPr>
                        <a:t>8 years</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CBSBELEC</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No change</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63654430"/>
                  </a:ext>
                </a:extLst>
              </a:tr>
              <a:tr h="249632">
                <a:tc>
                  <a:txBody>
                    <a:bodyPr/>
                    <a:lstStyle/>
                    <a:p>
                      <a:pPr algn="ctr" fontAlgn="t">
                        <a:buNone/>
                      </a:pPr>
                      <a:r>
                        <a:rPr lang="en-US" sz="1000" b="0" i="0" u="none" strike="noStrike">
                          <a:solidFill>
                            <a:srgbClr val="000000"/>
                          </a:solidFill>
                          <a:effectLst/>
                          <a:latin typeface="Calibri" panose="020F0502020204030204" pitchFamily="34" charset="0"/>
                        </a:rPr>
                        <a:t>28</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16-A-03</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s-ES" sz="1000" b="0" i="0" u="none" strike="noStrike">
                          <a:solidFill>
                            <a:srgbClr val="000000"/>
                          </a:solidFill>
                          <a:effectLst/>
                          <a:latin typeface="Calibri" panose="020F0502020204030204" pitchFamily="34" charset="0"/>
                        </a:rPr>
                        <a:t>OLTC Dehumidifier silica gel exhausted</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Visual inspection (change in color)</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1 month</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CBSBELEC</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4472C4"/>
                    </a:solidFill>
                  </a:tcPr>
                </a:tc>
                <a:tc>
                  <a:txBody>
                    <a:bodyPr/>
                    <a:lstStyle/>
                    <a:p>
                      <a:pPr algn="ctr" fontAlgn="t">
                        <a:buNone/>
                      </a:pPr>
                      <a:r>
                        <a:rPr lang="en-US" sz="1000" b="0" i="0" u="none" strike="noStrike">
                          <a:solidFill>
                            <a:srgbClr val="000000"/>
                          </a:solidFill>
                          <a:effectLst/>
                          <a:latin typeface="Calibri" panose="020F0502020204030204" pitchFamily="34" charset="0"/>
                        </a:rPr>
                        <a:t>28</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16-A-03</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s-ES" sz="1000" b="0" i="0" u="none" strike="noStrike">
                          <a:solidFill>
                            <a:srgbClr val="000000"/>
                          </a:solidFill>
                          <a:effectLst/>
                          <a:latin typeface="Calibri" panose="020F0502020204030204" pitchFamily="34" charset="0"/>
                        </a:rPr>
                        <a:t>OLTC Dehumidifier silica gel exhausted</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Visual inspection (change in color)</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1 month</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CBSBELEC</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dirty="0">
                          <a:solidFill>
                            <a:srgbClr val="000000"/>
                          </a:solidFill>
                          <a:effectLst/>
                          <a:latin typeface="Calibri" panose="020F0502020204030204" pitchFamily="34" charset="0"/>
                        </a:rPr>
                        <a:t>No change</a:t>
                      </a:r>
                    </a:p>
                  </a:txBody>
                  <a:tcPr marL="4304" marR="4304" marT="43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42189910"/>
                  </a:ext>
                </a:extLst>
              </a:tr>
            </a:tbl>
          </a:graphicData>
        </a:graphic>
      </p:graphicFrame>
      <p:sp>
        <p:nvSpPr>
          <p:cNvPr id="6" name="Slide Number Placeholder 14352">
            <a:extLst>
              <a:ext uri="{FF2B5EF4-FFF2-40B4-BE49-F238E27FC236}">
                <a16:creationId xmlns:a16="http://schemas.microsoft.com/office/drawing/2014/main" id="{4470FFDA-A4C1-856F-662E-14536A2F9E47}"/>
              </a:ext>
            </a:extLst>
          </p:cNvPr>
          <p:cNvSpPr txBox="1">
            <a:spLocks/>
          </p:cNvSpPr>
          <p:nvPr/>
        </p:nvSpPr>
        <p:spPr>
          <a:xfrm>
            <a:off x="9380560" y="6518434"/>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7</a:t>
            </a:r>
          </a:p>
        </p:txBody>
      </p:sp>
    </p:spTree>
    <p:extLst>
      <p:ext uri="{BB962C8B-B14F-4D97-AF65-F5344CB8AC3E}">
        <p14:creationId xmlns:p14="http://schemas.microsoft.com/office/powerpoint/2010/main" val="36907770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106A9-2BF5-5C2A-93FB-275A0D2EA0E2}"/>
            </a:ext>
          </a:extLst>
        </p:cNvPr>
        <p:cNvGrpSpPr/>
        <p:nvPr/>
      </p:nvGrpSpPr>
      <p:grpSpPr>
        <a:xfrm>
          <a:off x="0" y="0"/>
          <a:ext cx="0" cy="0"/>
          <a:chOff x="0" y="0"/>
          <a:chExt cx="0" cy="0"/>
        </a:xfrm>
      </p:grpSpPr>
      <p:pic>
        <p:nvPicPr>
          <p:cNvPr id="348" name="Picture 347">
            <a:extLst>
              <a:ext uri="{FF2B5EF4-FFF2-40B4-BE49-F238E27FC236}">
                <a16:creationId xmlns:a16="http://schemas.microsoft.com/office/drawing/2014/main" id="{4A76CD22-A7CA-863A-A10A-FAA39F47AF93}"/>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t="13483" b="26966"/>
          <a:stretch/>
        </p:blipFill>
        <p:spPr bwMode="auto">
          <a:xfrm>
            <a:off x="10748507" y="80255"/>
            <a:ext cx="1225443" cy="473074"/>
          </a:xfrm>
          <a:prstGeom prst="rect">
            <a:avLst/>
          </a:prstGeom>
          <a:noFill/>
          <a:ln>
            <a:noFill/>
          </a:ln>
          <a:extLst>
            <a:ext uri="{53640926-AAD7-44D8-BBD7-CCE9431645EC}">
              <a14:shadowObscured xmlns:a14="http://schemas.microsoft.com/office/drawing/2010/main"/>
            </a:ext>
          </a:extLst>
        </p:spPr>
      </p:pic>
      <p:cxnSp>
        <p:nvCxnSpPr>
          <p:cNvPr id="350" name="Straight Connector 349">
            <a:extLst>
              <a:ext uri="{FF2B5EF4-FFF2-40B4-BE49-F238E27FC236}">
                <a16:creationId xmlns:a16="http://schemas.microsoft.com/office/drawing/2014/main" id="{D44EEF74-B50C-678A-5A73-B40ECB31B2F4}"/>
              </a:ext>
            </a:extLst>
          </p:cNvPr>
          <p:cNvCxnSpPr/>
          <p:nvPr/>
        </p:nvCxnSpPr>
        <p:spPr>
          <a:xfrm>
            <a:off x="152399" y="762000"/>
            <a:ext cx="10607040" cy="0"/>
          </a:xfrm>
          <a:prstGeom prst="line">
            <a:avLst/>
          </a:prstGeom>
        </p:spPr>
        <p:style>
          <a:lnRef idx="3">
            <a:schemeClr val="accent3"/>
          </a:lnRef>
          <a:fillRef idx="0">
            <a:schemeClr val="accent3"/>
          </a:fillRef>
          <a:effectRef idx="2">
            <a:schemeClr val="accent3"/>
          </a:effectRef>
          <a:fontRef idx="minor">
            <a:schemeClr val="tx1"/>
          </a:fontRef>
        </p:style>
      </p:cxnSp>
      <p:sp>
        <p:nvSpPr>
          <p:cNvPr id="2" name="Rectangle 2">
            <a:extLst>
              <a:ext uri="{FF2B5EF4-FFF2-40B4-BE49-F238E27FC236}">
                <a16:creationId xmlns:a16="http://schemas.microsoft.com/office/drawing/2014/main" id="{10DE7D9A-CFD1-CD95-CE78-A35829D6B1C4}"/>
              </a:ext>
            </a:extLst>
          </p:cNvPr>
          <p:cNvSpPr txBox="1">
            <a:spLocks noChangeArrowheads="1"/>
          </p:cNvSpPr>
          <p:nvPr/>
        </p:nvSpPr>
        <p:spPr>
          <a:xfrm>
            <a:off x="381000" y="84976"/>
            <a:ext cx="7772400" cy="48404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2400" b="1">
                <a:latin typeface="+mn-lt"/>
              </a:rPr>
              <a:t>3. ANALYSIS</a:t>
            </a:r>
          </a:p>
        </p:txBody>
      </p:sp>
      <p:sp>
        <p:nvSpPr>
          <p:cNvPr id="3" name="Rectangle 2">
            <a:extLst>
              <a:ext uri="{FF2B5EF4-FFF2-40B4-BE49-F238E27FC236}">
                <a16:creationId xmlns:a16="http://schemas.microsoft.com/office/drawing/2014/main" id="{FC132105-C953-459B-4DCC-B83F2D197633}"/>
              </a:ext>
            </a:extLst>
          </p:cNvPr>
          <p:cNvSpPr txBox="1">
            <a:spLocks noChangeArrowheads="1"/>
          </p:cNvSpPr>
          <p:nvPr/>
        </p:nvSpPr>
        <p:spPr>
          <a:xfrm>
            <a:off x="381000" y="401346"/>
            <a:ext cx="7772400" cy="38370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2000" b="1">
                <a:latin typeface="+mn-lt"/>
              </a:rPr>
              <a:t>3.1 Comparison Between Existing &amp; New Maintenance Plan</a:t>
            </a:r>
          </a:p>
        </p:txBody>
      </p:sp>
      <p:graphicFrame>
        <p:nvGraphicFramePr>
          <p:cNvPr id="5" name="Table 4">
            <a:extLst>
              <a:ext uri="{FF2B5EF4-FFF2-40B4-BE49-F238E27FC236}">
                <a16:creationId xmlns:a16="http://schemas.microsoft.com/office/drawing/2014/main" id="{782BEEEC-15B4-8058-100D-736871798236}"/>
              </a:ext>
            </a:extLst>
          </p:cNvPr>
          <p:cNvGraphicFramePr>
            <a:graphicFrameLocks noGrp="1"/>
          </p:cNvGraphicFramePr>
          <p:nvPr>
            <p:extLst>
              <p:ext uri="{D42A27DB-BD31-4B8C-83A1-F6EECF244321}">
                <p14:modId xmlns:p14="http://schemas.microsoft.com/office/powerpoint/2010/main" val="1550456536"/>
              </p:ext>
            </p:extLst>
          </p:nvPr>
        </p:nvGraphicFramePr>
        <p:xfrm>
          <a:off x="467742" y="885387"/>
          <a:ext cx="11117705" cy="4956028"/>
        </p:xfrm>
        <a:graphic>
          <a:graphicData uri="http://schemas.openxmlformats.org/drawingml/2006/table">
            <a:tbl>
              <a:tblPr/>
              <a:tblGrid>
                <a:gridCol w="263778">
                  <a:extLst>
                    <a:ext uri="{9D8B030D-6E8A-4147-A177-3AD203B41FA5}">
                      <a16:colId xmlns:a16="http://schemas.microsoft.com/office/drawing/2014/main" val="3914017213"/>
                    </a:ext>
                  </a:extLst>
                </a:gridCol>
                <a:gridCol w="384048">
                  <a:extLst>
                    <a:ext uri="{9D8B030D-6E8A-4147-A177-3AD203B41FA5}">
                      <a16:colId xmlns:a16="http://schemas.microsoft.com/office/drawing/2014/main" val="2195279610"/>
                    </a:ext>
                  </a:extLst>
                </a:gridCol>
                <a:gridCol w="1847088">
                  <a:extLst>
                    <a:ext uri="{9D8B030D-6E8A-4147-A177-3AD203B41FA5}">
                      <a16:colId xmlns:a16="http://schemas.microsoft.com/office/drawing/2014/main" val="698190092"/>
                    </a:ext>
                  </a:extLst>
                </a:gridCol>
                <a:gridCol w="1362456">
                  <a:extLst>
                    <a:ext uri="{9D8B030D-6E8A-4147-A177-3AD203B41FA5}">
                      <a16:colId xmlns:a16="http://schemas.microsoft.com/office/drawing/2014/main" val="2365213903"/>
                    </a:ext>
                  </a:extLst>
                </a:gridCol>
                <a:gridCol w="539496">
                  <a:extLst>
                    <a:ext uri="{9D8B030D-6E8A-4147-A177-3AD203B41FA5}">
                      <a16:colId xmlns:a16="http://schemas.microsoft.com/office/drawing/2014/main" val="1031434587"/>
                    </a:ext>
                  </a:extLst>
                </a:gridCol>
                <a:gridCol w="557784">
                  <a:extLst>
                    <a:ext uri="{9D8B030D-6E8A-4147-A177-3AD203B41FA5}">
                      <a16:colId xmlns:a16="http://schemas.microsoft.com/office/drawing/2014/main" val="3475309656"/>
                    </a:ext>
                  </a:extLst>
                </a:gridCol>
                <a:gridCol w="402336">
                  <a:extLst>
                    <a:ext uri="{9D8B030D-6E8A-4147-A177-3AD203B41FA5}">
                      <a16:colId xmlns:a16="http://schemas.microsoft.com/office/drawing/2014/main" val="2506913767"/>
                    </a:ext>
                  </a:extLst>
                </a:gridCol>
                <a:gridCol w="274320">
                  <a:extLst>
                    <a:ext uri="{9D8B030D-6E8A-4147-A177-3AD203B41FA5}">
                      <a16:colId xmlns:a16="http://schemas.microsoft.com/office/drawing/2014/main" val="3631574462"/>
                    </a:ext>
                  </a:extLst>
                </a:gridCol>
                <a:gridCol w="310896">
                  <a:extLst>
                    <a:ext uri="{9D8B030D-6E8A-4147-A177-3AD203B41FA5}">
                      <a16:colId xmlns:a16="http://schemas.microsoft.com/office/drawing/2014/main" val="852473400"/>
                    </a:ext>
                  </a:extLst>
                </a:gridCol>
                <a:gridCol w="1737360">
                  <a:extLst>
                    <a:ext uri="{9D8B030D-6E8A-4147-A177-3AD203B41FA5}">
                      <a16:colId xmlns:a16="http://schemas.microsoft.com/office/drawing/2014/main" val="2596166021"/>
                    </a:ext>
                  </a:extLst>
                </a:gridCol>
                <a:gridCol w="1728216">
                  <a:extLst>
                    <a:ext uri="{9D8B030D-6E8A-4147-A177-3AD203B41FA5}">
                      <a16:colId xmlns:a16="http://schemas.microsoft.com/office/drawing/2014/main" val="910889327"/>
                    </a:ext>
                  </a:extLst>
                </a:gridCol>
                <a:gridCol w="448056">
                  <a:extLst>
                    <a:ext uri="{9D8B030D-6E8A-4147-A177-3AD203B41FA5}">
                      <a16:colId xmlns:a16="http://schemas.microsoft.com/office/drawing/2014/main" val="1962177299"/>
                    </a:ext>
                  </a:extLst>
                </a:gridCol>
                <a:gridCol w="676656">
                  <a:extLst>
                    <a:ext uri="{9D8B030D-6E8A-4147-A177-3AD203B41FA5}">
                      <a16:colId xmlns:a16="http://schemas.microsoft.com/office/drawing/2014/main" val="195275202"/>
                    </a:ext>
                  </a:extLst>
                </a:gridCol>
                <a:gridCol w="585215">
                  <a:extLst>
                    <a:ext uri="{9D8B030D-6E8A-4147-A177-3AD203B41FA5}">
                      <a16:colId xmlns:a16="http://schemas.microsoft.com/office/drawing/2014/main" val="2406942882"/>
                    </a:ext>
                  </a:extLst>
                </a:gridCol>
              </a:tblGrid>
              <a:tr h="162560">
                <a:tc gridSpan="6">
                  <a:txBody>
                    <a:bodyPr/>
                    <a:lstStyle/>
                    <a:p>
                      <a:pPr algn="ctr" fontAlgn="t">
                        <a:buNone/>
                      </a:pPr>
                      <a:r>
                        <a:rPr lang="en-US" sz="1100" b="1" i="0" u="none" strike="noStrike">
                          <a:solidFill>
                            <a:srgbClr val="000000"/>
                          </a:solidFill>
                          <a:effectLst/>
                          <a:latin typeface="Calibri" panose="020F0502020204030204" pitchFamily="34" charset="0"/>
                        </a:rPr>
                        <a:t>Current Maintenance Plan</a:t>
                      </a:r>
                    </a:p>
                  </a:txBody>
                  <a:tcPr marL="4394" marR="4394" marT="4394" marB="0">
                    <a:lnL>
                      <a:noFill/>
                    </a:lnL>
                    <a:lnR w="6350" cap="flat" cmpd="sng" algn="ctr">
                      <a:solidFill>
                        <a:srgbClr val="000000"/>
                      </a:solidFill>
                      <a:prstDash val="solid"/>
                      <a:round/>
                      <a:headEnd type="none" w="med" len="med"/>
                      <a:tailEnd type="none" w="med" len="med"/>
                    </a:lnR>
                    <a:lnT>
                      <a:noFill/>
                    </a:lnT>
                    <a:lnB>
                      <a:noFill/>
                    </a:lnB>
                    <a:solidFill>
                      <a:srgbClr val="FFFF0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394" marR="4394" marT="43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4472C4"/>
                    </a:solidFill>
                  </a:tcPr>
                </a:tc>
                <a:tc gridSpan="7">
                  <a:txBody>
                    <a:bodyPr/>
                    <a:lstStyle/>
                    <a:p>
                      <a:pPr algn="ctr" fontAlgn="b">
                        <a:buNone/>
                      </a:pPr>
                      <a:r>
                        <a:rPr lang="en-US" sz="1100" b="1" i="0" u="none" strike="noStrike">
                          <a:solidFill>
                            <a:srgbClr val="000000"/>
                          </a:solidFill>
                          <a:effectLst/>
                          <a:latin typeface="Calibri" panose="020F0502020204030204" pitchFamily="34" charset="0"/>
                        </a:rPr>
                        <a:t>RCM Recommended Maintenance Plan</a:t>
                      </a:r>
                    </a:p>
                  </a:txBody>
                  <a:tcPr marL="4394" marR="4394" marT="4394" marB="0" anchor="b">
                    <a:lnL w="6350" cap="flat" cmpd="sng" algn="ctr">
                      <a:solidFill>
                        <a:srgbClr val="000000"/>
                      </a:solidFill>
                      <a:prstDash val="solid"/>
                      <a:round/>
                      <a:headEnd type="none" w="med" len="med"/>
                      <a:tailEnd type="none" w="med" len="med"/>
                    </a:lnL>
                    <a:lnR>
                      <a:noFill/>
                    </a:lnR>
                    <a:lnT>
                      <a:noFill/>
                    </a:lnT>
                    <a:lnB>
                      <a:noFill/>
                    </a:lnB>
                    <a:solidFill>
                      <a:srgbClr val="FFFF0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465814553"/>
                  </a:ext>
                </a:extLst>
              </a:tr>
              <a:tr h="127412">
                <a:tc>
                  <a:txBody>
                    <a:bodyPr/>
                    <a:lstStyle/>
                    <a:p>
                      <a:pPr algn="l" fontAlgn="t">
                        <a:buNone/>
                      </a:pPr>
                      <a:endParaRPr lang="en-US" sz="1000" b="0" i="0" u="none" strike="noStrike">
                        <a:solidFill>
                          <a:srgbClr val="000000"/>
                        </a:solidFill>
                        <a:effectLst/>
                        <a:latin typeface="Calibri" panose="020F0502020204030204" pitchFamily="34" charset="0"/>
                      </a:endParaRPr>
                    </a:p>
                  </a:txBody>
                  <a:tcPr marL="4394" marR="4394" marT="4394" marB="0">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t">
                        <a:buNone/>
                      </a:pPr>
                      <a:endParaRPr lang="en-US" sz="1000" b="0" i="0" u="none" strike="noStrike">
                        <a:solidFill>
                          <a:srgbClr val="000000"/>
                        </a:solidFill>
                        <a:effectLst/>
                        <a:latin typeface="Calibri" panose="020F0502020204030204" pitchFamily="34" charset="0"/>
                      </a:endParaRPr>
                    </a:p>
                  </a:txBody>
                  <a:tcPr marL="4394" marR="4394" marT="4394" marB="0">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t">
                        <a:buNone/>
                      </a:pPr>
                      <a:endParaRPr lang="en-US" sz="1000" b="0" i="0" u="none" strike="noStrike">
                        <a:solidFill>
                          <a:srgbClr val="000000"/>
                        </a:solidFill>
                        <a:effectLst/>
                        <a:latin typeface="Calibri" panose="020F0502020204030204" pitchFamily="34" charset="0"/>
                      </a:endParaRPr>
                    </a:p>
                  </a:txBody>
                  <a:tcPr marL="4394" marR="4394" marT="4394" marB="0">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t">
                        <a:buNone/>
                      </a:pPr>
                      <a:endParaRPr lang="en-US" sz="1000" b="0" i="0" u="none" strike="noStrike">
                        <a:solidFill>
                          <a:srgbClr val="000000"/>
                        </a:solidFill>
                        <a:effectLst/>
                        <a:latin typeface="Calibri" panose="020F0502020204030204" pitchFamily="34" charset="0"/>
                      </a:endParaRPr>
                    </a:p>
                  </a:txBody>
                  <a:tcPr marL="4394" marR="4394" marT="4394" marB="0">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t">
                        <a:buNone/>
                      </a:pPr>
                      <a:endParaRPr lang="en-US" sz="1000" b="0" i="0" u="none" strike="noStrike">
                        <a:solidFill>
                          <a:srgbClr val="000000"/>
                        </a:solidFill>
                        <a:effectLst/>
                        <a:latin typeface="Calibri" panose="020F0502020204030204" pitchFamily="34" charset="0"/>
                      </a:endParaRPr>
                    </a:p>
                  </a:txBody>
                  <a:tcPr marL="4394" marR="4394" marT="4394" marB="0">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t">
                        <a:buNone/>
                      </a:pPr>
                      <a:endParaRPr lang="en-US" sz="1000" b="0" i="0" u="none" strike="noStrike">
                        <a:solidFill>
                          <a:srgbClr val="000000"/>
                        </a:solidFill>
                        <a:effectLst/>
                        <a:latin typeface="Calibri" panose="020F0502020204030204" pitchFamily="34" charset="0"/>
                      </a:endParaRPr>
                    </a:p>
                  </a:txBody>
                  <a:tcPr marL="4394" marR="4394" marT="4394" marB="0">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394" marR="4394" marT="43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4472C4"/>
                    </a:solidFill>
                  </a:tcPr>
                </a:tc>
                <a:tc>
                  <a:txBody>
                    <a:bodyPr/>
                    <a:lstStyle/>
                    <a:p>
                      <a:pPr algn="l" fontAlgn="t">
                        <a:buNone/>
                      </a:pPr>
                      <a:endParaRPr lang="en-US" sz="1000" b="0" i="0" u="none" strike="noStrike">
                        <a:solidFill>
                          <a:srgbClr val="000000"/>
                        </a:solidFill>
                        <a:effectLst/>
                        <a:latin typeface="Calibri" panose="020F0502020204030204" pitchFamily="34" charset="0"/>
                      </a:endParaRPr>
                    </a:p>
                  </a:txBody>
                  <a:tcPr marL="4394" marR="4394" marT="4394" marB="0">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a:txBody>
                    <a:bodyPr/>
                    <a:lstStyle/>
                    <a:p>
                      <a:pPr algn="l" fontAlgn="t">
                        <a:buNone/>
                      </a:pPr>
                      <a:endParaRPr lang="en-US" sz="1000" b="0" i="0" u="none" strike="noStrike">
                        <a:solidFill>
                          <a:srgbClr val="000000"/>
                        </a:solidFill>
                        <a:effectLst/>
                        <a:latin typeface="Calibri" panose="020F0502020204030204" pitchFamily="34" charset="0"/>
                      </a:endParaRPr>
                    </a:p>
                  </a:txBody>
                  <a:tcPr marL="4394" marR="4394" marT="4394" marB="0">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4394" marR="4394" marT="4394"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4394" marR="4394" marT="4394"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4394" marR="4394" marT="4394"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t">
                        <a:buNone/>
                      </a:pPr>
                      <a:endParaRPr lang="en-US" sz="1000" b="0" i="0" u="none" strike="noStrike">
                        <a:solidFill>
                          <a:srgbClr val="000000"/>
                        </a:solidFill>
                        <a:effectLst/>
                        <a:latin typeface="Calibri" panose="020F0502020204030204" pitchFamily="34" charset="0"/>
                      </a:endParaRPr>
                    </a:p>
                  </a:txBody>
                  <a:tcPr marL="4394" marR="4394" marT="4394" marB="0">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0" b="0" i="0" u="none" strike="noStrike">
                        <a:solidFill>
                          <a:srgbClr val="000000"/>
                        </a:solidFill>
                        <a:effectLst/>
                        <a:latin typeface="Calibri" panose="020F0502020204030204" pitchFamily="34" charset="0"/>
                      </a:endParaRPr>
                    </a:p>
                  </a:txBody>
                  <a:tcPr marL="4394" marR="4394" marT="4394" marB="0"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7944810"/>
                  </a:ext>
                </a:extLst>
              </a:tr>
              <a:tr h="129953">
                <a:tc>
                  <a:txBody>
                    <a:bodyPr/>
                    <a:lstStyle/>
                    <a:p>
                      <a:pPr algn="l" fontAlgn="t">
                        <a:buNone/>
                      </a:pPr>
                      <a:r>
                        <a:rPr lang="en-US" sz="1000" b="1" i="0" u="none" strike="noStrike">
                          <a:solidFill>
                            <a:srgbClr val="000000"/>
                          </a:solidFill>
                          <a:effectLst/>
                          <a:latin typeface="Calibri" panose="020F0502020204030204" pitchFamily="34" charset="0"/>
                        </a:rPr>
                        <a:t>No</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1" i="0" u="none" strike="noStrike">
                          <a:solidFill>
                            <a:srgbClr val="000000"/>
                          </a:solidFill>
                          <a:effectLst/>
                          <a:latin typeface="Calibri" panose="020F0502020204030204" pitchFamily="34" charset="0"/>
                        </a:rPr>
                        <a:t>Ref</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1" i="0" u="none" strike="noStrike">
                          <a:solidFill>
                            <a:srgbClr val="000000"/>
                          </a:solidFill>
                          <a:effectLst/>
                          <a:latin typeface="Calibri" panose="020F0502020204030204" pitchFamily="34" charset="0"/>
                        </a:rPr>
                        <a:t>Failure Mode</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1" i="0" u="none" strike="noStrike">
                          <a:solidFill>
                            <a:srgbClr val="000000"/>
                          </a:solidFill>
                          <a:effectLst/>
                          <a:latin typeface="Calibri" panose="020F0502020204030204" pitchFamily="34" charset="0"/>
                        </a:rPr>
                        <a:t>Proposed Task</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1" i="0" u="none" strike="noStrike">
                          <a:solidFill>
                            <a:srgbClr val="000000"/>
                          </a:solidFill>
                          <a:effectLst/>
                          <a:latin typeface="Calibri" panose="020F0502020204030204" pitchFamily="34" charset="0"/>
                        </a:rPr>
                        <a:t>Interval</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1" i="0" u="none" strike="noStrike">
                          <a:solidFill>
                            <a:srgbClr val="000000"/>
                          </a:solidFill>
                          <a:effectLst/>
                          <a:latin typeface="Calibri" panose="020F0502020204030204" pitchFamily="34" charset="0"/>
                        </a:rPr>
                        <a:t>Trade</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394" marR="4394" marT="43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4472C4"/>
                    </a:solidFill>
                  </a:tcPr>
                </a:tc>
                <a:tc>
                  <a:txBody>
                    <a:bodyPr/>
                    <a:lstStyle/>
                    <a:p>
                      <a:pPr algn="l" fontAlgn="t">
                        <a:buNone/>
                      </a:pPr>
                      <a:r>
                        <a:rPr lang="en-US" sz="1000" b="1" i="0" u="none" strike="noStrike">
                          <a:solidFill>
                            <a:srgbClr val="000000"/>
                          </a:solidFill>
                          <a:effectLst/>
                          <a:latin typeface="Calibri" panose="020F0502020204030204" pitchFamily="34" charset="0"/>
                        </a:rPr>
                        <a:t>No</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1" i="0" u="none" strike="noStrike">
                          <a:solidFill>
                            <a:srgbClr val="000000"/>
                          </a:solidFill>
                          <a:effectLst/>
                          <a:latin typeface="Calibri" panose="020F0502020204030204" pitchFamily="34" charset="0"/>
                        </a:rPr>
                        <a:t>Ref</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1" i="0" u="none" strike="noStrike">
                          <a:solidFill>
                            <a:srgbClr val="000000"/>
                          </a:solidFill>
                          <a:effectLst/>
                          <a:latin typeface="Calibri" panose="020F0502020204030204" pitchFamily="34" charset="0"/>
                        </a:rPr>
                        <a:t>Failure Mode</a:t>
                      </a:r>
                    </a:p>
                  </a:txBody>
                  <a:tcPr marL="4394" marR="4394" marT="43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1" i="0" u="none" strike="noStrike">
                          <a:solidFill>
                            <a:srgbClr val="000000"/>
                          </a:solidFill>
                          <a:effectLst/>
                          <a:latin typeface="Calibri" panose="020F0502020204030204" pitchFamily="34" charset="0"/>
                        </a:rPr>
                        <a:t>Proposed Task</a:t>
                      </a:r>
                    </a:p>
                  </a:txBody>
                  <a:tcPr marL="4394" marR="4394" marT="43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1" i="0" u="none" strike="noStrike">
                          <a:solidFill>
                            <a:srgbClr val="000000"/>
                          </a:solidFill>
                          <a:effectLst/>
                          <a:latin typeface="Calibri" panose="020F0502020204030204" pitchFamily="34" charset="0"/>
                        </a:rPr>
                        <a:t>Interval</a:t>
                      </a:r>
                    </a:p>
                  </a:txBody>
                  <a:tcPr marL="4394" marR="4394" marT="43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1" i="0" u="none" strike="noStrike">
                          <a:solidFill>
                            <a:srgbClr val="000000"/>
                          </a:solidFill>
                          <a:effectLst/>
                          <a:latin typeface="Calibri" panose="020F0502020204030204" pitchFamily="34" charset="0"/>
                        </a:rPr>
                        <a:t>Trade</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1" i="0" u="none" strike="noStrike">
                          <a:solidFill>
                            <a:srgbClr val="000000"/>
                          </a:solidFill>
                          <a:effectLst/>
                          <a:latin typeface="Calibri" panose="020F0502020204030204" pitchFamily="34" charset="0"/>
                        </a:rPr>
                        <a:t>Remarks</a:t>
                      </a:r>
                    </a:p>
                  </a:txBody>
                  <a:tcPr marL="4394" marR="4394" marT="43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22262606"/>
                  </a:ext>
                </a:extLst>
              </a:tr>
              <a:tr h="254824">
                <a:tc>
                  <a:txBody>
                    <a:bodyPr/>
                    <a:lstStyle/>
                    <a:p>
                      <a:pPr algn="ctr" fontAlgn="t">
                        <a:buNone/>
                      </a:pPr>
                      <a:r>
                        <a:rPr lang="en-US" sz="1000" b="0" i="0" u="none" strike="noStrike">
                          <a:solidFill>
                            <a:srgbClr val="000000"/>
                          </a:solidFill>
                          <a:effectLst/>
                          <a:latin typeface="Calibri" panose="020F0502020204030204" pitchFamily="34" charset="0"/>
                        </a:rPr>
                        <a:t>29</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22-A-03</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Terminal box or local panel arcrylic cover crack or break</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Perform visual inspection</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1 month</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CBSBELEC</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4472C4"/>
                    </a:solidFill>
                  </a:tcPr>
                </a:tc>
                <a:tc>
                  <a:txBody>
                    <a:bodyPr/>
                    <a:lstStyle/>
                    <a:p>
                      <a:pPr algn="ctr" fontAlgn="t">
                        <a:buNone/>
                      </a:pPr>
                      <a:r>
                        <a:rPr lang="en-US" sz="1000" b="0" i="0" u="none" strike="noStrike">
                          <a:solidFill>
                            <a:srgbClr val="000000"/>
                          </a:solidFill>
                          <a:effectLst/>
                          <a:latin typeface="Calibri" panose="020F0502020204030204" pitchFamily="34" charset="0"/>
                        </a:rPr>
                        <a:t>29</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22-A-03</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Terminal box or local panel arcrylic cover crack or break</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Perform visual inspection</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1 month</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CBSBELEC</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No change</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57608555"/>
                  </a:ext>
                </a:extLst>
              </a:tr>
              <a:tr h="254824">
                <a:tc>
                  <a:txBody>
                    <a:bodyPr/>
                    <a:lstStyle/>
                    <a:p>
                      <a:pPr algn="ctr" fontAlgn="t">
                        <a:buNone/>
                      </a:pPr>
                      <a:r>
                        <a:rPr lang="en-US" sz="1000" b="0" i="0" u="none" strike="noStrike">
                          <a:solidFill>
                            <a:srgbClr val="000000"/>
                          </a:solidFill>
                          <a:effectLst/>
                          <a:latin typeface="Calibri" panose="020F0502020204030204" pitchFamily="34" charset="0"/>
                        </a:rPr>
                        <a:t>30</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23-A-03</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Terminal box or local panel arcrylic cover break</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Perform visual inspection</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1 month</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CBSBELEC</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4472C4"/>
                    </a:solidFill>
                  </a:tcPr>
                </a:tc>
                <a:tc>
                  <a:txBody>
                    <a:bodyPr/>
                    <a:lstStyle/>
                    <a:p>
                      <a:pPr algn="ctr" fontAlgn="t">
                        <a:buNone/>
                      </a:pPr>
                      <a:r>
                        <a:rPr lang="en-US" sz="1000" b="0" i="0" u="none" strike="noStrike">
                          <a:solidFill>
                            <a:srgbClr val="000000"/>
                          </a:solidFill>
                          <a:effectLst/>
                          <a:latin typeface="Calibri" panose="020F0502020204030204" pitchFamily="34" charset="0"/>
                        </a:rPr>
                        <a:t>30</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23-A-03</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Terminal box or local panel arcrylic cover break</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Perform visual inspection</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1 month</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CBSBELEC</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No change</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10144666"/>
                  </a:ext>
                </a:extLst>
              </a:tr>
              <a:tr h="382236">
                <a:tc>
                  <a:txBody>
                    <a:bodyPr/>
                    <a:lstStyle/>
                    <a:p>
                      <a:pPr algn="ctr" fontAlgn="t">
                        <a:buNone/>
                      </a:pPr>
                      <a:r>
                        <a:rPr lang="en-US" sz="1000" b="0" i="0" u="none" strike="noStrike">
                          <a:solidFill>
                            <a:srgbClr val="000000"/>
                          </a:solidFill>
                          <a:effectLst/>
                          <a:latin typeface="Calibri" panose="020F0502020204030204" pitchFamily="34" charset="0"/>
                        </a:rPr>
                        <a:t>31</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4472C4"/>
                    </a:solidFill>
                  </a:tcPr>
                </a:tc>
                <a:tc>
                  <a:txBody>
                    <a:bodyPr/>
                    <a:lstStyle/>
                    <a:p>
                      <a:pPr algn="ctr" fontAlgn="t">
                        <a:buNone/>
                      </a:pPr>
                      <a:r>
                        <a:rPr lang="en-US" sz="1000" b="0" i="0" u="none" strike="noStrike">
                          <a:solidFill>
                            <a:srgbClr val="000000"/>
                          </a:solidFill>
                          <a:effectLst/>
                          <a:latin typeface="Calibri" panose="020F0502020204030204" pitchFamily="34" charset="0"/>
                        </a:rPr>
                        <a:t>31</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03-A-02</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Conservator tank drain valve leaked</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Visual inspection (observe trace of oil at conservator tank)</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1 week</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CBSBOPER</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Added new</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23042499"/>
                  </a:ext>
                </a:extLst>
              </a:tr>
              <a:tr h="254824">
                <a:tc>
                  <a:txBody>
                    <a:bodyPr/>
                    <a:lstStyle/>
                    <a:p>
                      <a:pPr algn="ctr" fontAlgn="t">
                        <a:buNone/>
                      </a:pPr>
                      <a:r>
                        <a:rPr lang="en-US" sz="1000" b="0" i="0" u="none" strike="noStrike">
                          <a:solidFill>
                            <a:srgbClr val="000000"/>
                          </a:solidFill>
                          <a:effectLst/>
                          <a:latin typeface="Calibri" panose="020F0502020204030204" pitchFamily="34" charset="0"/>
                        </a:rPr>
                        <a:t>32</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4472C4"/>
                    </a:solidFill>
                  </a:tcPr>
                </a:tc>
                <a:tc>
                  <a:txBody>
                    <a:bodyPr/>
                    <a:lstStyle/>
                    <a:p>
                      <a:pPr algn="ctr" fontAlgn="t">
                        <a:buNone/>
                      </a:pPr>
                      <a:r>
                        <a:rPr lang="en-US" sz="1000" b="0" i="0" u="none" strike="noStrike">
                          <a:solidFill>
                            <a:srgbClr val="000000"/>
                          </a:solidFill>
                          <a:effectLst/>
                          <a:latin typeface="Calibri" panose="020F0502020204030204" pitchFamily="34" charset="0"/>
                        </a:rPr>
                        <a:t>32</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04-A-01</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Oil level gauge faulty</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Ensure oil level gauge spare availability</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CBSBELEC</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Added new</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03731591"/>
                  </a:ext>
                </a:extLst>
              </a:tr>
              <a:tr h="254824">
                <a:tc>
                  <a:txBody>
                    <a:bodyPr/>
                    <a:lstStyle/>
                    <a:p>
                      <a:pPr algn="ctr" fontAlgn="t">
                        <a:buNone/>
                      </a:pPr>
                      <a:r>
                        <a:rPr lang="en-US" sz="1000" b="0" i="0" u="none" strike="noStrike">
                          <a:solidFill>
                            <a:srgbClr val="000000"/>
                          </a:solidFill>
                          <a:effectLst/>
                          <a:latin typeface="Calibri" panose="020F0502020204030204" pitchFamily="34" charset="0"/>
                        </a:rPr>
                        <a:t>33</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4472C4"/>
                    </a:solidFill>
                  </a:tcPr>
                </a:tc>
                <a:tc>
                  <a:txBody>
                    <a:bodyPr/>
                    <a:lstStyle/>
                    <a:p>
                      <a:pPr algn="ctr" fontAlgn="t">
                        <a:buNone/>
                      </a:pPr>
                      <a:r>
                        <a:rPr lang="en-US" sz="1000" b="0" i="0" u="none" strike="noStrike">
                          <a:solidFill>
                            <a:srgbClr val="000000"/>
                          </a:solidFill>
                          <a:effectLst/>
                          <a:latin typeface="Calibri" panose="020F0502020204030204" pitchFamily="34" charset="0"/>
                        </a:rPr>
                        <a:t>33</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05-A-01</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Bucholz relay badly leaked</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Visual inspection (observe trace of oil at bucholz)</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1 week</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CBSBOPER</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Added new</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99214525"/>
                  </a:ext>
                </a:extLst>
              </a:tr>
              <a:tr h="254824">
                <a:tc>
                  <a:txBody>
                    <a:bodyPr/>
                    <a:lstStyle/>
                    <a:p>
                      <a:pPr algn="ctr" fontAlgn="t">
                        <a:buNone/>
                      </a:pPr>
                      <a:r>
                        <a:rPr lang="en-US" sz="1000" b="0" i="0" u="none" strike="noStrike">
                          <a:solidFill>
                            <a:srgbClr val="000000"/>
                          </a:solidFill>
                          <a:effectLst/>
                          <a:latin typeface="Calibri" panose="020F0502020204030204" pitchFamily="34" charset="0"/>
                        </a:rPr>
                        <a:t>34</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4472C4"/>
                    </a:solidFill>
                  </a:tcPr>
                </a:tc>
                <a:tc>
                  <a:txBody>
                    <a:bodyPr/>
                    <a:lstStyle/>
                    <a:p>
                      <a:pPr algn="ctr" fontAlgn="t">
                        <a:buNone/>
                      </a:pPr>
                      <a:r>
                        <a:rPr lang="en-US" sz="1000" b="0" i="0" u="none" strike="noStrike">
                          <a:solidFill>
                            <a:srgbClr val="000000"/>
                          </a:solidFill>
                          <a:effectLst/>
                          <a:latin typeface="Calibri" panose="020F0502020204030204" pitchFamily="34" charset="0"/>
                        </a:rPr>
                        <a:t>34</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05-A-03</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Glass Inspection window cracked</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Visual inspection (observe trace of oil at bucholz)</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1 week</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CBSBOPER</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Added new</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72591610"/>
                  </a:ext>
                </a:extLst>
              </a:tr>
              <a:tr h="236371">
                <a:tc>
                  <a:txBody>
                    <a:bodyPr/>
                    <a:lstStyle/>
                    <a:p>
                      <a:pPr algn="ctr" fontAlgn="t">
                        <a:buNone/>
                      </a:pPr>
                      <a:r>
                        <a:rPr lang="en-US" sz="1000" b="0" i="0" u="none" strike="noStrike">
                          <a:solidFill>
                            <a:srgbClr val="000000"/>
                          </a:solidFill>
                          <a:effectLst/>
                          <a:latin typeface="Calibri" panose="020F0502020204030204" pitchFamily="34" charset="0"/>
                        </a:rPr>
                        <a:t>35</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4472C4"/>
                    </a:solidFill>
                  </a:tcPr>
                </a:tc>
                <a:tc>
                  <a:txBody>
                    <a:bodyPr/>
                    <a:lstStyle/>
                    <a:p>
                      <a:pPr algn="ctr" fontAlgn="t">
                        <a:buNone/>
                      </a:pPr>
                      <a:r>
                        <a:rPr lang="en-US" sz="1000" b="0" i="0" u="none" strike="noStrike">
                          <a:solidFill>
                            <a:srgbClr val="000000"/>
                          </a:solidFill>
                          <a:effectLst/>
                          <a:latin typeface="Calibri" panose="020F0502020204030204" pitchFamily="34" charset="0"/>
                        </a:rPr>
                        <a:t>35</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06-A-02</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Main tank PRD spring jammed</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Perform PRD replacement </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dirty="0">
                          <a:solidFill>
                            <a:srgbClr val="000000"/>
                          </a:solidFill>
                          <a:effectLst/>
                          <a:latin typeface="Calibri" panose="020F0502020204030204" pitchFamily="34" charset="0"/>
                        </a:rPr>
                        <a:t>8 years</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CBSBELEC</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Added new</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81493559"/>
                  </a:ext>
                </a:extLst>
              </a:tr>
              <a:tr h="254824">
                <a:tc>
                  <a:txBody>
                    <a:bodyPr/>
                    <a:lstStyle/>
                    <a:p>
                      <a:pPr algn="ctr" fontAlgn="t">
                        <a:buNone/>
                      </a:pPr>
                      <a:r>
                        <a:rPr lang="en-US" sz="1000" b="0" i="0" u="none" strike="noStrike">
                          <a:solidFill>
                            <a:srgbClr val="000000"/>
                          </a:solidFill>
                          <a:effectLst/>
                          <a:latin typeface="Calibri" panose="020F0502020204030204" pitchFamily="34" charset="0"/>
                        </a:rPr>
                        <a:t>36</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4472C4"/>
                    </a:solidFill>
                  </a:tcPr>
                </a:tc>
                <a:tc>
                  <a:txBody>
                    <a:bodyPr/>
                    <a:lstStyle/>
                    <a:p>
                      <a:pPr algn="ctr" fontAlgn="t">
                        <a:buNone/>
                      </a:pPr>
                      <a:r>
                        <a:rPr lang="en-US" sz="1000" b="0" i="0" u="none" strike="noStrike">
                          <a:solidFill>
                            <a:srgbClr val="000000"/>
                          </a:solidFill>
                          <a:effectLst/>
                          <a:latin typeface="Calibri" panose="020F0502020204030204" pitchFamily="34" charset="0"/>
                        </a:rPr>
                        <a:t>36</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07-A-02</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Radiator tube leaked</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Visual inspection (observe trace of oil at radiator tube)</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1 week</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CBSBOPER</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Added new</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03737544"/>
                  </a:ext>
                </a:extLst>
              </a:tr>
              <a:tr h="254824">
                <a:tc>
                  <a:txBody>
                    <a:bodyPr/>
                    <a:lstStyle/>
                    <a:p>
                      <a:pPr algn="ctr" fontAlgn="t">
                        <a:buNone/>
                      </a:pPr>
                      <a:r>
                        <a:rPr lang="en-US" sz="1000" b="0" i="0" u="none" strike="noStrike">
                          <a:solidFill>
                            <a:srgbClr val="000000"/>
                          </a:solidFill>
                          <a:effectLst/>
                          <a:latin typeface="Calibri" panose="020F0502020204030204" pitchFamily="34" charset="0"/>
                        </a:rPr>
                        <a:t>37</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4472C4"/>
                    </a:solidFill>
                  </a:tcPr>
                </a:tc>
                <a:tc>
                  <a:txBody>
                    <a:bodyPr/>
                    <a:lstStyle/>
                    <a:p>
                      <a:pPr algn="ctr" fontAlgn="t">
                        <a:buNone/>
                      </a:pPr>
                      <a:r>
                        <a:rPr lang="en-US" sz="1000" b="0" i="0" u="none" strike="noStrike">
                          <a:solidFill>
                            <a:srgbClr val="000000"/>
                          </a:solidFill>
                          <a:effectLst/>
                          <a:latin typeface="Calibri" panose="020F0502020204030204" pitchFamily="34" charset="0"/>
                        </a:rPr>
                        <a:t>37</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07-A-03</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Radiator gasket failed</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Visual inspection (observe trace of oil radiator)</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1 week</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CBSBOPER</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Added new</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28894508"/>
                  </a:ext>
                </a:extLst>
              </a:tr>
              <a:tr h="382236">
                <a:tc>
                  <a:txBody>
                    <a:bodyPr/>
                    <a:lstStyle/>
                    <a:p>
                      <a:pPr algn="ctr" fontAlgn="t">
                        <a:buNone/>
                      </a:pPr>
                      <a:r>
                        <a:rPr lang="en-US" sz="1000" b="0" i="0" u="none" strike="noStrike">
                          <a:solidFill>
                            <a:srgbClr val="000000"/>
                          </a:solidFill>
                          <a:effectLst/>
                          <a:latin typeface="Calibri" panose="020F0502020204030204" pitchFamily="34" charset="0"/>
                        </a:rPr>
                        <a:t>38</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4472C4"/>
                    </a:solidFill>
                  </a:tcPr>
                </a:tc>
                <a:tc>
                  <a:txBody>
                    <a:bodyPr/>
                    <a:lstStyle/>
                    <a:p>
                      <a:pPr algn="ctr" fontAlgn="t">
                        <a:buNone/>
                      </a:pPr>
                      <a:r>
                        <a:rPr lang="en-US" sz="1000" b="0" i="0" u="none" strike="noStrike">
                          <a:solidFill>
                            <a:srgbClr val="000000"/>
                          </a:solidFill>
                          <a:effectLst/>
                          <a:latin typeface="Calibri" panose="020F0502020204030204" pitchFamily="34" charset="0"/>
                        </a:rPr>
                        <a:t>38</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08-A-01</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Transformers oil circulating Pump bearing jammed</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Perform abnormal noise monitoring at running circulating oil pump</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1 week</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CBSBOPER</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Added new</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24527524"/>
                  </a:ext>
                </a:extLst>
              </a:tr>
              <a:tr h="382236">
                <a:tc>
                  <a:txBody>
                    <a:bodyPr/>
                    <a:lstStyle/>
                    <a:p>
                      <a:pPr algn="ctr" fontAlgn="t">
                        <a:buNone/>
                      </a:pPr>
                      <a:r>
                        <a:rPr lang="en-US" sz="1000" b="0" i="0" u="none" strike="noStrike">
                          <a:solidFill>
                            <a:srgbClr val="000000"/>
                          </a:solidFill>
                          <a:effectLst/>
                          <a:latin typeface="Calibri" panose="020F0502020204030204" pitchFamily="34" charset="0"/>
                        </a:rPr>
                        <a:t>39</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4472C4"/>
                    </a:solidFill>
                  </a:tcPr>
                </a:tc>
                <a:tc>
                  <a:txBody>
                    <a:bodyPr/>
                    <a:lstStyle/>
                    <a:p>
                      <a:pPr algn="ctr" fontAlgn="t">
                        <a:buNone/>
                      </a:pPr>
                      <a:r>
                        <a:rPr lang="en-US" sz="1000" b="0" i="0" u="none" strike="noStrike">
                          <a:solidFill>
                            <a:srgbClr val="000000"/>
                          </a:solidFill>
                          <a:effectLst/>
                          <a:latin typeface="Calibri" panose="020F0502020204030204" pitchFamily="34" charset="0"/>
                        </a:rPr>
                        <a:t>39</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08-A-02</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Transformers oil circulating Pump mechanical seal damaged</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Perform visual inspection (observe oil leak at circulating pump)</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1 week</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CBSBOPER</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Added new</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38627637"/>
                  </a:ext>
                </a:extLst>
              </a:tr>
              <a:tr h="382236">
                <a:tc>
                  <a:txBody>
                    <a:bodyPr/>
                    <a:lstStyle/>
                    <a:p>
                      <a:pPr algn="ctr" fontAlgn="t">
                        <a:buNone/>
                      </a:pPr>
                      <a:r>
                        <a:rPr lang="en-US" sz="1000" b="0" i="0" u="none" strike="noStrike">
                          <a:solidFill>
                            <a:srgbClr val="000000"/>
                          </a:solidFill>
                          <a:effectLst/>
                          <a:latin typeface="Calibri" panose="020F0502020204030204" pitchFamily="34" charset="0"/>
                        </a:rPr>
                        <a:t>40</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4472C4"/>
                    </a:solidFill>
                  </a:tcPr>
                </a:tc>
                <a:tc>
                  <a:txBody>
                    <a:bodyPr/>
                    <a:lstStyle/>
                    <a:p>
                      <a:pPr algn="ctr" fontAlgn="t">
                        <a:buNone/>
                      </a:pPr>
                      <a:r>
                        <a:rPr lang="en-US" sz="1000" b="0" i="0" u="none" strike="noStrike">
                          <a:solidFill>
                            <a:srgbClr val="000000"/>
                          </a:solidFill>
                          <a:effectLst/>
                          <a:latin typeface="Calibri" panose="020F0502020204030204" pitchFamily="34" charset="0"/>
                        </a:rPr>
                        <a:t>40</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16-A-01</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OLTC Conservator tank gasket leaked</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Visual inspection (observe trace of oil at OLTC conservator)</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1 week</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CBSBOPER</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Added new</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01235983"/>
                  </a:ext>
                </a:extLst>
              </a:tr>
              <a:tr h="254824">
                <a:tc>
                  <a:txBody>
                    <a:bodyPr/>
                    <a:lstStyle/>
                    <a:p>
                      <a:pPr algn="ctr" fontAlgn="t">
                        <a:buNone/>
                      </a:pPr>
                      <a:r>
                        <a:rPr lang="en-US" sz="1000" b="0" i="0" u="none" strike="noStrike">
                          <a:solidFill>
                            <a:srgbClr val="000000"/>
                          </a:solidFill>
                          <a:effectLst/>
                          <a:latin typeface="Calibri" panose="020F0502020204030204" pitchFamily="34" charset="0"/>
                        </a:rPr>
                        <a:t>41</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4472C4"/>
                    </a:solidFill>
                  </a:tcPr>
                </a:tc>
                <a:tc>
                  <a:txBody>
                    <a:bodyPr/>
                    <a:lstStyle/>
                    <a:p>
                      <a:pPr algn="ctr" fontAlgn="t">
                        <a:buNone/>
                      </a:pPr>
                      <a:r>
                        <a:rPr lang="en-US" sz="1000" b="0" i="0" u="none" strike="noStrike">
                          <a:solidFill>
                            <a:srgbClr val="000000"/>
                          </a:solidFill>
                          <a:effectLst/>
                          <a:latin typeface="Calibri" panose="020F0502020204030204" pitchFamily="34" charset="0"/>
                        </a:rPr>
                        <a:t>41</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17-A-01</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Magnetic oil level gauge faulty</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Ensure oil level gauge spare availability</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CBSBELEC</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dirty="0">
                          <a:solidFill>
                            <a:srgbClr val="000000"/>
                          </a:solidFill>
                          <a:effectLst/>
                          <a:latin typeface="Calibri" panose="020F0502020204030204" pitchFamily="34" charset="0"/>
                        </a:rPr>
                        <a:t>Added new</a:t>
                      </a:r>
                    </a:p>
                  </a:txBody>
                  <a:tcPr marL="4394" marR="4394" marT="439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05194189"/>
                  </a:ext>
                </a:extLst>
              </a:tr>
            </a:tbl>
          </a:graphicData>
        </a:graphic>
      </p:graphicFrame>
      <p:sp>
        <p:nvSpPr>
          <p:cNvPr id="6" name="Slide Number Placeholder 14352">
            <a:extLst>
              <a:ext uri="{FF2B5EF4-FFF2-40B4-BE49-F238E27FC236}">
                <a16:creationId xmlns:a16="http://schemas.microsoft.com/office/drawing/2014/main" id="{C3D67752-2D70-1CFD-7D06-1A7FC5C1030D}"/>
              </a:ext>
            </a:extLst>
          </p:cNvPr>
          <p:cNvSpPr txBox="1">
            <a:spLocks/>
          </p:cNvSpPr>
          <p:nvPr/>
        </p:nvSpPr>
        <p:spPr>
          <a:xfrm>
            <a:off x="9380560" y="6518434"/>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8</a:t>
            </a:r>
          </a:p>
        </p:txBody>
      </p:sp>
    </p:spTree>
    <p:extLst>
      <p:ext uri="{BB962C8B-B14F-4D97-AF65-F5344CB8AC3E}">
        <p14:creationId xmlns:p14="http://schemas.microsoft.com/office/powerpoint/2010/main" val="29386017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FC419-8E16-1131-FDC6-59816F7D6904}"/>
            </a:ext>
          </a:extLst>
        </p:cNvPr>
        <p:cNvGrpSpPr/>
        <p:nvPr/>
      </p:nvGrpSpPr>
      <p:grpSpPr>
        <a:xfrm>
          <a:off x="0" y="0"/>
          <a:ext cx="0" cy="0"/>
          <a:chOff x="0" y="0"/>
          <a:chExt cx="0" cy="0"/>
        </a:xfrm>
      </p:grpSpPr>
      <p:pic>
        <p:nvPicPr>
          <p:cNvPr id="348" name="Picture 347">
            <a:extLst>
              <a:ext uri="{FF2B5EF4-FFF2-40B4-BE49-F238E27FC236}">
                <a16:creationId xmlns:a16="http://schemas.microsoft.com/office/drawing/2014/main" id="{0ED8CA49-4429-F096-4338-B47E9893435E}"/>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t="13483" b="26966"/>
          <a:stretch/>
        </p:blipFill>
        <p:spPr bwMode="auto">
          <a:xfrm>
            <a:off x="10748507" y="80255"/>
            <a:ext cx="1225443" cy="473074"/>
          </a:xfrm>
          <a:prstGeom prst="rect">
            <a:avLst/>
          </a:prstGeom>
          <a:noFill/>
          <a:ln>
            <a:noFill/>
          </a:ln>
          <a:extLst>
            <a:ext uri="{53640926-AAD7-44D8-BBD7-CCE9431645EC}">
              <a14:shadowObscured xmlns:a14="http://schemas.microsoft.com/office/drawing/2010/main"/>
            </a:ext>
          </a:extLst>
        </p:spPr>
      </p:pic>
      <p:cxnSp>
        <p:nvCxnSpPr>
          <p:cNvPr id="350" name="Straight Connector 349">
            <a:extLst>
              <a:ext uri="{FF2B5EF4-FFF2-40B4-BE49-F238E27FC236}">
                <a16:creationId xmlns:a16="http://schemas.microsoft.com/office/drawing/2014/main" id="{6F1D783B-8CFB-1273-BF00-82F15758687C}"/>
              </a:ext>
            </a:extLst>
          </p:cNvPr>
          <p:cNvCxnSpPr/>
          <p:nvPr/>
        </p:nvCxnSpPr>
        <p:spPr>
          <a:xfrm>
            <a:off x="152399" y="762000"/>
            <a:ext cx="10607040" cy="0"/>
          </a:xfrm>
          <a:prstGeom prst="line">
            <a:avLst/>
          </a:prstGeom>
        </p:spPr>
        <p:style>
          <a:lnRef idx="3">
            <a:schemeClr val="accent3"/>
          </a:lnRef>
          <a:fillRef idx="0">
            <a:schemeClr val="accent3"/>
          </a:fillRef>
          <a:effectRef idx="2">
            <a:schemeClr val="accent3"/>
          </a:effectRef>
          <a:fontRef idx="minor">
            <a:schemeClr val="tx1"/>
          </a:fontRef>
        </p:style>
      </p:cxnSp>
      <p:sp>
        <p:nvSpPr>
          <p:cNvPr id="2" name="Rectangle 2">
            <a:extLst>
              <a:ext uri="{FF2B5EF4-FFF2-40B4-BE49-F238E27FC236}">
                <a16:creationId xmlns:a16="http://schemas.microsoft.com/office/drawing/2014/main" id="{61F40C5F-163A-D96A-27CE-5BDAEA2F40BD}"/>
              </a:ext>
            </a:extLst>
          </p:cNvPr>
          <p:cNvSpPr txBox="1">
            <a:spLocks noChangeArrowheads="1"/>
          </p:cNvSpPr>
          <p:nvPr/>
        </p:nvSpPr>
        <p:spPr>
          <a:xfrm>
            <a:off x="381000" y="84976"/>
            <a:ext cx="7772400" cy="48404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2400" b="1">
                <a:latin typeface="+mn-lt"/>
              </a:rPr>
              <a:t>3. ANALYSIS</a:t>
            </a:r>
          </a:p>
        </p:txBody>
      </p:sp>
      <p:sp>
        <p:nvSpPr>
          <p:cNvPr id="3" name="Rectangle 2">
            <a:extLst>
              <a:ext uri="{FF2B5EF4-FFF2-40B4-BE49-F238E27FC236}">
                <a16:creationId xmlns:a16="http://schemas.microsoft.com/office/drawing/2014/main" id="{FA85F546-1612-34FA-D1FA-89539F8A079A}"/>
              </a:ext>
            </a:extLst>
          </p:cNvPr>
          <p:cNvSpPr txBox="1">
            <a:spLocks noChangeArrowheads="1"/>
          </p:cNvSpPr>
          <p:nvPr/>
        </p:nvSpPr>
        <p:spPr>
          <a:xfrm>
            <a:off x="381000" y="401346"/>
            <a:ext cx="7772400" cy="38370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2000" b="1">
                <a:latin typeface="+mn-lt"/>
              </a:rPr>
              <a:t>3.1 Comparison Between Existing &amp; New Maintenance Plan</a:t>
            </a:r>
          </a:p>
        </p:txBody>
      </p:sp>
      <p:graphicFrame>
        <p:nvGraphicFramePr>
          <p:cNvPr id="5" name="Table 4">
            <a:extLst>
              <a:ext uri="{FF2B5EF4-FFF2-40B4-BE49-F238E27FC236}">
                <a16:creationId xmlns:a16="http://schemas.microsoft.com/office/drawing/2014/main" id="{D06DF3E7-DB2B-BDF2-E8AC-18AD0E2EB731}"/>
              </a:ext>
            </a:extLst>
          </p:cNvPr>
          <p:cNvGraphicFramePr>
            <a:graphicFrameLocks noGrp="1"/>
          </p:cNvGraphicFramePr>
          <p:nvPr>
            <p:extLst>
              <p:ext uri="{D42A27DB-BD31-4B8C-83A1-F6EECF244321}">
                <p14:modId xmlns:p14="http://schemas.microsoft.com/office/powerpoint/2010/main" val="2417613099"/>
              </p:ext>
            </p:extLst>
          </p:nvPr>
        </p:nvGraphicFramePr>
        <p:xfrm>
          <a:off x="509016" y="869699"/>
          <a:ext cx="11094720" cy="5097144"/>
        </p:xfrm>
        <a:graphic>
          <a:graphicData uri="http://schemas.openxmlformats.org/drawingml/2006/table">
            <a:tbl>
              <a:tblPr/>
              <a:tblGrid>
                <a:gridCol w="170220">
                  <a:extLst>
                    <a:ext uri="{9D8B030D-6E8A-4147-A177-3AD203B41FA5}">
                      <a16:colId xmlns:a16="http://schemas.microsoft.com/office/drawing/2014/main" val="2402512975"/>
                    </a:ext>
                  </a:extLst>
                </a:gridCol>
                <a:gridCol w="322203">
                  <a:extLst>
                    <a:ext uri="{9D8B030D-6E8A-4147-A177-3AD203B41FA5}">
                      <a16:colId xmlns:a16="http://schemas.microsoft.com/office/drawing/2014/main" val="2141994448"/>
                    </a:ext>
                  </a:extLst>
                </a:gridCol>
                <a:gridCol w="1174833">
                  <a:extLst>
                    <a:ext uri="{9D8B030D-6E8A-4147-A177-3AD203B41FA5}">
                      <a16:colId xmlns:a16="http://schemas.microsoft.com/office/drawing/2014/main" val="2271581657"/>
                    </a:ext>
                  </a:extLst>
                </a:gridCol>
                <a:gridCol w="1499616">
                  <a:extLst>
                    <a:ext uri="{9D8B030D-6E8A-4147-A177-3AD203B41FA5}">
                      <a16:colId xmlns:a16="http://schemas.microsoft.com/office/drawing/2014/main" val="1408883803"/>
                    </a:ext>
                  </a:extLst>
                </a:gridCol>
                <a:gridCol w="438912">
                  <a:extLst>
                    <a:ext uri="{9D8B030D-6E8A-4147-A177-3AD203B41FA5}">
                      <a16:colId xmlns:a16="http://schemas.microsoft.com/office/drawing/2014/main" val="3672821557"/>
                    </a:ext>
                  </a:extLst>
                </a:gridCol>
                <a:gridCol w="429768">
                  <a:extLst>
                    <a:ext uri="{9D8B030D-6E8A-4147-A177-3AD203B41FA5}">
                      <a16:colId xmlns:a16="http://schemas.microsoft.com/office/drawing/2014/main" val="4264044972"/>
                    </a:ext>
                  </a:extLst>
                </a:gridCol>
                <a:gridCol w="384048">
                  <a:extLst>
                    <a:ext uri="{9D8B030D-6E8A-4147-A177-3AD203B41FA5}">
                      <a16:colId xmlns:a16="http://schemas.microsoft.com/office/drawing/2014/main" val="3271988277"/>
                    </a:ext>
                  </a:extLst>
                </a:gridCol>
                <a:gridCol w="246888">
                  <a:extLst>
                    <a:ext uri="{9D8B030D-6E8A-4147-A177-3AD203B41FA5}">
                      <a16:colId xmlns:a16="http://schemas.microsoft.com/office/drawing/2014/main" val="1658476744"/>
                    </a:ext>
                  </a:extLst>
                </a:gridCol>
                <a:gridCol w="402336">
                  <a:extLst>
                    <a:ext uri="{9D8B030D-6E8A-4147-A177-3AD203B41FA5}">
                      <a16:colId xmlns:a16="http://schemas.microsoft.com/office/drawing/2014/main" val="3482512976"/>
                    </a:ext>
                  </a:extLst>
                </a:gridCol>
                <a:gridCol w="1755648">
                  <a:extLst>
                    <a:ext uri="{9D8B030D-6E8A-4147-A177-3AD203B41FA5}">
                      <a16:colId xmlns:a16="http://schemas.microsoft.com/office/drawing/2014/main" val="1882798791"/>
                    </a:ext>
                  </a:extLst>
                </a:gridCol>
                <a:gridCol w="1700784">
                  <a:extLst>
                    <a:ext uri="{9D8B030D-6E8A-4147-A177-3AD203B41FA5}">
                      <a16:colId xmlns:a16="http://schemas.microsoft.com/office/drawing/2014/main" val="2052873410"/>
                    </a:ext>
                  </a:extLst>
                </a:gridCol>
                <a:gridCol w="548640">
                  <a:extLst>
                    <a:ext uri="{9D8B030D-6E8A-4147-A177-3AD203B41FA5}">
                      <a16:colId xmlns:a16="http://schemas.microsoft.com/office/drawing/2014/main" val="1855319515"/>
                    </a:ext>
                  </a:extLst>
                </a:gridCol>
                <a:gridCol w="1106424">
                  <a:extLst>
                    <a:ext uri="{9D8B030D-6E8A-4147-A177-3AD203B41FA5}">
                      <a16:colId xmlns:a16="http://schemas.microsoft.com/office/drawing/2014/main" val="1751106920"/>
                    </a:ext>
                  </a:extLst>
                </a:gridCol>
                <a:gridCol w="914400">
                  <a:extLst>
                    <a:ext uri="{9D8B030D-6E8A-4147-A177-3AD203B41FA5}">
                      <a16:colId xmlns:a16="http://schemas.microsoft.com/office/drawing/2014/main" val="2713877290"/>
                    </a:ext>
                  </a:extLst>
                </a:gridCol>
              </a:tblGrid>
              <a:tr h="168870">
                <a:tc gridSpan="6">
                  <a:txBody>
                    <a:bodyPr/>
                    <a:lstStyle/>
                    <a:p>
                      <a:pPr algn="ctr" fontAlgn="t">
                        <a:buNone/>
                      </a:pPr>
                      <a:r>
                        <a:rPr lang="en-US" sz="1000" b="1" i="0" u="none" strike="noStrike">
                          <a:solidFill>
                            <a:srgbClr val="000000"/>
                          </a:solidFill>
                          <a:effectLst/>
                          <a:latin typeface="Calibri" panose="020F0502020204030204" pitchFamily="34" charset="0"/>
                        </a:rPr>
                        <a:t>Current Maintenance Plan</a:t>
                      </a:r>
                    </a:p>
                  </a:txBody>
                  <a:tcPr marL="4564" marR="4564" marT="4564" marB="0">
                    <a:lnL>
                      <a:noFill/>
                    </a:lnL>
                    <a:lnR w="6350" cap="flat" cmpd="sng" algn="ctr">
                      <a:solidFill>
                        <a:srgbClr val="000000"/>
                      </a:solidFill>
                      <a:prstDash val="solid"/>
                      <a:round/>
                      <a:headEnd type="none" w="med" len="med"/>
                      <a:tailEnd type="none" w="med" len="med"/>
                    </a:lnR>
                    <a:lnT>
                      <a:noFill/>
                    </a:lnT>
                    <a:lnB>
                      <a:noFill/>
                    </a:lnB>
                    <a:solidFill>
                      <a:srgbClr val="FFFF0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buNone/>
                      </a:pPr>
                      <a:r>
                        <a:rPr lang="en-US" sz="800" b="0" i="0" u="none" strike="noStrike">
                          <a:solidFill>
                            <a:srgbClr val="000000"/>
                          </a:solidFill>
                          <a:effectLst/>
                          <a:latin typeface="Calibri" panose="020F0502020204030204" pitchFamily="34" charset="0"/>
                        </a:rPr>
                        <a:t> </a:t>
                      </a:r>
                    </a:p>
                  </a:txBody>
                  <a:tcPr marL="4564" marR="4564" marT="456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4472C4"/>
                    </a:solidFill>
                  </a:tcPr>
                </a:tc>
                <a:tc gridSpan="7">
                  <a:txBody>
                    <a:bodyPr/>
                    <a:lstStyle/>
                    <a:p>
                      <a:pPr algn="ctr" fontAlgn="b">
                        <a:buNone/>
                      </a:pPr>
                      <a:r>
                        <a:rPr lang="en-US" sz="1000" b="1" i="0" u="none" strike="noStrike">
                          <a:solidFill>
                            <a:srgbClr val="000000"/>
                          </a:solidFill>
                          <a:effectLst/>
                          <a:latin typeface="Calibri" panose="020F0502020204030204" pitchFamily="34" charset="0"/>
                        </a:rPr>
                        <a:t>RCM Recommended Maintenance Plan</a:t>
                      </a:r>
                    </a:p>
                  </a:txBody>
                  <a:tcPr marL="4564" marR="4564" marT="4564" marB="0" anchor="b">
                    <a:lnL w="6350" cap="flat" cmpd="sng" algn="ctr">
                      <a:solidFill>
                        <a:srgbClr val="000000"/>
                      </a:solidFill>
                      <a:prstDash val="solid"/>
                      <a:round/>
                      <a:headEnd type="none" w="med" len="med"/>
                      <a:tailEnd type="none" w="med" len="med"/>
                    </a:lnL>
                    <a:lnR>
                      <a:noFill/>
                    </a:lnR>
                    <a:lnT>
                      <a:noFill/>
                    </a:lnT>
                    <a:lnB>
                      <a:noFill/>
                    </a:lnB>
                    <a:solidFill>
                      <a:srgbClr val="FFFF0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110829284"/>
                  </a:ext>
                </a:extLst>
              </a:tr>
              <a:tr h="132358">
                <a:tc>
                  <a:txBody>
                    <a:bodyPr/>
                    <a:lstStyle/>
                    <a:p>
                      <a:pPr algn="l" fontAlgn="t">
                        <a:buNone/>
                      </a:pPr>
                      <a:endParaRPr lang="en-US" sz="800" b="0" i="0" u="none" strike="noStrike">
                        <a:solidFill>
                          <a:srgbClr val="000000"/>
                        </a:solidFill>
                        <a:effectLst/>
                        <a:latin typeface="Calibri" panose="020F0502020204030204" pitchFamily="34" charset="0"/>
                      </a:endParaRPr>
                    </a:p>
                  </a:txBody>
                  <a:tcPr marL="4564" marR="4564" marT="4564" marB="0">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t">
                        <a:buNone/>
                      </a:pPr>
                      <a:endParaRPr lang="en-US" sz="800" b="0" i="0" u="none" strike="noStrike">
                        <a:solidFill>
                          <a:srgbClr val="000000"/>
                        </a:solidFill>
                        <a:effectLst/>
                        <a:latin typeface="Calibri" panose="020F0502020204030204" pitchFamily="34" charset="0"/>
                      </a:endParaRPr>
                    </a:p>
                  </a:txBody>
                  <a:tcPr marL="4564" marR="4564" marT="4564" marB="0">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t">
                        <a:buNone/>
                      </a:pPr>
                      <a:endParaRPr lang="en-US" sz="800" b="0" i="0" u="none" strike="noStrike">
                        <a:solidFill>
                          <a:srgbClr val="000000"/>
                        </a:solidFill>
                        <a:effectLst/>
                        <a:latin typeface="Calibri" panose="020F0502020204030204" pitchFamily="34" charset="0"/>
                      </a:endParaRPr>
                    </a:p>
                  </a:txBody>
                  <a:tcPr marL="4564" marR="4564" marT="4564" marB="0">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t">
                        <a:buNone/>
                      </a:pPr>
                      <a:endParaRPr lang="en-US" sz="800" b="0" i="0" u="none" strike="noStrike">
                        <a:solidFill>
                          <a:srgbClr val="000000"/>
                        </a:solidFill>
                        <a:effectLst/>
                        <a:latin typeface="Calibri" panose="020F0502020204030204" pitchFamily="34" charset="0"/>
                      </a:endParaRPr>
                    </a:p>
                  </a:txBody>
                  <a:tcPr marL="4564" marR="4564" marT="4564" marB="0">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t">
                        <a:buNone/>
                      </a:pPr>
                      <a:endParaRPr lang="en-US" sz="800" b="0" i="0" u="none" strike="noStrike">
                        <a:solidFill>
                          <a:srgbClr val="000000"/>
                        </a:solidFill>
                        <a:effectLst/>
                        <a:latin typeface="Calibri" panose="020F0502020204030204" pitchFamily="34" charset="0"/>
                      </a:endParaRPr>
                    </a:p>
                  </a:txBody>
                  <a:tcPr marL="4564" marR="4564" marT="4564" marB="0">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t">
                        <a:buNone/>
                      </a:pPr>
                      <a:endParaRPr lang="en-US" sz="800" b="0" i="0" u="none" strike="noStrike">
                        <a:solidFill>
                          <a:srgbClr val="000000"/>
                        </a:solidFill>
                        <a:effectLst/>
                        <a:latin typeface="Calibri" panose="020F0502020204030204" pitchFamily="34" charset="0"/>
                      </a:endParaRPr>
                    </a:p>
                  </a:txBody>
                  <a:tcPr marL="4564" marR="4564" marT="4564" marB="0">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800" b="0" i="0" u="none" strike="noStrike">
                          <a:solidFill>
                            <a:srgbClr val="000000"/>
                          </a:solidFill>
                          <a:effectLst/>
                          <a:latin typeface="Calibri" panose="020F0502020204030204" pitchFamily="34" charset="0"/>
                        </a:rPr>
                        <a:t> </a:t>
                      </a:r>
                    </a:p>
                  </a:txBody>
                  <a:tcPr marL="4564" marR="4564" marT="456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4472C4"/>
                    </a:solidFill>
                  </a:tcPr>
                </a:tc>
                <a:tc>
                  <a:txBody>
                    <a:bodyPr/>
                    <a:lstStyle/>
                    <a:p>
                      <a:pPr algn="l" fontAlgn="t">
                        <a:buNone/>
                      </a:pPr>
                      <a:endParaRPr lang="en-US" sz="800" b="0" i="0" u="none" strike="noStrike">
                        <a:solidFill>
                          <a:srgbClr val="000000"/>
                        </a:solidFill>
                        <a:effectLst/>
                        <a:latin typeface="Calibri" panose="020F0502020204030204" pitchFamily="34" charset="0"/>
                      </a:endParaRPr>
                    </a:p>
                  </a:txBody>
                  <a:tcPr marL="4564" marR="4564" marT="4564" marB="0">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a:txBody>
                    <a:bodyPr/>
                    <a:lstStyle/>
                    <a:p>
                      <a:pPr algn="l" fontAlgn="t">
                        <a:buNone/>
                      </a:pPr>
                      <a:endParaRPr lang="en-US" sz="800" b="0" i="0" u="none" strike="noStrike">
                        <a:solidFill>
                          <a:srgbClr val="000000"/>
                        </a:solidFill>
                        <a:effectLst/>
                        <a:latin typeface="Calibri" panose="020F0502020204030204" pitchFamily="34" charset="0"/>
                      </a:endParaRPr>
                    </a:p>
                  </a:txBody>
                  <a:tcPr marL="4564" marR="4564" marT="4564" marB="0">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800" b="0" i="0" u="none" strike="noStrike">
                        <a:solidFill>
                          <a:srgbClr val="000000"/>
                        </a:solidFill>
                        <a:effectLst/>
                        <a:latin typeface="Calibri" panose="020F0502020204030204" pitchFamily="34" charset="0"/>
                      </a:endParaRPr>
                    </a:p>
                  </a:txBody>
                  <a:tcPr marL="4564" marR="4564" marT="4564"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800" b="0" i="0" u="none" strike="noStrike">
                        <a:solidFill>
                          <a:srgbClr val="000000"/>
                        </a:solidFill>
                        <a:effectLst/>
                        <a:latin typeface="Calibri" panose="020F0502020204030204" pitchFamily="34" charset="0"/>
                      </a:endParaRPr>
                    </a:p>
                  </a:txBody>
                  <a:tcPr marL="4564" marR="4564" marT="4564"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800" b="0" i="0" u="none" strike="noStrike">
                        <a:solidFill>
                          <a:srgbClr val="000000"/>
                        </a:solidFill>
                        <a:effectLst/>
                        <a:latin typeface="Calibri" panose="020F0502020204030204" pitchFamily="34" charset="0"/>
                      </a:endParaRPr>
                    </a:p>
                  </a:txBody>
                  <a:tcPr marL="4564" marR="4564" marT="4564"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t">
                        <a:buNone/>
                      </a:pPr>
                      <a:endParaRPr lang="en-US" sz="800" b="0" i="0" u="none" strike="noStrike">
                        <a:solidFill>
                          <a:srgbClr val="000000"/>
                        </a:solidFill>
                        <a:effectLst/>
                        <a:latin typeface="Calibri" panose="020F0502020204030204" pitchFamily="34" charset="0"/>
                      </a:endParaRPr>
                    </a:p>
                  </a:txBody>
                  <a:tcPr marL="4564" marR="4564" marT="4564" marB="0">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800" b="0" i="0" u="none" strike="noStrike">
                        <a:solidFill>
                          <a:srgbClr val="000000"/>
                        </a:solidFill>
                        <a:effectLst/>
                        <a:latin typeface="Calibri" panose="020F0502020204030204" pitchFamily="34" charset="0"/>
                      </a:endParaRPr>
                    </a:p>
                  </a:txBody>
                  <a:tcPr marL="4564" marR="4564" marT="4564" marB="0"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89195167"/>
                  </a:ext>
                </a:extLst>
              </a:tr>
              <a:tr h="141486">
                <a:tc>
                  <a:txBody>
                    <a:bodyPr/>
                    <a:lstStyle/>
                    <a:p>
                      <a:pPr algn="l" fontAlgn="t">
                        <a:buNone/>
                      </a:pPr>
                      <a:r>
                        <a:rPr lang="en-US" sz="1050" b="1" i="0" u="none" strike="noStrike">
                          <a:solidFill>
                            <a:srgbClr val="000000"/>
                          </a:solidFill>
                          <a:effectLst/>
                          <a:latin typeface="Calibri" panose="020F0502020204030204" pitchFamily="34" charset="0"/>
                        </a:rPr>
                        <a:t>No</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50" b="1" i="0" u="none" strike="noStrike">
                          <a:solidFill>
                            <a:srgbClr val="000000"/>
                          </a:solidFill>
                          <a:effectLst/>
                          <a:latin typeface="Calibri" panose="020F0502020204030204" pitchFamily="34" charset="0"/>
                        </a:rPr>
                        <a:t>Ref</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50" b="1" i="0" u="none" strike="noStrike">
                          <a:solidFill>
                            <a:srgbClr val="000000"/>
                          </a:solidFill>
                          <a:effectLst/>
                          <a:latin typeface="Calibri" panose="020F0502020204030204" pitchFamily="34" charset="0"/>
                        </a:rPr>
                        <a:t>Failure Mode</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50" b="1" i="0" u="none" strike="noStrike">
                          <a:solidFill>
                            <a:srgbClr val="000000"/>
                          </a:solidFill>
                          <a:effectLst/>
                          <a:latin typeface="Calibri" panose="020F0502020204030204" pitchFamily="34" charset="0"/>
                        </a:rPr>
                        <a:t>Proposed Task</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50" b="1" i="0" u="none" strike="noStrike">
                          <a:solidFill>
                            <a:srgbClr val="000000"/>
                          </a:solidFill>
                          <a:effectLst/>
                          <a:latin typeface="Calibri" panose="020F0502020204030204" pitchFamily="34" charset="0"/>
                        </a:rPr>
                        <a:t>Interval</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50" b="1" i="0" u="none" strike="noStrike">
                          <a:solidFill>
                            <a:srgbClr val="000000"/>
                          </a:solidFill>
                          <a:effectLst/>
                          <a:latin typeface="Calibri" panose="020F0502020204030204" pitchFamily="34" charset="0"/>
                        </a:rPr>
                        <a:t>Trade</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64" marR="4564" marT="456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4472C4"/>
                    </a:solidFill>
                  </a:tcPr>
                </a:tc>
                <a:tc>
                  <a:txBody>
                    <a:bodyPr/>
                    <a:lstStyle/>
                    <a:p>
                      <a:pPr algn="l" fontAlgn="t">
                        <a:buNone/>
                      </a:pPr>
                      <a:r>
                        <a:rPr lang="en-US" sz="1050" b="1" i="0" u="none" strike="noStrike">
                          <a:solidFill>
                            <a:srgbClr val="000000"/>
                          </a:solidFill>
                          <a:effectLst/>
                          <a:latin typeface="Calibri" panose="020F0502020204030204" pitchFamily="34" charset="0"/>
                        </a:rPr>
                        <a:t>No</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50" b="1" i="0" u="none" strike="noStrike">
                          <a:solidFill>
                            <a:srgbClr val="000000"/>
                          </a:solidFill>
                          <a:effectLst/>
                          <a:latin typeface="Calibri" panose="020F0502020204030204" pitchFamily="34" charset="0"/>
                        </a:rPr>
                        <a:t>Ref</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50" b="1" i="0" u="none" strike="noStrike">
                          <a:solidFill>
                            <a:srgbClr val="000000"/>
                          </a:solidFill>
                          <a:effectLst/>
                          <a:latin typeface="Calibri" panose="020F0502020204030204" pitchFamily="34" charset="0"/>
                        </a:rPr>
                        <a:t>Failure Mode</a:t>
                      </a:r>
                    </a:p>
                  </a:txBody>
                  <a:tcPr marL="4564" marR="4564" marT="456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50" b="1" i="0" u="none" strike="noStrike">
                          <a:solidFill>
                            <a:srgbClr val="000000"/>
                          </a:solidFill>
                          <a:effectLst/>
                          <a:latin typeface="Calibri" panose="020F0502020204030204" pitchFamily="34" charset="0"/>
                        </a:rPr>
                        <a:t>Proposed Task</a:t>
                      </a:r>
                    </a:p>
                  </a:txBody>
                  <a:tcPr marL="4564" marR="4564" marT="456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50" b="1" i="0" u="none" strike="noStrike">
                          <a:solidFill>
                            <a:srgbClr val="000000"/>
                          </a:solidFill>
                          <a:effectLst/>
                          <a:latin typeface="Calibri" panose="020F0502020204030204" pitchFamily="34" charset="0"/>
                        </a:rPr>
                        <a:t>Interval</a:t>
                      </a:r>
                    </a:p>
                  </a:txBody>
                  <a:tcPr marL="4564" marR="4564" marT="456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50" b="1" i="0" u="none" strike="noStrike">
                          <a:solidFill>
                            <a:srgbClr val="000000"/>
                          </a:solidFill>
                          <a:effectLst/>
                          <a:latin typeface="Calibri" panose="020F0502020204030204" pitchFamily="34" charset="0"/>
                        </a:rPr>
                        <a:t>Trade</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50" b="1" i="0" u="none" strike="noStrike">
                          <a:solidFill>
                            <a:srgbClr val="000000"/>
                          </a:solidFill>
                          <a:effectLst/>
                          <a:latin typeface="Calibri" panose="020F0502020204030204" pitchFamily="34" charset="0"/>
                        </a:rPr>
                        <a:t>Remarks</a:t>
                      </a:r>
                    </a:p>
                  </a:txBody>
                  <a:tcPr marL="4564" marR="4564" marT="456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42220049"/>
                  </a:ext>
                </a:extLst>
              </a:tr>
              <a:tr h="245547">
                <a:tc>
                  <a:txBody>
                    <a:bodyPr/>
                    <a:lstStyle/>
                    <a:p>
                      <a:pPr algn="ctr" fontAlgn="t">
                        <a:buNone/>
                      </a:pPr>
                      <a:r>
                        <a:rPr lang="en-US" sz="1000" b="0" i="0" u="none" strike="noStrike">
                          <a:solidFill>
                            <a:srgbClr val="000000"/>
                          </a:solidFill>
                          <a:effectLst/>
                          <a:latin typeface="Calibri" panose="020F0502020204030204" pitchFamily="34" charset="0"/>
                        </a:rPr>
                        <a:t>42</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4472C4"/>
                    </a:solidFill>
                  </a:tcPr>
                </a:tc>
                <a:tc>
                  <a:txBody>
                    <a:bodyPr/>
                    <a:lstStyle/>
                    <a:p>
                      <a:pPr algn="ctr" fontAlgn="t">
                        <a:buNone/>
                      </a:pPr>
                      <a:r>
                        <a:rPr lang="en-US" sz="1000" b="0" i="0" u="none" strike="noStrike">
                          <a:solidFill>
                            <a:srgbClr val="000000"/>
                          </a:solidFill>
                          <a:effectLst/>
                          <a:latin typeface="Calibri" panose="020F0502020204030204" pitchFamily="34" charset="0"/>
                        </a:rPr>
                        <a:t>42</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18-A-01</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Grounding cable loose connection</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Perform ohmic test</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4 years</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CBSBELEC</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Added new</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17172916"/>
                  </a:ext>
                </a:extLst>
              </a:tr>
              <a:tr h="245547">
                <a:tc>
                  <a:txBody>
                    <a:bodyPr/>
                    <a:lstStyle/>
                    <a:p>
                      <a:pPr algn="ctr" fontAlgn="t">
                        <a:buNone/>
                      </a:pPr>
                      <a:r>
                        <a:rPr lang="en-US" sz="1000" b="0" i="0" u="none" strike="noStrike">
                          <a:solidFill>
                            <a:srgbClr val="000000"/>
                          </a:solidFill>
                          <a:effectLst/>
                          <a:latin typeface="Calibri" panose="020F0502020204030204" pitchFamily="34" charset="0"/>
                        </a:rPr>
                        <a:t>43</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4472C4"/>
                    </a:solidFill>
                  </a:tcPr>
                </a:tc>
                <a:tc>
                  <a:txBody>
                    <a:bodyPr/>
                    <a:lstStyle/>
                    <a:p>
                      <a:pPr algn="ctr" fontAlgn="t">
                        <a:buNone/>
                      </a:pPr>
                      <a:r>
                        <a:rPr lang="en-US" sz="1000" b="0" i="0" u="none" strike="noStrike">
                          <a:solidFill>
                            <a:srgbClr val="000000"/>
                          </a:solidFill>
                          <a:effectLst/>
                          <a:latin typeface="Calibri" panose="020F0502020204030204" pitchFamily="34" charset="0"/>
                        </a:rPr>
                        <a:t>43</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18-A-02</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Grounding bushing broken</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Perform ohmic test</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4 years</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CBSBELEC</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Added new</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60159790"/>
                  </a:ext>
                </a:extLst>
              </a:tr>
              <a:tr h="264716">
                <a:tc>
                  <a:txBody>
                    <a:bodyPr/>
                    <a:lstStyle/>
                    <a:p>
                      <a:pPr algn="ctr" fontAlgn="t">
                        <a:buNone/>
                      </a:pPr>
                      <a:r>
                        <a:rPr lang="en-US" sz="1000" b="0" i="0" u="none" strike="noStrike">
                          <a:solidFill>
                            <a:srgbClr val="000000"/>
                          </a:solidFill>
                          <a:effectLst/>
                          <a:latin typeface="Calibri" panose="020F0502020204030204" pitchFamily="34" charset="0"/>
                        </a:rPr>
                        <a:t>44</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4472C4"/>
                    </a:solidFill>
                  </a:tcPr>
                </a:tc>
                <a:tc>
                  <a:txBody>
                    <a:bodyPr/>
                    <a:lstStyle/>
                    <a:p>
                      <a:pPr algn="ctr" fontAlgn="t">
                        <a:buNone/>
                      </a:pPr>
                      <a:r>
                        <a:rPr lang="en-US" sz="1000" b="0" i="0" u="none" strike="noStrike">
                          <a:solidFill>
                            <a:srgbClr val="000000"/>
                          </a:solidFill>
                          <a:effectLst/>
                          <a:latin typeface="Calibri" panose="020F0502020204030204" pitchFamily="34" charset="0"/>
                        </a:rPr>
                        <a:t>44</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18-A-03</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Grounding copper conductor joint failed</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Perform ohmic test</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4 years</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CBSBELEC</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Added new</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61278034"/>
                  </a:ext>
                </a:extLst>
              </a:tr>
              <a:tr h="264716">
                <a:tc>
                  <a:txBody>
                    <a:bodyPr/>
                    <a:lstStyle/>
                    <a:p>
                      <a:pPr algn="ctr" fontAlgn="t">
                        <a:buNone/>
                      </a:pPr>
                      <a:r>
                        <a:rPr lang="en-US" sz="1000" b="0" i="0" u="none" strike="noStrike">
                          <a:solidFill>
                            <a:srgbClr val="000000"/>
                          </a:solidFill>
                          <a:effectLst/>
                          <a:latin typeface="Calibri" panose="020F0502020204030204" pitchFamily="34" charset="0"/>
                        </a:rPr>
                        <a:t>45</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4472C4"/>
                    </a:solidFill>
                  </a:tcPr>
                </a:tc>
                <a:tc>
                  <a:txBody>
                    <a:bodyPr/>
                    <a:lstStyle/>
                    <a:p>
                      <a:pPr algn="ctr" fontAlgn="t">
                        <a:buNone/>
                      </a:pPr>
                      <a:r>
                        <a:rPr lang="en-US" sz="1000" b="0" i="0" u="none" strike="noStrike">
                          <a:solidFill>
                            <a:srgbClr val="000000"/>
                          </a:solidFill>
                          <a:effectLst/>
                          <a:latin typeface="Calibri" panose="020F0502020204030204" pitchFamily="34" charset="0"/>
                        </a:rPr>
                        <a:t>45</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19-A-01</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Neutral grounding copper conductor joint failed</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Perform ohmic test</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4 years</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CBSBELEC</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Added new</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93249363"/>
                  </a:ext>
                </a:extLst>
              </a:tr>
              <a:tr h="245547">
                <a:tc>
                  <a:txBody>
                    <a:bodyPr/>
                    <a:lstStyle/>
                    <a:p>
                      <a:pPr algn="ctr" fontAlgn="t">
                        <a:buNone/>
                      </a:pPr>
                      <a:r>
                        <a:rPr lang="en-US" sz="1000" b="0" i="0" u="none" strike="noStrike">
                          <a:solidFill>
                            <a:srgbClr val="000000"/>
                          </a:solidFill>
                          <a:effectLst/>
                          <a:latin typeface="Calibri" panose="020F0502020204030204" pitchFamily="34" charset="0"/>
                        </a:rPr>
                        <a:t>46</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4472C4"/>
                    </a:solidFill>
                  </a:tcPr>
                </a:tc>
                <a:tc>
                  <a:txBody>
                    <a:bodyPr/>
                    <a:lstStyle/>
                    <a:p>
                      <a:pPr algn="ctr" fontAlgn="t">
                        <a:buNone/>
                      </a:pPr>
                      <a:r>
                        <a:rPr lang="en-US" sz="1000" b="0" i="0" u="none" strike="noStrike">
                          <a:solidFill>
                            <a:srgbClr val="000000"/>
                          </a:solidFill>
                          <a:effectLst/>
                          <a:latin typeface="Calibri" panose="020F0502020204030204" pitchFamily="34" charset="0"/>
                        </a:rPr>
                        <a:t>46</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19-A-02</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Neutral grounding bushing broken</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Perform ohmic test</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4 years</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CBSBELEC</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Added new</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35129592"/>
                  </a:ext>
                </a:extLst>
              </a:tr>
              <a:tr h="397073">
                <a:tc>
                  <a:txBody>
                    <a:bodyPr/>
                    <a:lstStyle/>
                    <a:p>
                      <a:pPr algn="ctr" fontAlgn="t">
                        <a:buNone/>
                      </a:pPr>
                      <a:r>
                        <a:rPr lang="en-US" sz="1000" b="0" i="0" u="none" strike="noStrike">
                          <a:solidFill>
                            <a:srgbClr val="000000"/>
                          </a:solidFill>
                          <a:effectLst/>
                          <a:latin typeface="Calibri" panose="020F0502020204030204" pitchFamily="34" charset="0"/>
                        </a:rPr>
                        <a:t>47</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4472C4"/>
                    </a:solidFill>
                  </a:tcPr>
                </a:tc>
                <a:tc>
                  <a:txBody>
                    <a:bodyPr/>
                    <a:lstStyle/>
                    <a:p>
                      <a:pPr algn="ctr" fontAlgn="t">
                        <a:buNone/>
                      </a:pPr>
                      <a:r>
                        <a:rPr lang="en-US" sz="1000" b="0" i="0" u="none" strike="noStrike">
                          <a:solidFill>
                            <a:srgbClr val="000000"/>
                          </a:solidFill>
                          <a:effectLst/>
                          <a:latin typeface="Calibri" panose="020F0502020204030204" pitchFamily="34" charset="0"/>
                        </a:rPr>
                        <a:t>47</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21-A-01</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Foundation cracked</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Perform visual inspection (observe for any foundation crack)</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dirty="0">
                          <a:solidFill>
                            <a:srgbClr val="000000"/>
                          </a:solidFill>
                          <a:effectLst/>
                          <a:latin typeface="Calibri" panose="020F0502020204030204" pitchFamily="34" charset="0"/>
                        </a:rPr>
                        <a:t>6 monthly</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CBSBSVFC</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Added new</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83824855"/>
                  </a:ext>
                </a:extLst>
              </a:tr>
              <a:tr h="397073">
                <a:tc>
                  <a:txBody>
                    <a:bodyPr/>
                    <a:lstStyle/>
                    <a:p>
                      <a:pPr algn="ctr" fontAlgn="t">
                        <a:buNone/>
                      </a:pPr>
                      <a:r>
                        <a:rPr lang="en-US" sz="1000" b="0" i="0" u="none" strike="noStrike">
                          <a:solidFill>
                            <a:srgbClr val="000000"/>
                          </a:solidFill>
                          <a:effectLst/>
                          <a:latin typeface="Calibri" panose="020F0502020204030204" pitchFamily="34" charset="0"/>
                        </a:rPr>
                        <a:t>48</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4472C4"/>
                    </a:solidFill>
                  </a:tcPr>
                </a:tc>
                <a:tc>
                  <a:txBody>
                    <a:bodyPr/>
                    <a:lstStyle/>
                    <a:p>
                      <a:pPr algn="ctr" fontAlgn="t">
                        <a:buNone/>
                      </a:pPr>
                      <a:r>
                        <a:rPr lang="en-US" sz="1000" b="0" i="0" u="none" strike="noStrike">
                          <a:solidFill>
                            <a:srgbClr val="000000"/>
                          </a:solidFill>
                          <a:effectLst/>
                          <a:latin typeface="Calibri" panose="020F0502020204030204" pitchFamily="34" charset="0"/>
                        </a:rPr>
                        <a:t>48</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21-A-02</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Land sinking</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Perform visual inspection (observe for any foundation crack)</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dirty="0">
                          <a:solidFill>
                            <a:srgbClr val="000000"/>
                          </a:solidFill>
                          <a:effectLst/>
                          <a:latin typeface="Calibri" panose="020F0502020204030204" pitchFamily="34" charset="0"/>
                        </a:rPr>
                        <a:t>6 monthly</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dirty="0">
                          <a:solidFill>
                            <a:srgbClr val="000000"/>
                          </a:solidFill>
                          <a:effectLst/>
                          <a:latin typeface="Calibri" panose="020F0502020204030204" pitchFamily="34" charset="0"/>
                        </a:rPr>
                        <a:t>CBSBSVFC</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Added new</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48293703"/>
                  </a:ext>
                </a:extLst>
              </a:tr>
              <a:tr h="397073">
                <a:tc>
                  <a:txBody>
                    <a:bodyPr/>
                    <a:lstStyle/>
                    <a:p>
                      <a:pPr algn="ctr" fontAlgn="t">
                        <a:buNone/>
                      </a:pPr>
                      <a:r>
                        <a:rPr lang="en-US" sz="1000" b="0" i="0" u="none" strike="noStrike">
                          <a:solidFill>
                            <a:srgbClr val="000000"/>
                          </a:solidFill>
                          <a:effectLst/>
                          <a:latin typeface="Calibri" panose="020F0502020204030204" pitchFamily="34" charset="0"/>
                        </a:rPr>
                        <a:t>49</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4472C4"/>
                    </a:solidFill>
                  </a:tcPr>
                </a:tc>
                <a:tc>
                  <a:txBody>
                    <a:bodyPr/>
                    <a:lstStyle/>
                    <a:p>
                      <a:pPr algn="ctr" fontAlgn="t">
                        <a:buNone/>
                      </a:pPr>
                      <a:r>
                        <a:rPr lang="en-US" sz="1000" b="0" i="0" u="none" strike="noStrike">
                          <a:solidFill>
                            <a:srgbClr val="000000"/>
                          </a:solidFill>
                          <a:effectLst/>
                          <a:latin typeface="Calibri" panose="020F0502020204030204" pitchFamily="34" charset="0"/>
                        </a:rPr>
                        <a:t>49</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21-A-03</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Differential settlement</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Perform visual inspection (observe for any foundation crack)</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dirty="0">
                          <a:solidFill>
                            <a:srgbClr val="000000"/>
                          </a:solidFill>
                          <a:effectLst/>
                          <a:latin typeface="Calibri" panose="020F0502020204030204" pitchFamily="34" charset="0"/>
                        </a:rPr>
                        <a:t>4 years</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CBSBSVFC</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Added new</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52756337"/>
                  </a:ext>
                </a:extLst>
              </a:tr>
              <a:tr h="245547">
                <a:tc>
                  <a:txBody>
                    <a:bodyPr/>
                    <a:lstStyle/>
                    <a:p>
                      <a:pPr algn="ctr" fontAlgn="t">
                        <a:buNone/>
                      </a:pPr>
                      <a:r>
                        <a:rPr lang="en-US" sz="1000" b="0" i="0" u="none" strike="noStrike">
                          <a:solidFill>
                            <a:srgbClr val="000000"/>
                          </a:solidFill>
                          <a:effectLst/>
                          <a:latin typeface="Calibri" panose="020F0502020204030204" pitchFamily="34" charset="0"/>
                        </a:rPr>
                        <a:t>50</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 </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 </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 </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 </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 </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4472C4"/>
                    </a:solidFill>
                  </a:tcPr>
                </a:tc>
                <a:tc>
                  <a:txBody>
                    <a:bodyPr/>
                    <a:lstStyle/>
                    <a:p>
                      <a:pPr algn="ctr" fontAlgn="t">
                        <a:buNone/>
                      </a:pPr>
                      <a:r>
                        <a:rPr lang="en-US" sz="1000" b="0" i="0" u="none" strike="noStrike">
                          <a:solidFill>
                            <a:srgbClr val="000000"/>
                          </a:solidFill>
                          <a:effectLst/>
                          <a:latin typeface="Calibri" panose="020F0502020204030204" pitchFamily="34" charset="0"/>
                        </a:rPr>
                        <a:t>50</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25-A-01</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Filter damaged</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Perform filter replacement</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4 years</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CBSBELEC</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Added new</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25317919"/>
                  </a:ext>
                </a:extLst>
              </a:tr>
              <a:tr h="264716">
                <a:tc>
                  <a:txBody>
                    <a:bodyPr/>
                    <a:lstStyle/>
                    <a:p>
                      <a:pPr algn="ctr" fontAlgn="t">
                        <a:buNone/>
                      </a:pPr>
                      <a:r>
                        <a:rPr lang="en-US" sz="1000" b="0" i="0" u="none" strike="noStrike">
                          <a:solidFill>
                            <a:srgbClr val="000000"/>
                          </a:solidFill>
                          <a:effectLst/>
                          <a:latin typeface="Calibri" panose="020F0502020204030204" pitchFamily="34" charset="0"/>
                        </a:rPr>
                        <a:t>51</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 </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 </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 </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 </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 </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4472C4"/>
                    </a:solidFill>
                  </a:tcPr>
                </a:tc>
                <a:tc>
                  <a:txBody>
                    <a:bodyPr/>
                    <a:lstStyle/>
                    <a:p>
                      <a:pPr algn="ctr" fontAlgn="t">
                        <a:buNone/>
                      </a:pPr>
                      <a:r>
                        <a:rPr lang="en-US" sz="1000" b="0" i="0" u="none" strike="noStrike">
                          <a:solidFill>
                            <a:srgbClr val="000000"/>
                          </a:solidFill>
                          <a:effectLst/>
                          <a:latin typeface="Calibri" panose="020F0502020204030204" pitchFamily="34" charset="0"/>
                        </a:rPr>
                        <a:t>51</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26-A-02</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OLTC circulating pump damaged</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Ensure OLTC circulating pump spare availability</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CBSBELEC</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Added new</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85725360"/>
                  </a:ext>
                </a:extLst>
              </a:tr>
              <a:tr h="264716">
                <a:tc>
                  <a:txBody>
                    <a:bodyPr/>
                    <a:lstStyle/>
                    <a:p>
                      <a:pPr algn="ctr" fontAlgn="t">
                        <a:buNone/>
                      </a:pPr>
                      <a:r>
                        <a:rPr lang="en-US" sz="1000" b="0" i="0" u="none" strike="noStrike">
                          <a:solidFill>
                            <a:srgbClr val="000000"/>
                          </a:solidFill>
                          <a:effectLst/>
                          <a:latin typeface="Calibri" panose="020F0502020204030204" pitchFamily="34" charset="0"/>
                        </a:rPr>
                        <a:t>52</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 </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 </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 </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 </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 </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4472C4"/>
                    </a:solidFill>
                  </a:tcPr>
                </a:tc>
                <a:tc>
                  <a:txBody>
                    <a:bodyPr/>
                    <a:lstStyle/>
                    <a:p>
                      <a:pPr algn="ctr" fontAlgn="t">
                        <a:buNone/>
                      </a:pPr>
                      <a:r>
                        <a:rPr lang="en-US" sz="1000" b="0" i="0" u="none" strike="noStrike">
                          <a:solidFill>
                            <a:srgbClr val="000000"/>
                          </a:solidFill>
                          <a:effectLst/>
                          <a:latin typeface="Calibri" panose="020F0502020204030204" pitchFamily="34" charset="0"/>
                        </a:rPr>
                        <a:t>52</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27-A-01</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OLTC filter DP switch faukty</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Ensure OLTC DP siwtch spare availability</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CBSBELEC</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Added new</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85945403"/>
                  </a:ext>
                </a:extLst>
              </a:tr>
              <a:tr h="264716">
                <a:tc>
                  <a:txBody>
                    <a:bodyPr/>
                    <a:lstStyle/>
                    <a:p>
                      <a:pPr algn="ctr" fontAlgn="t">
                        <a:buNone/>
                      </a:pPr>
                      <a:r>
                        <a:rPr lang="en-US" sz="1000" b="0" i="0" u="none" strike="noStrike">
                          <a:solidFill>
                            <a:srgbClr val="000000"/>
                          </a:solidFill>
                          <a:effectLst/>
                          <a:latin typeface="Calibri" panose="020F0502020204030204" pitchFamily="34" charset="0"/>
                        </a:rPr>
                        <a:t>53</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 </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 </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 </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 </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 </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4472C4"/>
                    </a:solidFill>
                  </a:tcPr>
                </a:tc>
                <a:tc>
                  <a:txBody>
                    <a:bodyPr/>
                    <a:lstStyle/>
                    <a:p>
                      <a:pPr algn="ctr" fontAlgn="t">
                        <a:buNone/>
                      </a:pPr>
                      <a:r>
                        <a:rPr lang="en-US" sz="1000" b="0" i="0" u="none" strike="noStrike">
                          <a:solidFill>
                            <a:srgbClr val="000000"/>
                          </a:solidFill>
                          <a:effectLst/>
                          <a:latin typeface="Calibri" panose="020F0502020204030204" pitchFamily="34" charset="0"/>
                        </a:rPr>
                        <a:t>53</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28-A-01</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PLC program corrupted</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Perform PLC program checksum test</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4 years</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CBSBCNI</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Added new</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73749321"/>
                  </a:ext>
                </a:extLst>
              </a:tr>
              <a:tr h="397073">
                <a:tc>
                  <a:txBody>
                    <a:bodyPr/>
                    <a:lstStyle/>
                    <a:p>
                      <a:pPr algn="ctr" fontAlgn="t">
                        <a:buNone/>
                      </a:pPr>
                      <a:r>
                        <a:rPr lang="en-US" sz="1000" b="0" i="0" u="none" strike="noStrike">
                          <a:solidFill>
                            <a:srgbClr val="000000"/>
                          </a:solidFill>
                          <a:effectLst/>
                          <a:latin typeface="Calibri" panose="020F0502020204030204" pitchFamily="34" charset="0"/>
                        </a:rPr>
                        <a:t>54</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 </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 </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 </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 </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 </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 </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4472C4"/>
                    </a:solidFill>
                  </a:tcPr>
                </a:tc>
                <a:tc>
                  <a:txBody>
                    <a:bodyPr/>
                    <a:lstStyle/>
                    <a:p>
                      <a:pPr algn="ctr" fontAlgn="t">
                        <a:buNone/>
                      </a:pPr>
                      <a:r>
                        <a:rPr lang="en-US" sz="1000" b="0" i="0" u="none" strike="noStrike">
                          <a:solidFill>
                            <a:srgbClr val="000000"/>
                          </a:solidFill>
                          <a:effectLst/>
                          <a:latin typeface="Calibri" panose="020F0502020204030204" pitchFamily="34" charset="0"/>
                        </a:rPr>
                        <a:t>54</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28-A-02</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PLC program corrupted</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Calibri" panose="020F0502020204030204" pitchFamily="34" charset="0"/>
                        </a:rPr>
                        <a:t>Perform PLC program backup</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Everytime program changes</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a:solidFill>
                            <a:srgbClr val="000000"/>
                          </a:solidFill>
                          <a:effectLst/>
                          <a:latin typeface="Calibri" panose="020F0502020204030204" pitchFamily="34" charset="0"/>
                        </a:rPr>
                        <a:t>CBSBCNI</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00" b="0" i="0" u="none" strike="noStrike" dirty="0">
                          <a:solidFill>
                            <a:srgbClr val="000000"/>
                          </a:solidFill>
                          <a:effectLst/>
                          <a:latin typeface="Calibri" panose="020F0502020204030204" pitchFamily="34" charset="0"/>
                        </a:rPr>
                        <a:t>Added new</a:t>
                      </a:r>
                    </a:p>
                  </a:txBody>
                  <a:tcPr marL="4564" marR="4564" marT="456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76404148"/>
                  </a:ext>
                </a:extLst>
              </a:tr>
            </a:tbl>
          </a:graphicData>
        </a:graphic>
      </p:graphicFrame>
      <p:sp>
        <p:nvSpPr>
          <p:cNvPr id="6" name="Slide Number Placeholder 14352">
            <a:extLst>
              <a:ext uri="{FF2B5EF4-FFF2-40B4-BE49-F238E27FC236}">
                <a16:creationId xmlns:a16="http://schemas.microsoft.com/office/drawing/2014/main" id="{41EDD5EE-F5D2-CF9A-CAEC-343D2037302E}"/>
              </a:ext>
            </a:extLst>
          </p:cNvPr>
          <p:cNvSpPr txBox="1">
            <a:spLocks/>
          </p:cNvSpPr>
          <p:nvPr/>
        </p:nvSpPr>
        <p:spPr>
          <a:xfrm>
            <a:off x="9380560" y="6518434"/>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9</a:t>
            </a:r>
          </a:p>
        </p:txBody>
      </p:sp>
    </p:spTree>
    <p:extLst>
      <p:ext uri="{BB962C8B-B14F-4D97-AF65-F5344CB8AC3E}">
        <p14:creationId xmlns:p14="http://schemas.microsoft.com/office/powerpoint/2010/main" val="25460597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38BF81D-13BA-4EF5-A2FB-5D0C92DFD23B}"/>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t="13483" b="26966"/>
          <a:stretch/>
        </p:blipFill>
        <p:spPr bwMode="auto">
          <a:xfrm>
            <a:off x="10748507" y="80255"/>
            <a:ext cx="1225443" cy="473074"/>
          </a:xfrm>
          <a:prstGeom prst="rect">
            <a:avLst/>
          </a:prstGeom>
          <a:noFill/>
          <a:ln>
            <a:noFill/>
          </a:ln>
          <a:extLst>
            <a:ext uri="{53640926-AAD7-44D8-BBD7-CCE9431645EC}">
              <a14:shadowObscured xmlns:a14="http://schemas.microsoft.com/office/drawing/2010/main"/>
            </a:ext>
          </a:extLst>
        </p:spPr>
      </p:pic>
      <p:cxnSp>
        <p:nvCxnSpPr>
          <p:cNvPr id="8" name="Straight Connector 7">
            <a:extLst>
              <a:ext uri="{FF2B5EF4-FFF2-40B4-BE49-F238E27FC236}">
                <a16:creationId xmlns:a16="http://schemas.microsoft.com/office/drawing/2014/main" id="{380124A7-698A-4D88-9046-55A67076DEA3}"/>
              </a:ext>
            </a:extLst>
          </p:cNvPr>
          <p:cNvCxnSpPr/>
          <p:nvPr/>
        </p:nvCxnSpPr>
        <p:spPr>
          <a:xfrm>
            <a:off x="479402" y="937299"/>
            <a:ext cx="10607040" cy="0"/>
          </a:xfrm>
          <a:prstGeom prst="line">
            <a:avLst/>
          </a:prstGeom>
        </p:spPr>
        <p:style>
          <a:lnRef idx="3">
            <a:schemeClr val="accent3"/>
          </a:lnRef>
          <a:fillRef idx="0">
            <a:schemeClr val="accent3"/>
          </a:fillRef>
          <a:effectRef idx="2">
            <a:schemeClr val="accent3"/>
          </a:effectRef>
          <a:fontRef idx="minor">
            <a:schemeClr val="tx1"/>
          </a:fontRef>
        </p:style>
      </p:cxnSp>
      <p:sp>
        <p:nvSpPr>
          <p:cNvPr id="3" name="Slide Number Placeholder 2">
            <a:extLst>
              <a:ext uri="{FF2B5EF4-FFF2-40B4-BE49-F238E27FC236}">
                <a16:creationId xmlns:a16="http://schemas.microsoft.com/office/drawing/2014/main" id="{61EBBB7F-41E1-4571-8302-EC2AB097A93D}"/>
              </a:ext>
            </a:extLst>
          </p:cNvPr>
          <p:cNvSpPr>
            <a:spLocks noGrp="1"/>
          </p:cNvSpPr>
          <p:nvPr>
            <p:ph type="sldNum" sz="quarter" idx="12"/>
          </p:nvPr>
        </p:nvSpPr>
        <p:spPr>
          <a:xfrm>
            <a:off x="8900311" y="6479282"/>
            <a:ext cx="2743200" cy="365125"/>
          </a:xfrm>
        </p:spPr>
        <p:txBody>
          <a:bodyPr/>
          <a:lstStyle/>
          <a:p>
            <a:r>
              <a:rPr lang="en-US"/>
              <a:t>10</a:t>
            </a:r>
          </a:p>
        </p:txBody>
      </p:sp>
      <p:graphicFrame>
        <p:nvGraphicFramePr>
          <p:cNvPr id="5" name="Table 4">
            <a:extLst>
              <a:ext uri="{FF2B5EF4-FFF2-40B4-BE49-F238E27FC236}">
                <a16:creationId xmlns:a16="http://schemas.microsoft.com/office/drawing/2014/main" id="{33B723E4-73E1-A227-1D48-4B0BE9D9B57C}"/>
              </a:ext>
            </a:extLst>
          </p:cNvPr>
          <p:cNvGraphicFramePr>
            <a:graphicFrameLocks noGrp="1"/>
          </p:cNvGraphicFramePr>
          <p:nvPr>
            <p:extLst>
              <p:ext uri="{D42A27DB-BD31-4B8C-83A1-F6EECF244321}">
                <p14:modId xmlns:p14="http://schemas.microsoft.com/office/powerpoint/2010/main" val="3390077693"/>
              </p:ext>
            </p:extLst>
          </p:nvPr>
        </p:nvGraphicFramePr>
        <p:xfrm>
          <a:off x="735980" y="1988014"/>
          <a:ext cx="6559370" cy="4028857"/>
        </p:xfrm>
        <a:graphic>
          <a:graphicData uri="http://schemas.openxmlformats.org/drawingml/2006/table">
            <a:tbl>
              <a:tblPr/>
              <a:tblGrid>
                <a:gridCol w="431391">
                  <a:extLst>
                    <a:ext uri="{9D8B030D-6E8A-4147-A177-3AD203B41FA5}">
                      <a16:colId xmlns:a16="http://schemas.microsoft.com/office/drawing/2014/main" val="3087826148"/>
                    </a:ext>
                  </a:extLst>
                </a:gridCol>
                <a:gridCol w="2449596">
                  <a:extLst>
                    <a:ext uri="{9D8B030D-6E8A-4147-A177-3AD203B41FA5}">
                      <a16:colId xmlns:a16="http://schemas.microsoft.com/office/drawing/2014/main" val="2512908617"/>
                    </a:ext>
                  </a:extLst>
                </a:gridCol>
                <a:gridCol w="1331828">
                  <a:extLst>
                    <a:ext uri="{9D8B030D-6E8A-4147-A177-3AD203B41FA5}">
                      <a16:colId xmlns:a16="http://schemas.microsoft.com/office/drawing/2014/main" val="2093427443"/>
                    </a:ext>
                  </a:extLst>
                </a:gridCol>
                <a:gridCol w="2346555">
                  <a:extLst>
                    <a:ext uri="{9D8B030D-6E8A-4147-A177-3AD203B41FA5}">
                      <a16:colId xmlns:a16="http://schemas.microsoft.com/office/drawing/2014/main" val="457018507"/>
                    </a:ext>
                  </a:extLst>
                </a:gridCol>
              </a:tblGrid>
              <a:tr h="401517">
                <a:tc>
                  <a:txBody>
                    <a:bodyPr/>
                    <a:lstStyle/>
                    <a:p>
                      <a:pPr algn="ctr" fontAlgn="t"/>
                      <a:r>
                        <a:rPr lang="en-US" sz="1400" b="1" i="0" u="none" strike="noStrike">
                          <a:solidFill>
                            <a:srgbClr val="000000"/>
                          </a:solidFill>
                          <a:effectLst/>
                          <a:latin typeface="Calibri" panose="020F0502020204030204" pitchFamily="34" charset="0"/>
                        </a:rPr>
                        <a:t>No.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t"/>
                      <a:r>
                        <a:rPr lang="en-US" sz="1400" b="1" i="0" u="none" strike="noStrike">
                          <a:solidFill>
                            <a:srgbClr val="000000"/>
                          </a:solidFill>
                          <a:effectLst/>
                          <a:latin typeface="Calibri" panose="020F0502020204030204" pitchFamily="34" charset="0"/>
                        </a:rPr>
                        <a:t>Name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t"/>
                      <a:r>
                        <a:rPr lang="en-US" sz="1400" b="1" i="0" u="none" strike="noStrike">
                          <a:solidFill>
                            <a:srgbClr val="000000"/>
                          </a:solidFill>
                          <a:effectLst/>
                          <a:latin typeface="Calibri" panose="020F0502020204030204" pitchFamily="34" charset="0"/>
                        </a:rPr>
                        <a:t>Role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t"/>
                      <a:r>
                        <a:rPr lang="en-US" sz="1400" b="1" i="0" u="none" strike="noStrike">
                          <a:solidFill>
                            <a:srgbClr val="000000"/>
                          </a:solidFill>
                          <a:effectLst/>
                          <a:latin typeface="Calibri" panose="020F0502020204030204" pitchFamily="34" charset="0"/>
                        </a:rPr>
                        <a:t>Position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extLst>
                  <a:ext uri="{0D108BD9-81ED-4DB2-BD59-A6C34878D82A}">
                    <a16:rowId xmlns:a16="http://schemas.microsoft.com/office/drawing/2014/main" val="2905875821"/>
                  </a:ext>
                </a:extLst>
              </a:tr>
              <a:tr h="292625">
                <a:tc>
                  <a:txBody>
                    <a:bodyPr/>
                    <a:lstStyle/>
                    <a:p>
                      <a:pPr algn="ctr" fontAlgn="t"/>
                      <a:r>
                        <a:rPr lang="de-DE" sz="1400" b="0" i="0" u="none" strike="noStrike" baseline="0">
                          <a:solidFill>
                            <a:srgbClr val="000000"/>
                          </a:solidFill>
                          <a:effectLst/>
                          <a:latin typeface="Calibri" panose="020F0502020204030204" pitchFamily="34" charset="0"/>
                        </a:rPr>
                        <a:t>1</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l" defTabSz="914400" rtl="0" eaLnBrk="1" fontAlgn="t" latinLnBrk="0" hangingPunct="1"/>
                      <a:r>
                        <a:rPr lang="de-DE" sz="1400" b="0" i="0" u="none" strike="noStrike" kern="1200" dirty="0">
                          <a:solidFill>
                            <a:srgbClr val="000000"/>
                          </a:solidFill>
                          <a:effectLst/>
                          <a:latin typeface="Calibri" panose="020F0502020204030204" pitchFamily="34" charset="0"/>
                          <a:ea typeface="+mn-ea"/>
                          <a:cs typeface="+mn-cs"/>
                        </a:rPr>
                        <a:t>Ahmad Zukiman Bin Mohamad Hashim</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t" latinLnBrk="0" hangingPunct="1"/>
                      <a:r>
                        <a:rPr lang="en-US" sz="1400" b="0" i="0" u="none" strike="noStrike" kern="1200">
                          <a:solidFill>
                            <a:srgbClr val="000000"/>
                          </a:solidFill>
                          <a:effectLst/>
                          <a:latin typeface="Calibri" panose="020F0502020204030204" pitchFamily="34" charset="0"/>
                          <a:ea typeface="+mn-ea"/>
                          <a:cs typeface="+mn-cs"/>
                        </a:rPr>
                        <a:t>Auditor </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t" latinLnBrk="0" hangingPunct="1"/>
                      <a:r>
                        <a:rPr lang="en-US" sz="1400" b="0" i="0" u="none" strike="noStrike" kern="1200">
                          <a:solidFill>
                            <a:srgbClr val="000000"/>
                          </a:solidFill>
                          <a:effectLst/>
                          <a:latin typeface="Calibri" panose="020F0502020204030204" pitchFamily="34" charset="0"/>
                          <a:ea typeface="+mn-ea"/>
                          <a:cs typeface="+mn-cs"/>
                        </a:rPr>
                        <a:t>CBSB Management</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26630430"/>
                  </a:ext>
                </a:extLst>
              </a:tr>
              <a:tr h="292625">
                <a:tc>
                  <a:txBody>
                    <a:bodyPr/>
                    <a:lstStyle/>
                    <a:p>
                      <a:pPr algn="ctr" fontAlgn="t"/>
                      <a:r>
                        <a:rPr lang="de-DE" sz="1400" b="0" i="0" u="none" strike="noStrike" baseline="0" dirty="0">
                          <a:solidFill>
                            <a:srgbClr val="000000"/>
                          </a:solidFill>
                          <a:effectLst/>
                          <a:latin typeface="Calibri" panose="020F0502020204030204" pitchFamily="34" charset="0"/>
                        </a:rPr>
                        <a:t>2</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l" defTabSz="914400" rtl="0" eaLnBrk="1" fontAlgn="t" latinLnBrk="0" hangingPunct="1"/>
                      <a:r>
                        <a:rPr lang="de-DE" sz="1400" b="0" i="0" u="none" strike="noStrike" kern="1200" dirty="0">
                          <a:solidFill>
                            <a:srgbClr val="000000"/>
                          </a:solidFill>
                          <a:effectLst/>
                          <a:latin typeface="Calibri" panose="020F0502020204030204" pitchFamily="34" charset="0"/>
                          <a:ea typeface="+mn-ea"/>
                          <a:cs typeface="+mn-cs"/>
                        </a:rPr>
                        <a:t>Muhammad Hafiizh Bin Draman</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t" latinLnBrk="0" hangingPunct="1"/>
                      <a:r>
                        <a:rPr lang="en-US" sz="1400" b="0" i="0" u="none" strike="noStrike" kern="1200" dirty="0">
                          <a:solidFill>
                            <a:srgbClr val="000000"/>
                          </a:solidFill>
                          <a:effectLst/>
                          <a:latin typeface="Calibri" panose="020F0502020204030204" pitchFamily="34" charset="0"/>
                          <a:ea typeface="+mn-ea"/>
                          <a:cs typeface="+mn-cs"/>
                        </a:rPr>
                        <a:t>Auditor</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t" latinLnBrk="0" hangingPunct="1"/>
                      <a:r>
                        <a:rPr lang="en-US" sz="1400" b="0" i="0" u="none" strike="noStrike" kern="1200" dirty="0">
                          <a:solidFill>
                            <a:srgbClr val="000000"/>
                          </a:solidFill>
                          <a:effectLst/>
                          <a:latin typeface="Calibri" panose="020F0502020204030204" pitchFamily="34" charset="0"/>
                          <a:ea typeface="+mn-ea"/>
                          <a:cs typeface="+mn-cs"/>
                        </a:rPr>
                        <a:t>CBSB Management</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99590241"/>
                  </a:ext>
                </a:extLst>
              </a:tr>
              <a:tr h="292625">
                <a:tc>
                  <a:txBody>
                    <a:bodyPr/>
                    <a:lstStyle/>
                    <a:p>
                      <a:pPr algn="ctr" fontAlgn="t"/>
                      <a:r>
                        <a:rPr lang="de-DE" sz="1400" b="0" i="0" u="none" strike="noStrike" baseline="0" dirty="0">
                          <a:solidFill>
                            <a:srgbClr val="000000"/>
                          </a:solidFill>
                          <a:effectLst/>
                          <a:latin typeface="Calibri" panose="020F0502020204030204" pitchFamily="34" charset="0"/>
                        </a:rPr>
                        <a:t>3</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l" defTabSz="914400" rtl="0" eaLnBrk="1" fontAlgn="t" latinLnBrk="0" hangingPunct="1"/>
                      <a:r>
                        <a:rPr lang="de-DE" sz="1400" b="0" i="0" u="none" strike="noStrike" kern="1200" dirty="0">
                          <a:solidFill>
                            <a:srgbClr val="000000"/>
                          </a:solidFill>
                          <a:effectLst/>
                          <a:latin typeface="Calibri" panose="020F0502020204030204" pitchFamily="34" charset="0"/>
                          <a:ea typeface="+mn-ea"/>
                          <a:cs typeface="+mn-cs"/>
                        </a:rPr>
                        <a:t>Muhamad Nor Taufik bin Sahani</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Calibri" panose="020F0502020204030204" pitchFamily="34" charset="0"/>
                          <a:ea typeface="+mn-ea"/>
                          <a:cs typeface="+mn-cs"/>
                        </a:rPr>
                        <a:t>Auditor</a:t>
                      </a:r>
                    </a:p>
                    <a:p>
                      <a:pPr marL="0" algn="ctr" defTabSz="914400" rtl="0" eaLnBrk="1" fontAlgn="t" latinLnBrk="0" hangingPunct="1"/>
                      <a:endParaRPr lang="en-US" sz="1400" b="0" i="0" u="none" strike="noStrike" kern="1200" dirty="0">
                        <a:solidFill>
                          <a:srgbClr val="000000"/>
                        </a:solidFill>
                        <a:effectLst/>
                        <a:latin typeface="Calibri" panose="020F0502020204030204" pitchFamily="34" charset="0"/>
                        <a:ea typeface="+mn-ea"/>
                        <a:cs typeface="+mn-cs"/>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Calibri" panose="020F0502020204030204" pitchFamily="34" charset="0"/>
                          <a:ea typeface="+mn-ea"/>
                          <a:cs typeface="+mn-cs"/>
                        </a:rPr>
                        <a:t>CBSB Management</a:t>
                      </a:r>
                    </a:p>
                    <a:p>
                      <a:pPr marL="0" algn="ctr" defTabSz="914400" rtl="0" eaLnBrk="1" fontAlgn="t" latinLnBrk="0" hangingPunct="1"/>
                      <a:endParaRPr lang="en-US" sz="1400" b="0" i="0" u="none" strike="noStrike" kern="1200" dirty="0">
                        <a:solidFill>
                          <a:srgbClr val="000000"/>
                        </a:solidFill>
                        <a:effectLst/>
                        <a:latin typeface="Calibri" panose="020F0502020204030204" pitchFamily="34" charset="0"/>
                        <a:ea typeface="+mn-ea"/>
                        <a:cs typeface="+mn-cs"/>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19814699"/>
                  </a:ext>
                </a:extLst>
              </a:tr>
              <a:tr h="292625">
                <a:tc>
                  <a:txBody>
                    <a:bodyPr/>
                    <a:lstStyle/>
                    <a:p>
                      <a:pPr algn="ctr" fontAlgn="t"/>
                      <a:r>
                        <a:rPr lang="de-DE" sz="1400" b="0" i="0" u="none" strike="noStrike" baseline="0" dirty="0">
                          <a:solidFill>
                            <a:srgbClr val="000000"/>
                          </a:solidFill>
                          <a:effectLst/>
                          <a:latin typeface="Calibri" panose="020F0502020204030204" pitchFamily="34" charset="0"/>
                        </a:rPr>
                        <a:t>4</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l" defTabSz="914400" rtl="0" eaLnBrk="1" fontAlgn="t" latinLnBrk="0" hangingPunct="1"/>
                      <a:r>
                        <a:rPr lang="en-US" sz="1400" b="0" i="0" u="none" strike="noStrike" kern="1200" dirty="0">
                          <a:solidFill>
                            <a:srgbClr val="000000"/>
                          </a:solidFill>
                          <a:effectLst/>
                          <a:latin typeface="Calibri" panose="020F0502020204030204" pitchFamily="34" charset="0"/>
                          <a:ea typeface="+mn-ea"/>
                          <a:cs typeface="+mn-cs"/>
                        </a:rPr>
                        <a:t>Syed Ahmad Zaki bin Said </a:t>
                      </a:r>
                      <a:r>
                        <a:rPr lang="en-US" sz="1400" b="0" i="0" u="none" strike="noStrike" kern="1200" dirty="0" err="1">
                          <a:solidFill>
                            <a:srgbClr val="000000"/>
                          </a:solidFill>
                          <a:effectLst/>
                          <a:latin typeface="Calibri" panose="020F0502020204030204" pitchFamily="34" charset="0"/>
                          <a:ea typeface="+mn-ea"/>
                          <a:cs typeface="+mn-cs"/>
                        </a:rPr>
                        <a:t>Madeen</a:t>
                      </a:r>
                      <a:endParaRPr lang="de-DE" sz="1400" b="0" i="0" u="none" strike="noStrike" kern="1200" dirty="0">
                        <a:solidFill>
                          <a:srgbClr val="000000"/>
                        </a:solidFill>
                        <a:effectLst/>
                        <a:latin typeface="Calibri" panose="020F0502020204030204" pitchFamily="34" charset="0"/>
                        <a:ea typeface="+mn-ea"/>
                        <a:cs typeface="+mn-cs"/>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Calibri" panose="020F0502020204030204" pitchFamily="34" charset="0"/>
                          <a:ea typeface="+mn-ea"/>
                          <a:cs typeface="+mn-cs"/>
                        </a:rPr>
                        <a:t>Auditor</a:t>
                      </a:r>
                    </a:p>
                    <a:p>
                      <a:pPr marL="0" algn="ctr" defTabSz="914400" rtl="0" eaLnBrk="1" fontAlgn="t" latinLnBrk="0" hangingPunct="1"/>
                      <a:endParaRPr lang="en-US" sz="1400" b="0" i="0" u="none" strike="noStrike" kern="1200" dirty="0">
                        <a:solidFill>
                          <a:srgbClr val="000000"/>
                        </a:solidFill>
                        <a:effectLst/>
                        <a:latin typeface="Calibri" panose="020F0502020204030204" pitchFamily="34" charset="0"/>
                        <a:ea typeface="+mn-ea"/>
                        <a:cs typeface="+mn-cs"/>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Calibri" panose="020F0502020204030204" pitchFamily="34" charset="0"/>
                          <a:ea typeface="+mn-ea"/>
                          <a:cs typeface="+mn-cs"/>
                        </a:rPr>
                        <a:t>CBSB Management</a:t>
                      </a:r>
                    </a:p>
                    <a:p>
                      <a:pPr marL="0" algn="ctr" defTabSz="914400" rtl="0" eaLnBrk="1" fontAlgn="t" latinLnBrk="0" hangingPunct="1"/>
                      <a:endParaRPr lang="en-US" sz="1400" b="0" i="0" u="none" strike="noStrike" kern="1200" dirty="0">
                        <a:solidFill>
                          <a:srgbClr val="000000"/>
                        </a:solidFill>
                        <a:effectLst/>
                        <a:latin typeface="Calibri" panose="020F0502020204030204" pitchFamily="34" charset="0"/>
                        <a:ea typeface="+mn-ea"/>
                        <a:cs typeface="+mn-cs"/>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929019"/>
                  </a:ext>
                </a:extLst>
              </a:tr>
              <a:tr h="292625">
                <a:tc>
                  <a:txBody>
                    <a:bodyPr/>
                    <a:lstStyle/>
                    <a:p>
                      <a:pPr algn="ctr" fontAlgn="t"/>
                      <a:r>
                        <a:rPr lang="de-DE" sz="1400" b="0" i="0" u="none" strike="noStrike" baseline="0" dirty="0">
                          <a:solidFill>
                            <a:srgbClr val="000000"/>
                          </a:solidFill>
                          <a:effectLst/>
                          <a:latin typeface="Calibri" panose="020F0502020204030204" pitchFamily="34" charset="0"/>
                        </a:rPr>
                        <a:t>5</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de-DE" sz="1400" b="0" i="0" u="none" strike="noStrike">
                          <a:solidFill>
                            <a:srgbClr val="000000"/>
                          </a:solidFill>
                          <a:effectLst/>
                          <a:latin typeface="Calibri" panose="020F0502020204030204" pitchFamily="34" charset="0"/>
                        </a:rPr>
                        <a:t>Dinishkaran Pillai</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400" b="0" i="0" u="none" strike="noStrike" baseline="0">
                          <a:solidFill>
                            <a:srgbClr val="000000"/>
                          </a:solidFill>
                          <a:effectLst/>
                          <a:latin typeface="Calibri" panose="020F0502020204030204" pitchFamily="34" charset="0"/>
                        </a:rPr>
                        <a:t>Facilitator </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400" b="0" i="0" u="none" strike="noStrike" baseline="0">
                          <a:solidFill>
                            <a:srgbClr val="000000"/>
                          </a:solidFill>
                          <a:effectLst/>
                          <a:latin typeface="Calibri" panose="020F0502020204030204" pitchFamily="34" charset="0"/>
                        </a:rPr>
                        <a:t>HQ RCM Team</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97077193"/>
                  </a:ext>
                </a:extLst>
              </a:tr>
              <a:tr h="271102">
                <a:tc>
                  <a:txBody>
                    <a:bodyPr/>
                    <a:lstStyle/>
                    <a:p>
                      <a:pPr algn="ctr" fontAlgn="t"/>
                      <a:r>
                        <a:rPr lang="de-DE" sz="1400" b="0" i="0" u="none" strike="noStrike" baseline="0" dirty="0">
                          <a:solidFill>
                            <a:srgbClr val="000000"/>
                          </a:solidFill>
                          <a:effectLst/>
                          <a:latin typeface="Calibri" panose="020F0502020204030204" pitchFamily="34" charset="0"/>
                        </a:rPr>
                        <a:t>6</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400" b="0" i="0" u="none" strike="noStrike">
                          <a:solidFill>
                            <a:srgbClr val="000000"/>
                          </a:solidFill>
                          <a:effectLst/>
                          <a:latin typeface="Calibri" panose="020F0502020204030204" pitchFamily="34" charset="0"/>
                        </a:rPr>
                        <a:t>Ramesh Kumar</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sz="1400" b="0" i="0" u="none" strike="noStrike" baseline="0">
                          <a:solidFill>
                            <a:srgbClr val="000000"/>
                          </a:solidFill>
                          <a:effectLst/>
                          <a:latin typeface="Calibri" panose="020F0502020204030204" pitchFamily="34" charset="0"/>
                        </a:rPr>
                        <a:t>Facilitator </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HQ RCM Team</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27217449"/>
                  </a:ext>
                </a:extLst>
              </a:tr>
              <a:tr h="271102">
                <a:tc>
                  <a:txBody>
                    <a:bodyPr/>
                    <a:lstStyle/>
                    <a:p>
                      <a:pPr algn="ctr" fontAlgn="t"/>
                      <a:r>
                        <a:rPr lang="de-DE" sz="1400" b="0" i="0" u="none" strike="noStrike" baseline="0" dirty="0">
                          <a:solidFill>
                            <a:srgbClr val="000000"/>
                          </a:solidFill>
                          <a:effectLst/>
                          <a:latin typeface="Calibri" panose="020F0502020204030204" pitchFamily="34" charset="0"/>
                        </a:rPr>
                        <a:t>7</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400" b="0" i="0" u="none" strike="noStrike">
                          <a:solidFill>
                            <a:srgbClr val="000000"/>
                          </a:solidFill>
                          <a:effectLst/>
                          <a:latin typeface="Calibri" panose="020F0502020204030204" pitchFamily="34" charset="0"/>
                        </a:rPr>
                        <a:t>Nublan Hakimi</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Facilitator</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HQ RCM Team</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74818465"/>
                  </a:ext>
                </a:extLst>
              </a:tr>
              <a:tr h="271102">
                <a:tc>
                  <a:txBody>
                    <a:bodyPr/>
                    <a:lstStyle/>
                    <a:p>
                      <a:pPr algn="ctr" fontAlgn="t"/>
                      <a:r>
                        <a:rPr lang="de-DE" sz="1400" b="0" i="0" u="none" strike="noStrike" baseline="0" dirty="0">
                          <a:solidFill>
                            <a:srgbClr val="000000"/>
                          </a:solidFill>
                          <a:effectLst/>
                          <a:latin typeface="Calibri" panose="020F0502020204030204" pitchFamily="34" charset="0"/>
                        </a:rPr>
                        <a:t>8</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400" b="0" i="0" u="none" strike="noStrike" dirty="0">
                          <a:solidFill>
                            <a:srgbClr val="000000"/>
                          </a:solidFill>
                          <a:effectLst/>
                          <a:latin typeface="Calibri" panose="020F0502020204030204" pitchFamily="34" charset="0"/>
                        </a:rPr>
                        <a:t>Nik Ahmad Zareen Bin Nik Abd Wadood</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Team Leader</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400" b="0" i="0" u="none" strike="noStrike" dirty="0">
                          <a:solidFill>
                            <a:srgbClr val="000000"/>
                          </a:solidFill>
                          <a:effectLst/>
                          <a:latin typeface="Calibri" panose="020F0502020204030204" pitchFamily="34" charset="0"/>
                        </a:rPr>
                        <a:t>CBSB</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06114221"/>
                  </a:ext>
                </a:extLst>
              </a:tr>
              <a:tr h="253029">
                <a:tc>
                  <a:txBody>
                    <a:bodyPr/>
                    <a:lstStyle/>
                    <a:p>
                      <a:pPr algn="ctr" fontAlgn="t"/>
                      <a:r>
                        <a:rPr lang="de-DE" sz="1400" b="0" i="0" u="none" strike="noStrike" baseline="0" dirty="0">
                          <a:solidFill>
                            <a:srgbClr val="000000"/>
                          </a:solidFill>
                          <a:effectLst/>
                          <a:latin typeface="Calibri" panose="020F0502020204030204" pitchFamily="34" charset="0"/>
                        </a:rPr>
                        <a:t>9</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400" b="0" i="0" u="none" strike="noStrike" dirty="0">
                          <a:solidFill>
                            <a:srgbClr val="000000"/>
                          </a:solidFill>
                          <a:effectLst/>
                          <a:latin typeface="Calibri" panose="020F0502020204030204" pitchFamily="34" charset="0"/>
                        </a:rPr>
                        <a:t>Dzul Fadhli bin Mohd Husin Seria</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Team Member</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400" b="0" i="0" u="none" strike="noStrike" dirty="0">
                          <a:solidFill>
                            <a:srgbClr val="000000"/>
                          </a:solidFill>
                          <a:effectLst/>
                          <a:latin typeface="Calibri" panose="020F0502020204030204" pitchFamily="34" charset="0"/>
                        </a:rPr>
                        <a:t>CBSB</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64157331"/>
                  </a:ext>
                </a:extLst>
              </a:tr>
              <a:tr h="253029">
                <a:tc>
                  <a:txBody>
                    <a:bodyPr/>
                    <a:lstStyle/>
                    <a:p>
                      <a:pPr algn="ctr" fontAlgn="t"/>
                      <a:r>
                        <a:rPr lang="de-DE" sz="1400" b="0" i="0" u="none" strike="noStrike" baseline="0" dirty="0">
                          <a:solidFill>
                            <a:srgbClr val="000000"/>
                          </a:solidFill>
                          <a:effectLst/>
                          <a:latin typeface="Calibri" panose="020F0502020204030204" pitchFamily="34" charset="0"/>
                        </a:rPr>
                        <a:t>10</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400" b="0" i="0" u="none" strike="noStrike" dirty="0">
                          <a:solidFill>
                            <a:srgbClr val="000000"/>
                          </a:solidFill>
                          <a:effectLst/>
                          <a:latin typeface="Calibri" panose="020F0502020204030204" pitchFamily="34" charset="0"/>
                        </a:rPr>
                        <a:t>Mohd Shazni Bin Halid</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Team Member</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400" b="0" i="0" u="none" strike="noStrike" dirty="0">
                          <a:solidFill>
                            <a:srgbClr val="000000"/>
                          </a:solidFill>
                          <a:effectLst/>
                          <a:latin typeface="Calibri" panose="020F0502020204030204" pitchFamily="34" charset="0"/>
                        </a:rPr>
                        <a:t>CBSB</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31736007"/>
                  </a:ext>
                </a:extLst>
              </a:tr>
              <a:tr h="286948">
                <a:tc>
                  <a:txBody>
                    <a:bodyPr/>
                    <a:lstStyle/>
                    <a:p>
                      <a:pPr algn="ctr" fontAlgn="t"/>
                      <a:r>
                        <a:rPr lang="de-DE" sz="1400" b="0" i="0" u="none" strike="noStrike" baseline="0" dirty="0">
                          <a:solidFill>
                            <a:srgbClr val="000000"/>
                          </a:solidFill>
                          <a:effectLst/>
                          <a:latin typeface="Calibri" panose="020F0502020204030204" pitchFamily="34" charset="0"/>
                        </a:rPr>
                        <a:t>11</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400" b="0" i="0" u="none" strike="noStrike" dirty="0">
                          <a:solidFill>
                            <a:srgbClr val="000000"/>
                          </a:solidFill>
                          <a:effectLst/>
                          <a:latin typeface="Calibri" panose="020F0502020204030204" pitchFamily="34" charset="0"/>
                        </a:rPr>
                        <a:t>Aizuddin bin A Rahim</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Team Member</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400" b="0" i="0" u="none" strike="noStrike" dirty="0">
                          <a:solidFill>
                            <a:srgbClr val="000000"/>
                          </a:solidFill>
                          <a:effectLst/>
                          <a:latin typeface="Calibri" panose="020F0502020204030204" pitchFamily="34" charset="0"/>
                        </a:rPr>
                        <a:t>CBSB</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92231127"/>
                  </a:ext>
                </a:extLst>
              </a:tr>
            </a:tbl>
          </a:graphicData>
        </a:graphic>
      </p:graphicFrame>
      <p:sp>
        <p:nvSpPr>
          <p:cNvPr id="2" name="TextBox 1">
            <a:extLst>
              <a:ext uri="{FF2B5EF4-FFF2-40B4-BE49-F238E27FC236}">
                <a16:creationId xmlns:a16="http://schemas.microsoft.com/office/drawing/2014/main" id="{40F28F52-44FA-4641-676B-5D9F8A7E3A2B}"/>
              </a:ext>
            </a:extLst>
          </p:cNvPr>
          <p:cNvSpPr txBox="1"/>
          <p:nvPr/>
        </p:nvSpPr>
        <p:spPr>
          <a:xfrm>
            <a:off x="721062" y="1044994"/>
            <a:ext cx="8284695" cy="1200329"/>
          </a:xfrm>
          <a:prstGeom prst="rect">
            <a:avLst/>
          </a:prstGeom>
          <a:noFill/>
        </p:spPr>
        <p:txBody>
          <a:bodyPr wrap="square" rtlCol="0">
            <a:spAutoFit/>
          </a:bodyPr>
          <a:lstStyle/>
          <a:p>
            <a:r>
              <a:rPr lang="en-US"/>
              <a:t>Venue 		</a:t>
            </a:r>
            <a:r>
              <a:rPr lang="en-US" b="1"/>
              <a:t>: CBSB</a:t>
            </a:r>
          </a:p>
          <a:p>
            <a:r>
              <a:rPr lang="en-US"/>
              <a:t>Audit date 	</a:t>
            </a:r>
            <a:r>
              <a:rPr lang="en-US" b="1"/>
              <a:t>: 3</a:t>
            </a:r>
            <a:r>
              <a:rPr lang="en-US" b="1" baseline="30000"/>
              <a:t>rd</a:t>
            </a:r>
            <a:r>
              <a:rPr lang="en-US" b="1"/>
              <a:t> October 2025</a:t>
            </a:r>
          </a:p>
          <a:p>
            <a:r>
              <a:rPr lang="en-US"/>
              <a:t>List of Participants  :</a:t>
            </a:r>
          </a:p>
          <a:p>
            <a:endParaRPr lang="en-US"/>
          </a:p>
        </p:txBody>
      </p:sp>
      <p:sp>
        <p:nvSpPr>
          <p:cNvPr id="4" name="TextBox 3">
            <a:extLst>
              <a:ext uri="{FF2B5EF4-FFF2-40B4-BE49-F238E27FC236}">
                <a16:creationId xmlns:a16="http://schemas.microsoft.com/office/drawing/2014/main" id="{A9156F5D-5569-EC09-3578-0871786FFBC8}"/>
              </a:ext>
            </a:extLst>
          </p:cNvPr>
          <p:cNvSpPr txBox="1"/>
          <p:nvPr/>
        </p:nvSpPr>
        <p:spPr>
          <a:xfrm>
            <a:off x="322453" y="584353"/>
            <a:ext cx="10348063" cy="338554"/>
          </a:xfrm>
          <a:prstGeom prst="rect">
            <a:avLst/>
          </a:prstGeom>
          <a:noFill/>
        </p:spPr>
        <p:txBody>
          <a:bodyPr wrap="square">
            <a:spAutoFit/>
          </a:bodyPr>
          <a:lstStyle/>
          <a:p>
            <a:r>
              <a:rPr lang="en-MY" sz="1600" b="1" i="1">
                <a:solidFill>
                  <a:schemeClr val="accent5">
                    <a:lumMod val="50000"/>
                  </a:schemeClr>
                </a:solidFill>
                <a:ea typeface="+mj-ea"/>
                <a:cs typeface="+mj-cs"/>
              </a:rPr>
              <a:t>The management of CBSB has audited the RCM analysis result &amp; proposed additional tasks to be performed.</a:t>
            </a:r>
          </a:p>
        </p:txBody>
      </p:sp>
      <p:sp>
        <p:nvSpPr>
          <p:cNvPr id="10" name="TextBox 9">
            <a:extLst>
              <a:ext uri="{FF2B5EF4-FFF2-40B4-BE49-F238E27FC236}">
                <a16:creationId xmlns:a16="http://schemas.microsoft.com/office/drawing/2014/main" id="{3FFFB0CA-11E4-846B-DA1A-FCC5F2CAD08F}"/>
              </a:ext>
            </a:extLst>
          </p:cNvPr>
          <p:cNvSpPr txBox="1"/>
          <p:nvPr/>
        </p:nvSpPr>
        <p:spPr>
          <a:xfrm>
            <a:off x="7391643" y="1122425"/>
            <a:ext cx="4251868" cy="4031873"/>
          </a:xfrm>
          <a:prstGeom prst="rect">
            <a:avLst/>
          </a:prstGeom>
          <a:solidFill>
            <a:schemeClr val="accent4">
              <a:lumMod val="20000"/>
              <a:lumOff val="80000"/>
            </a:schemeClr>
          </a:solidFill>
          <a:ln>
            <a:solidFill>
              <a:schemeClr val="accent1">
                <a:lumMod val="60000"/>
                <a:lumOff val="40000"/>
              </a:schemeClr>
            </a:solidFill>
          </a:ln>
        </p:spPr>
        <p:txBody>
          <a:bodyPr wrap="square" rtlCol="0">
            <a:spAutoFit/>
          </a:bodyPr>
          <a:lstStyle/>
          <a:p>
            <a:pPr algn="ctr"/>
            <a:r>
              <a:rPr lang="en-US" sz="1600" b="1" u="sng" dirty="0"/>
              <a:t>Auditors’ Comments</a:t>
            </a:r>
          </a:p>
          <a:p>
            <a:endParaRPr lang="en-US" sz="1600" dirty="0"/>
          </a:p>
          <a:p>
            <a:pPr marL="285750" indent="-285750">
              <a:buFont typeface="Arial" panose="020B0604020202020204" pitchFamily="34" charset="0"/>
              <a:buChar char="•"/>
            </a:pPr>
            <a:r>
              <a:rPr lang="en-US" sz="1600" dirty="0"/>
              <a:t>01-A-01: - SFRA interval changed to 8 years.</a:t>
            </a:r>
          </a:p>
          <a:p>
            <a:r>
              <a:rPr lang="en-US" sz="1600" dirty="0"/>
              <a:t>                       - Excitation current measurement </a:t>
            </a:r>
          </a:p>
          <a:p>
            <a:r>
              <a:rPr lang="en-US" sz="1600" dirty="0"/>
              <a:t>                         interval changed to 8 years.</a:t>
            </a:r>
          </a:p>
          <a:p>
            <a:pPr marL="285750" indent="-285750">
              <a:buFont typeface="Arial" panose="020B0604020202020204" pitchFamily="34" charset="0"/>
              <a:buChar char="•"/>
            </a:pPr>
            <a:r>
              <a:rPr lang="en-US" sz="1600" dirty="0"/>
              <a:t>01-A-02: Interval changed to 8 years.</a:t>
            </a:r>
          </a:p>
          <a:p>
            <a:pPr marL="285750" indent="-285750">
              <a:buFont typeface="Arial" panose="020B0604020202020204" pitchFamily="34" charset="0"/>
              <a:buChar char="•"/>
            </a:pPr>
            <a:r>
              <a:rPr lang="en-US" sz="1600" dirty="0"/>
              <a:t>01-A-07: Interval changed to 8 years.</a:t>
            </a:r>
          </a:p>
          <a:p>
            <a:pPr marL="285750" indent="-285750">
              <a:buFont typeface="Arial" panose="020B0604020202020204" pitchFamily="34" charset="0"/>
              <a:buChar char="•"/>
            </a:pPr>
            <a:r>
              <a:rPr lang="en-US" sz="1600" dirty="0"/>
              <a:t>01-A-08: Interval changed to 8 years.</a:t>
            </a:r>
          </a:p>
          <a:p>
            <a:pPr marL="285750" indent="-285750">
              <a:buFont typeface="Arial" panose="020B0604020202020204" pitchFamily="34" charset="0"/>
              <a:buChar char="•"/>
            </a:pPr>
            <a:r>
              <a:rPr lang="en-US" sz="1600" dirty="0"/>
              <a:t>01-B-01: </a:t>
            </a:r>
            <a:r>
              <a:rPr lang="en-US" sz="1600" dirty="0" err="1"/>
              <a:t>yeaInterval</a:t>
            </a:r>
            <a:r>
              <a:rPr lang="en-US" sz="1600" dirty="0"/>
              <a:t> changed to 8 </a:t>
            </a:r>
            <a:r>
              <a:rPr lang="en-US" sz="1600" dirty="0" err="1"/>
              <a:t>rs</a:t>
            </a:r>
            <a:r>
              <a:rPr lang="en-US" sz="1600" dirty="0"/>
              <a:t>.</a:t>
            </a:r>
          </a:p>
          <a:p>
            <a:pPr marL="285750" indent="-285750">
              <a:buFont typeface="Arial" panose="020B0604020202020204" pitchFamily="34" charset="0"/>
              <a:buChar char="•"/>
            </a:pPr>
            <a:r>
              <a:rPr lang="en-US" sz="1600" dirty="0"/>
              <a:t>01-B-02: Interval changed to 8 years.</a:t>
            </a:r>
          </a:p>
          <a:p>
            <a:pPr marL="285750" indent="-285750">
              <a:buFont typeface="Arial" panose="020B0604020202020204" pitchFamily="34" charset="0"/>
              <a:buChar char="•"/>
            </a:pPr>
            <a:r>
              <a:rPr lang="en-US" sz="1600" dirty="0"/>
              <a:t>02-B-03: Interval changed to 8 years.</a:t>
            </a:r>
          </a:p>
          <a:p>
            <a:pPr marL="285750" indent="-285750">
              <a:buFont typeface="Arial" panose="020B0604020202020204" pitchFamily="34" charset="0"/>
              <a:buChar char="•"/>
            </a:pPr>
            <a:r>
              <a:rPr lang="en-US" sz="1600" dirty="0"/>
              <a:t>13-A-02: Interval changed to 8 years.</a:t>
            </a:r>
          </a:p>
          <a:p>
            <a:pPr marL="285750" indent="-285750">
              <a:buFont typeface="Arial" panose="020B0604020202020204" pitchFamily="34" charset="0"/>
              <a:buChar char="•"/>
            </a:pPr>
            <a:r>
              <a:rPr lang="en-US" sz="1600" dirty="0"/>
              <a:t>06-A-02: Interval changed to 8 years.</a:t>
            </a:r>
          </a:p>
          <a:p>
            <a:pPr marL="285750" indent="-285750">
              <a:buFont typeface="Arial" panose="020B0604020202020204" pitchFamily="34" charset="0"/>
              <a:buChar char="•"/>
            </a:pPr>
            <a:r>
              <a:rPr lang="en-US" sz="1600" dirty="0"/>
              <a:t>21-A-03: Interval changed to 4 years.</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endParaRPr lang="en-US" sz="1600" dirty="0"/>
          </a:p>
        </p:txBody>
      </p:sp>
      <p:sp>
        <p:nvSpPr>
          <p:cNvPr id="11" name="Rectangle 2">
            <a:extLst>
              <a:ext uri="{FF2B5EF4-FFF2-40B4-BE49-F238E27FC236}">
                <a16:creationId xmlns:a16="http://schemas.microsoft.com/office/drawing/2014/main" id="{0F845A0C-A66D-04A4-EA17-13B2E6C45A94}"/>
              </a:ext>
            </a:extLst>
          </p:cNvPr>
          <p:cNvSpPr txBox="1">
            <a:spLocks noChangeArrowheads="1"/>
          </p:cNvSpPr>
          <p:nvPr/>
        </p:nvSpPr>
        <p:spPr>
          <a:xfrm>
            <a:off x="381000" y="16736"/>
            <a:ext cx="7772400" cy="48404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2400" b="1">
                <a:latin typeface="+mn-lt"/>
              </a:rPr>
              <a:t>3. ANALYSIS</a:t>
            </a:r>
          </a:p>
        </p:txBody>
      </p:sp>
      <p:sp>
        <p:nvSpPr>
          <p:cNvPr id="12" name="Rectangle 2">
            <a:extLst>
              <a:ext uri="{FF2B5EF4-FFF2-40B4-BE49-F238E27FC236}">
                <a16:creationId xmlns:a16="http://schemas.microsoft.com/office/drawing/2014/main" id="{8D6A6141-F8B8-DE96-E293-3F8F419D938A}"/>
              </a:ext>
            </a:extLst>
          </p:cNvPr>
          <p:cNvSpPr txBox="1">
            <a:spLocks noChangeArrowheads="1"/>
          </p:cNvSpPr>
          <p:nvPr/>
        </p:nvSpPr>
        <p:spPr>
          <a:xfrm>
            <a:off x="381000" y="333106"/>
            <a:ext cx="7772400" cy="38370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2000" b="1">
                <a:latin typeface="+mn-lt"/>
              </a:rPr>
              <a:t>3.2 RCM Audit Session</a:t>
            </a:r>
          </a:p>
        </p:txBody>
      </p:sp>
    </p:spTree>
    <p:extLst>
      <p:ext uri="{BB962C8B-B14F-4D97-AF65-F5344CB8AC3E}">
        <p14:creationId xmlns:p14="http://schemas.microsoft.com/office/powerpoint/2010/main" val="7842207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 name="Picture 347">
            <a:extLst>
              <a:ext uri="{FF2B5EF4-FFF2-40B4-BE49-F238E27FC236}">
                <a16:creationId xmlns:a16="http://schemas.microsoft.com/office/drawing/2014/main" id="{F3683BE6-9B66-444A-8EF4-87EDE88C6DDA}"/>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t="13483" b="26966"/>
          <a:stretch/>
        </p:blipFill>
        <p:spPr bwMode="auto">
          <a:xfrm>
            <a:off x="10748507" y="80255"/>
            <a:ext cx="1225443" cy="473074"/>
          </a:xfrm>
          <a:prstGeom prst="rect">
            <a:avLst/>
          </a:prstGeom>
          <a:noFill/>
          <a:ln>
            <a:noFill/>
          </a:ln>
          <a:extLst>
            <a:ext uri="{53640926-AAD7-44D8-BBD7-CCE9431645EC}">
              <a14:shadowObscured xmlns:a14="http://schemas.microsoft.com/office/drawing/2010/main"/>
            </a:ext>
          </a:extLst>
        </p:spPr>
      </p:pic>
      <p:cxnSp>
        <p:nvCxnSpPr>
          <p:cNvPr id="350" name="Straight Connector 349">
            <a:extLst>
              <a:ext uri="{FF2B5EF4-FFF2-40B4-BE49-F238E27FC236}">
                <a16:creationId xmlns:a16="http://schemas.microsoft.com/office/drawing/2014/main" id="{84EFE9C2-03E0-4415-AC4B-C36058A9DFB0}"/>
              </a:ext>
            </a:extLst>
          </p:cNvPr>
          <p:cNvCxnSpPr/>
          <p:nvPr/>
        </p:nvCxnSpPr>
        <p:spPr>
          <a:xfrm>
            <a:off x="141467" y="1057125"/>
            <a:ext cx="10607040" cy="0"/>
          </a:xfrm>
          <a:prstGeom prst="line">
            <a:avLst/>
          </a:prstGeom>
        </p:spPr>
        <p:style>
          <a:lnRef idx="3">
            <a:schemeClr val="accent3"/>
          </a:lnRef>
          <a:fillRef idx="0">
            <a:schemeClr val="accent3"/>
          </a:fillRef>
          <a:effectRef idx="2">
            <a:schemeClr val="accent3"/>
          </a:effectRef>
          <a:fontRef idx="minor">
            <a:schemeClr val="tx1"/>
          </a:fontRef>
        </p:style>
      </p:cxnSp>
      <p:sp>
        <p:nvSpPr>
          <p:cNvPr id="39" name="Rectangle 2">
            <a:extLst>
              <a:ext uri="{FF2B5EF4-FFF2-40B4-BE49-F238E27FC236}">
                <a16:creationId xmlns:a16="http://schemas.microsoft.com/office/drawing/2014/main" id="{192C0055-6FD9-48BC-A55C-3EE8CC632FAA}"/>
              </a:ext>
            </a:extLst>
          </p:cNvPr>
          <p:cNvSpPr txBox="1">
            <a:spLocks noChangeArrowheads="1"/>
          </p:cNvSpPr>
          <p:nvPr/>
        </p:nvSpPr>
        <p:spPr>
          <a:xfrm>
            <a:off x="353704" y="639580"/>
            <a:ext cx="10519756" cy="36411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MY" altLang="en-US" sz="1600" b="1" i="1" u="none" strike="noStrike" kern="1200" cap="none" spc="0" normalizeH="0" baseline="0" noProof="0">
                <a:ln>
                  <a:noFill/>
                </a:ln>
                <a:solidFill>
                  <a:srgbClr val="5B9BD5">
                    <a:lumMod val="50000"/>
                  </a:srgbClr>
                </a:solidFill>
                <a:effectLst/>
                <a:uLnTx/>
                <a:uFillTx/>
                <a:latin typeface="Calibri" panose="020F0502020204030204"/>
                <a:ea typeface="+mj-ea"/>
                <a:cs typeface="+mj-cs"/>
              </a:rPr>
              <a:t>From the RCM </a:t>
            </a:r>
            <a:r>
              <a:rPr kumimoji="0" lang="en-MY" altLang="en-US" sz="1800" b="1" i="1" u="none" strike="noStrike" kern="1200" cap="none" spc="0" normalizeH="0" baseline="0" noProof="0">
                <a:ln>
                  <a:noFill/>
                </a:ln>
                <a:solidFill>
                  <a:srgbClr val="5B9BD5">
                    <a:lumMod val="50000"/>
                  </a:srgbClr>
                </a:solidFill>
                <a:effectLst/>
                <a:uLnTx/>
                <a:uFillTx/>
                <a:latin typeface="Calibri" panose="020F0502020204030204"/>
                <a:ea typeface="+mj-ea"/>
                <a:cs typeface="+mj-cs"/>
              </a:rPr>
              <a:t>analysis</a:t>
            </a:r>
            <a:r>
              <a:rPr kumimoji="0" lang="en-MY" altLang="en-US" sz="1600" b="1" i="1" u="none" strike="noStrike" kern="1200" cap="none" spc="0" normalizeH="0" baseline="0" noProof="0">
                <a:ln>
                  <a:noFill/>
                </a:ln>
                <a:solidFill>
                  <a:srgbClr val="5B9BD5">
                    <a:lumMod val="50000"/>
                  </a:srgbClr>
                </a:solidFill>
                <a:effectLst/>
                <a:uLnTx/>
                <a:uFillTx/>
                <a:latin typeface="Calibri" panose="020F0502020204030204"/>
                <a:ea typeface="+mj-ea"/>
                <a:cs typeface="+mj-cs"/>
              </a:rPr>
              <a:t>, a total </a:t>
            </a:r>
            <a:r>
              <a:rPr kumimoji="0" lang="en-MY" altLang="en-US" sz="1600" b="1" i="1" u="none" strike="noStrike" kern="1200" cap="none" spc="0" normalizeH="0" baseline="0" noProof="0">
                <a:ln>
                  <a:noFill/>
                </a:ln>
                <a:solidFill>
                  <a:srgbClr val="1F4E79"/>
                </a:solidFill>
                <a:effectLst/>
                <a:uLnTx/>
                <a:uFillTx/>
                <a:latin typeface="Calibri" panose="020F0502020204030204"/>
                <a:ea typeface="+mj-ea"/>
                <a:cs typeface="+mj-cs"/>
              </a:rPr>
              <a:t>of 28 functions were analysed, </a:t>
            </a:r>
            <a:r>
              <a:rPr lang="en-MY" altLang="en-US" sz="1600" b="1" i="1">
                <a:solidFill>
                  <a:srgbClr val="1F4E79"/>
                </a:solidFill>
                <a:latin typeface="Calibri" panose="020F0502020204030204"/>
              </a:rPr>
              <a:t>108</a:t>
            </a:r>
            <a:r>
              <a:rPr kumimoji="0" lang="en-MY" altLang="en-US" sz="1600" b="1" i="1" u="none" strike="noStrike" kern="1200" cap="none" spc="0" normalizeH="0" baseline="0" noProof="0">
                <a:ln>
                  <a:noFill/>
                </a:ln>
                <a:solidFill>
                  <a:srgbClr val="1F4E79"/>
                </a:solidFill>
                <a:effectLst/>
                <a:uLnTx/>
                <a:uFillTx/>
                <a:latin typeface="Calibri" panose="020F0502020204030204"/>
                <a:ea typeface="+mj-ea"/>
                <a:cs typeface="+mj-cs"/>
              </a:rPr>
              <a:t> Failure Modes were evaluated &amp; </a:t>
            </a:r>
            <a:r>
              <a:rPr lang="en-MY" altLang="en-US" sz="1600" b="1" i="1">
                <a:solidFill>
                  <a:srgbClr val="1F4E79"/>
                </a:solidFill>
                <a:latin typeface="Calibri" panose="020F0502020204030204"/>
              </a:rPr>
              <a:t>54</a:t>
            </a:r>
            <a:r>
              <a:rPr kumimoji="0" lang="en-MY" altLang="en-US" sz="1600" b="1" i="1" u="none" strike="noStrike" kern="1200" cap="none" spc="0" normalizeH="0" baseline="0" noProof="0">
                <a:ln>
                  <a:noFill/>
                </a:ln>
                <a:solidFill>
                  <a:srgbClr val="1F4E79"/>
                </a:solidFill>
                <a:effectLst/>
                <a:uLnTx/>
                <a:uFillTx/>
                <a:latin typeface="Calibri" panose="020F0502020204030204"/>
                <a:ea typeface="+mj-ea"/>
                <a:cs typeface="+mj-cs"/>
              </a:rPr>
              <a:t> </a:t>
            </a:r>
            <a:r>
              <a:rPr kumimoji="0" lang="en-MY" altLang="en-US" sz="1600" b="1" i="1" u="none" strike="noStrike" kern="1200" cap="none" spc="0" normalizeH="0" baseline="0" noProof="0">
                <a:ln>
                  <a:noFill/>
                </a:ln>
                <a:solidFill>
                  <a:srgbClr val="5B9BD5">
                    <a:lumMod val="50000"/>
                  </a:srgbClr>
                </a:solidFill>
                <a:effectLst/>
                <a:uLnTx/>
                <a:uFillTx/>
                <a:latin typeface="Calibri" panose="020F0502020204030204"/>
                <a:ea typeface="+mj-ea"/>
                <a:cs typeface="+mj-cs"/>
              </a:rPr>
              <a:t>maintenance tasks were proposed</a:t>
            </a:r>
            <a:endParaRPr kumimoji="0" lang="en-US" altLang="en-US" sz="1600" b="1" i="1" u="none" strike="noStrike" kern="1200" cap="none" spc="0" normalizeH="0" baseline="0" noProof="0">
              <a:ln>
                <a:noFill/>
              </a:ln>
              <a:solidFill>
                <a:srgbClr val="5B9BD5">
                  <a:lumMod val="50000"/>
                </a:srgbClr>
              </a:solidFill>
              <a:effectLst/>
              <a:uLnTx/>
              <a:uFillTx/>
              <a:latin typeface="Calibri" panose="020F0502020204030204"/>
              <a:ea typeface="+mj-ea"/>
              <a:cs typeface="+mj-cs"/>
            </a:endParaRPr>
          </a:p>
        </p:txBody>
      </p:sp>
      <p:sp>
        <p:nvSpPr>
          <p:cNvPr id="7" name="Rectangle 2">
            <a:extLst>
              <a:ext uri="{FF2B5EF4-FFF2-40B4-BE49-F238E27FC236}">
                <a16:creationId xmlns:a16="http://schemas.microsoft.com/office/drawing/2014/main" id="{16D6131A-30D0-D6CB-3AA3-C2A429D9C3E7}"/>
              </a:ext>
            </a:extLst>
          </p:cNvPr>
          <p:cNvSpPr txBox="1">
            <a:spLocks noChangeArrowheads="1"/>
          </p:cNvSpPr>
          <p:nvPr/>
        </p:nvSpPr>
        <p:spPr>
          <a:xfrm>
            <a:off x="381000" y="16736"/>
            <a:ext cx="7772400" cy="48404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altLang="en-US" sz="2400" b="1">
                <a:solidFill>
                  <a:prstClr val="black"/>
                </a:solidFill>
                <a:latin typeface="Calibri" panose="020F0502020204030204"/>
              </a:rPr>
              <a:t>3</a:t>
            </a:r>
            <a:r>
              <a:rPr kumimoji="0" lang="en-US" altLang="en-US" sz="2400" b="1" i="0" u="none" strike="noStrike" kern="1200" cap="none" spc="0" normalizeH="0" baseline="0" noProof="0">
                <a:ln>
                  <a:noFill/>
                </a:ln>
                <a:solidFill>
                  <a:prstClr val="black"/>
                </a:solidFill>
                <a:effectLst/>
                <a:uLnTx/>
                <a:uFillTx/>
                <a:latin typeface="Calibri" panose="020F0502020204030204"/>
                <a:ea typeface="+mj-ea"/>
                <a:cs typeface="+mj-cs"/>
              </a:rPr>
              <a:t>. ANALYSIS</a:t>
            </a:r>
          </a:p>
        </p:txBody>
      </p:sp>
      <p:sp>
        <p:nvSpPr>
          <p:cNvPr id="8" name="Rectangle 2">
            <a:extLst>
              <a:ext uri="{FF2B5EF4-FFF2-40B4-BE49-F238E27FC236}">
                <a16:creationId xmlns:a16="http://schemas.microsoft.com/office/drawing/2014/main" id="{083D07EA-1A36-AA25-8E36-64533D42CC78}"/>
              </a:ext>
            </a:extLst>
          </p:cNvPr>
          <p:cNvSpPr txBox="1">
            <a:spLocks noChangeArrowheads="1"/>
          </p:cNvSpPr>
          <p:nvPr/>
        </p:nvSpPr>
        <p:spPr>
          <a:xfrm>
            <a:off x="381000" y="333106"/>
            <a:ext cx="7772400" cy="38370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altLang="en-US" sz="2000" b="1">
                <a:solidFill>
                  <a:prstClr val="black"/>
                </a:solidFill>
                <a:latin typeface="Calibri" panose="020F0502020204030204"/>
              </a:rPr>
              <a:t>3</a:t>
            </a:r>
            <a:r>
              <a:rPr kumimoji="0" lang="en-US" altLang="en-US" sz="2000" b="1" i="0" u="none" strike="noStrike" kern="1200" cap="none" spc="0" normalizeH="0" baseline="0" noProof="0">
                <a:ln>
                  <a:noFill/>
                </a:ln>
                <a:solidFill>
                  <a:prstClr val="black"/>
                </a:solidFill>
                <a:effectLst/>
                <a:uLnTx/>
                <a:uFillTx/>
                <a:latin typeface="Calibri" panose="020F0502020204030204"/>
                <a:ea typeface="+mj-ea"/>
                <a:cs typeface="+mj-cs"/>
              </a:rPr>
              <a:t>.3 Summary of the RCM Analysis Result</a:t>
            </a:r>
          </a:p>
        </p:txBody>
      </p:sp>
      <p:sp>
        <p:nvSpPr>
          <p:cNvPr id="3" name="TextBox 2">
            <a:extLst>
              <a:ext uri="{FF2B5EF4-FFF2-40B4-BE49-F238E27FC236}">
                <a16:creationId xmlns:a16="http://schemas.microsoft.com/office/drawing/2014/main" id="{44DDCDAB-829E-BF6C-2B4C-368AE657EF39}"/>
              </a:ext>
            </a:extLst>
          </p:cNvPr>
          <p:cNvSpPr txBox="1"/>
          <p:nvPr/>
        </p:nvSpPr>
        <p:spPr>
          <a:xfrm>
            <a:off x="353703" y="1310173"/>
            <a:ext cx="11231321" cy="923330"/>
          </a:xfrm>
          <a:prstGeom prst="rect">
            <a:avLst/>
          </a:prstGeom>
          <a:solidFill>
            <a:schemeClr val="accent4">
              <a:lumMod val="20000"/>
              <a:lumOff val="80000"/>
            </a:schemeClr>
          </a:solid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MY" sz="1800" b="1" i="0" u="none" strike="noStrike" kern="1200" cap="none" spc="0" normalizeH="0" baseline="0" noProof="0">
                <a:ln>
                  <a:noFill/>
                </a:ln>
                <a:solidFill>
                  <a:prstClr val="black"/>
                </a:solidFill>
                <a:effectLst/>
                <a:uLnTx/>
                <a:uFillTx/>
                <a:latin typeface="Calibri" panose="020F0502020204030204"/>
                <a:ea typeface="+mn-ea"/>
                <a:cs typeface="+mn-cs"/>
              </a:rPr>
              <a:t>A total of 30</a:t>
            </a:r>
            <a:r>
              <a:rPr lang="en-MY" b="1">
                <a:solidFill>
                  <a:prstClr val="black"/>
                </a:solidFill>
                <a:latin typeface="Calibri" panose="020F0502020204030204"/>
              </a:rPr>
              <a:t> </a:t>
            </a:r>
            <a:r>
              <a:rPr kumimoji="0" lang="en-MY" sz="1800" b="1" i="0" u="none" strike="noStrike" kern="1200" cap="none" spc="0" normalizeH="0" baseline="0" noProof="0">
                <a:ln>
                  <a:noFill/>
                </a:ln>
                <a:solidFill>
                  <a:prstClr val="black"/>
                </a:solidFill>
                <a:effectLst/>
                <a:uLnTx/>
                <a:uFillTx/>
                <a:latin typeface="Calibri" panose="020F0502020204030204"/>
                <a:ea typeface="+mn-ea"/>
                <a:cs typeface="+mn-cs"/>
              </a:rPr>
              <a:t>tasks</a:t>
            </a:r>
            <a:r>
              <a:rPr kumimoji="0" lang="en-MY" sz="1800" b="0" i="0" u="none" strike="noStrike" kern="1200" cap="none" spc="0" normalizeH="0" baseline="0" noProof="0">
                <a:ln>
                  <a:noFill/>
                </a:ln>
                <a:solidFill>
                  <a:prstClr val="black"/>
                </a:solidFill>
                <a:effectLst/>
                <a:uLnTx/>
                <a:uFillTx/>
                <a:latin typeface="Calibri" panose="020F0502020204030204"/>
                <a:ea typeface="+mn-ea"/>
                <a:cs typeface="+mn-cs"/>
              </a:rPr>
              <a:t> </a:t>
            </a:r>
            <a:r>
              <a:rPr kumimoji="0" lang="en-MY" sz="1800" b="1" i="0" u="none" strike="noStrike" kern="1200" cap="none" spc="0" normalizeH="0" baseline="0" noProof="0">
                <a:ln>
                  <a:noFill/>
                </a:ln>
                <a:solidFill>
                  <a:prstClr val="black"/>
                </a:solidFill>
                <a:effectLst/>
                <a:uLnTx/>
                <a:uFillTx/>
                <a:latin typeface="Calibri" panose="020F0502020204030204"/>
                <a:ea typeface="+mn-ea"/>
                <a:cs typeface="+mn-cs"/>
              </a:rPr>
              <a:t>were found to be the same as the existing tasks </a:t>
            </a:r>
            <a:r>
              <a:rPr kumimoji="0" lang="en-MY" sz="1800" b="0" i="0" u="none" strike="noStrike" kern="1200" cap="none" spc="0" normalizeH="0" baseline="0" noProof="0">
                <a:ln>
                  <a:noFill/>
                </a:ln>
                <a:solidFill>
                  <a:prstClr val="black"/>
                </a:solidFill>
                <a:effectLst/>
                <a:uLnTx/>
                <a:uFillTx/>
                <a:latin typeface="Calibri" panose="020F0502020204030204"/>
                <a:ea typeface="+mn-ea"/>
                <a:cs typeface="+mn-cs"/>
              </a:rPr>
              <a:t>already implemented by the station's maintenance teams.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MY" sz="1800" b="0" i="0" u="none" strike="noStrike" kern="1200" cap="none" spc="0" normalizeH="0" baseline="0" noProof="0">
                <a:ln>
                  <a:noFill/>
                </a:ln>
                <a:solidFill>
                  <a:prstClr val="black"/>
                </a:solidFill>
                <a:effectLst/>
                <a:uLnTx/>
                <a:uFillTx/>
                <a:latin typeface="Calibri" panose="020F0502020204030204"/>
                <a:ea typeface="+mn-ea"/>
                <a:cs typeface="+mn-cs"/>
              </a:rPr>
              <a:t>The remaining </a:t>
            </a:r>
            <a:r>
              <a:rPr kumimoji="0" lang="en-MY" sz="1800" b="1" i="0" u="none" strike="noStrike" kern="1200" cap="none" spc="0" normalizeH="0" baseline="0" noProof="0">
                <a:ln>
                  <a:noFill/>
                </a:ln>
                <a:solidFill>
                  <a:prstClr val="black"/>
                </a:solidFill>
                <a:effectLst/>
                <a:uLnTx/>
                <a:uFillTx/>
                <a:latin typeface="Calibri" panose="020F0502020204030204"/>
                <a:ea typeface="+mn-ea"/>
                <a:cs typeface="+mn-cs"/>
              </a:rPr>
              <a:t>24 tasks </a:t>
            </a:r>
            <a:r>
              <a:rPr lang="en-MY" b="1">
                <a:solidFill>
                  <a:prstClr val="black"/>
                </a:solidFill>
                <a:latin typeface="Calibri" panose="020F0502020204030204"/>
              </a:rPr>
              <a:t>are newly added.</a:t>
            </a: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aphicFrame>
        <p:nvGraphicFramePr>
          <p:cNvPr id="2" name="Chart 1">
            <a:extLst>
              <a:ext uri="{FF2B5EF4-FFF2-40B4-BE49-F238E27FC236}">
                <a16:creationId xmlns:a16="http://schemas.microsoft.com/office/drawing/2014/main" id="{00000000-0008-0000-0400-000003000000}"/>
              </a:ext>
            </a:extLst>
          </p:cNvPr>
          <p:cNvGraphicFramePr>
            <a:graphicFrameLocks/>
          </p:cNvGraphicFramePr>
          <p:nvPr>
            <p:extLst>
              <p:ext uri="{D42A27DB-BD31-4B8C-83A1-F6EECF244321}">
                <p14:modId xmlns:p14="http://schemas.microsoft.com/office/powerpoint/2010/main" val="2682751551"/>
              </p:ext>
            </p:extLst>
          </p:nvPr>
        </p:nvGraphicFramePr>
        <p:xfrm>
          <a:off x="353703" y="2486550"/>
          <a:ext cx="5999339" cy="356164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Chart 3">
            <a:extLst>
              <a:ext uri="{FF2B5EF4-FFF2-40B4-BE49-F238E27FC236}">
                <a16:creationId xmlns:a16="http://schemas.microsoft.com/office/drawing/2014/main" id="{00000000-0008-0000-0400-000004000000}"/>
              </a:ext>
              <a:ext uri="{147F2762-F138-4A5C-976F-8EAC2B608ADB}">
                <a16:predDERef xmlns:a16="http://schemas.microsoft.com/office/drawing/2014/main" pred="{00000000-0008-0000-0400-000003000000}"/>
              </a:ext>
            </a:extLst>
          </p:cNvPr>
          <p:cNvGraphicFramePr>
            <a:graphicFrameLocks/>
          </p:cNvGraphicFramePr>
          <p:nvPr>
            <p:extLst>
              <p:ext uri="{D42A27DB-BD31-4B8C-83A1-F6EECF244321}">
                <p14:modId xmlns:p14="http://schemas.microsoft.com/office/powerpoint/2010/main" val="2095053980"/>
              </p:ext>
            </p:extLst>
          </p:nvPr>
        </p:nvGraphicFramePr>
        <p:xfrm>
          <a:off x="6353042" y="2486550"/>
          <a:ext cx="5391856" cy="2637367"/>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0" name="Table 9">
            <a:extLst>
              <a:ext uri="{FF2B5EF4-FFF2-40B4-BE49-F238E27FC236}">
                <a16:creationId xmlns:a16="http://schemas.microsoft.com/office/drawing/2014/main" id="{48CA5425-C4CC-E485-ACEF-11219218FB5B}"/>
              </a:ext>
            </a:extLst>
          </p:cNvPr>
          <p:cNvGraphicFramePr>
            <a:graphicFrameLocks noGrp="1"/>
          </p:cNvGraphicFramePr>
          <p:nvPr>
            <p:extLst>
              <p:ext uri="{D42A27DB-BD31-4B8C-83A1-F6EECF244321}">
                <p14:modId xmlns:p14="http://schemas.microsoft.com/office/powerpoint/2010/main" val="464692066"/>
              </p:ext>
            </p:extLst>
          </p:nvPr>
        </p:nvGraphicFramePr>
        <p:xfrm>
          <a:off x="7378400" y="5340500"/>
          <a:ext cx="4106462" cy="1098550"/>
        </p:xfrm>
        <a:graphic>
          <a:graphicData uri="http://schemas.openxmlformats.org/drawingml/2006/table">
            <a:tbl>
              <a:tblPr/>
              <a:tblGrid>
                <a:gridCol w="859492">
                  <a:extLst>
                    <a:ext uri="{9D8B030D-6E8A-4147-A177-3AD203B41FA5}">
                      <a16:colId xmlns:a16="http://schemas.microsoft.com/office/drawing/2014/main" val="773721340"/>
                    </a:ext>
                  </a:extLst>
                </a:gridCol>
                <a:gridCol w="891325">
                  <a:extLst>
                    <a:ext uri="{9D8B030D-6E8A-4147-A177-3AD203B41FA5}">
                      <a16:colId xmlns:a16="http://schemas.microsoft.com/office/drawing/2014/main" val="468929927"/>
                    </a:ext>
                  </a:extLst>
                </a:gridCol>
                <a:gridCol w="1193739">
                  <a:extLst>
                    <a:ext uri="{9D8B030D-6E8A-4147-A177-3AD203B41FA5}">
                      <a16:colId xmlns:a16="http://schemas.microsoft.com/office/drawing/2014/main" val="2902041416"/>
                    </a:ext>
                  </a:extLst>
                </a:gridCol>
                <a:gridCol w="1161906">
                  <a:extLst>
                    <a:ext uri="{9D8B030D-6E8A-4147-A177-3AD203B41FA5}">
                      <a16:colId xmlns:a16="http://schemas.microsoft.com/office/drawing/2014/main" val="3199164735"/>
                    </a:ext>
                  </a:extLst>
                </a:gridCol>
              </a:tblGrid>
              <a:tr h="184150">
                <a:tc>
                  <a:txBody>
                    <a:bodyPr/>
                    <a:lstStyle/>
                    <a:p>
                      <a:pPr algn="l" fontAlgn="b">
                        <a:buNone/>
                      </a:pPr>
                      <a:endParaRPr lang="en-US" sz="1400" b="0" i="0" u="none" strike="noStrike">
                        <a:solidFill>
                          <a:srgbClr val="000000"/>
                        </a:solidFill>
                        <a:effectLst/>
                        <a:latin typeface="Calibri" panose="020F0502020204030204" pitchFamily="34" charset="0"/>
                      </a:endParaRPr>
                    </a:p>
                  </a:txBody>
                  <a:tcPr marL="6350" marR="6350" marT="6350"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400" b="1" i="0" u="none" strike="noStrike">
                          <a:solidFill>
                            <a:srgbClr val="000000"/>
                          </a:solidFill>
                          <a:effectLst/>
                          <a:latin typeface="Calibri" panose="020F0502020204030204" pitchFamily="34" charset="0"/>
                        </a:rPr>
                        <a:t>Total Task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b">
                        <a:buNone/>
                      </a:pPr>
                      <a:r>
                        <a:rPr lang="en-US" sz="1400" b="1" i="0" u="none" strike="noStrike">
                          <a:solidFill>
                            <a:srgbClr val="000000"/>
                          </a:solidFill>
                          <a:effectLst/>
                          <a:latin typeface="Calibri" panose="020F0502020204030204" pitchFamily="34" charset="0"/>
                        </a:rPr>
                        <a:t>Task Executed</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b">
                        <a:buNone/>
                      </a:pPr>
                      <a:r>
                        <a:rPr lang="en-US" sz="1400" b="1" i="0" u="none" strike="noStrike">
                          <a:solidFill>
                            <a:srgbClr val="000000"/>
                          </a:solidFill>
                          <a:effectLst/>
                          <a:latin typeface="Calibri" panose="020F0502020204030204" pitchFamily="34" charset="0"/>
                        </a:rPr>
                        <a:t>Pending Task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extLst>
                  <a:ext uri="{0D108BD9-81ED-4DB2-BD59-A6C34878D82A}">
                    <a16:rowId xmlns:a16="http://schemas.microsoft.com/office/drawing/2014/main" val="3674626408"/>
                  </a:ext>
                </a:extLst>
              </a:tr>
              <a:tr h="184150">
                <a:tc>
                  <a:txBody>
                    <a:bodyPr/>
                    <a:lstStyle/>
                    <a:p>
                      <a:pPr algn="l" fontAlgn="b">
                        <a:buNone/>
                      </a:pPr>
                      <a:r>
                        <a:rPr lang="en-US" sz="1400" b="1" i="0" u="none" strike="noStrike">
                          <a:solidFill>
                            <a:srgbClr val="000000"/>
                          </a:solidFill>
                          <a:effectLst/>
                          <a:latin typeface="Calibri" panose="020F0502020204030204" pitchFamily="34" charset="0"/>
                        </a:rPr>
                        <a:t>CBSBCNI</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a:txBody>
                    <a:bodyPr/>
                    <a:lstStyle/>
                    <a:p>
                      <a:pPr algn="ctr" fontAlgn="b">
                        <a:buNone/>
                      </a:pPr>
                      <a:r>
                        <a:rPr lang="en-US" sz="1400" b="0" i="0" u="none" strike="noStrike">
                          <a:solidFill>
                            <a:srgbClr val="000000"/>
                          </a:solidFill>
                          <a:effectLst/>
                          <a:latin typeface="Calibri" panose="020F0502020204030204" pitchFamily="34" charset="0"/>
                        </a:rPr>
                        <a:t>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400" b="0" i="0" u="none" strike="noStrike">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400" b="0" i="0" u="none" strike="noStrike">
                          <a:solidFill>
                            <a:srgbClr val="000000"/>
                          </a:solidFill>
                          <a:effectLst/>
                          <a:latin typeface="Calibri" panose="020F0502020204030204" pitchFamily="34" charset="0"/>
                        </a:rPr>
                        <a:t>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65718221"/>
                  </a:ext>
                </a:extLst>
              </a:tr>
              <a:tr h="184150">
                <a:tc>
                  <a:txBody>
                    <a:bodyPr/>
                    <a:lstStyle/>
                    <a:p>
                      <a:pPr algn="l" fontAlgn="b">
                        <a:buNone/>
                      </a:pPr>
                      <a:r>
                        <a:rPr lang="en-US" sz="1400" b="1" i="0" u="none" strike="noStrike">
                          <a:solidFill>
                            <a:srgbClr val="000000"/>
                          </a:solidFill>
                          <a:effectLst/>
                          <a:latin typeface="Calibri" panose="020F0502020204030204" pitchFamily="34" charset="0"/>
                        </a:rPr>
                        <a:t>CBSBELEC</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a:txBody>
                    <a:bodyPr/>
                    <a:lstStyle/>
                    <a:p>
                      <a:pPr algn="ctr" fontAlgn="b">
                        <a:buNone/>
                      </a:pPr>
                      <a:r>
                        <a:rPr lang="en-US" sz="1400" b="0" i="0" u="none" strike="noStrike">
                          <a:solidFill>
                            <a:srgbClr val="000000"/>
                          </a:solidFill>
                          <a:effectLst/>
                          <a:latin typeface="Calibri" panose="020F0502020204030204" pitchFamily="34" charset="0"/>
                        </a:rPr>
                        <a:t>41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400" b="0" i="0" u="none" strike="noStrike">
                          <a:solidFill>
                            <a:srgbClr val="000000"/>
                          </a:solidFill>
                          <a:effectLst/>
                          <a:latin typeface="Calibri" panose="020F0502020204030204" pitchFamily="34" charset="0"/>
                        </a:rPr>
                        <a:t>30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400" b="0" i="0" u="none" strike="noStrike">
                          <a:solidFill>
                            <a:srgbClr val="000000"/>
                          </a:solidFill>
                          <a:effectLst/>
                          <a:latin typeface="Calibri" panose="020F0502020204030204" pitchFamily="34" charset="0"/>
                        </a:rPr>
                        <a:t>11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9146043"/>
                  </a:ext>
                </a:extLst>
              </a:tr>
              <a:tr h="184150">
                <a:tc>
                  <a:txBody>
                    <a:bodyPr/>
                    <a:lstStyle/>
                    <a:p>
                      <a:pPr algn="l" fontAlgn="b">
                        <a:buNone/>
                      </a:pPr>
                      <a:r>
                        <a:rPr lang="en-US" sz="1400" b="1" i="0" u="none" strike="noStrike">
                          <a:solidFill>
                            <a:srgbClr val="000000"/>
                          </a:solidFill>
                          <a:effectLst/>
                          <a:latin typeface="Calibri" panose="020F0502020204030204" pitchFamily="34" charset="0"/>
                        </a:rPr>
                        <a:t>CBSBOPER</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a:txBody>
                    <a:bodyPr/>
                    <a:lstStyle/>
                    <a:p>
                      <a:pPr algn="ctr" fontAlgn="b">
                        <a:buNone/>
                      </a:pPr>
                      <a:r>
                        <a:rPr lang="en-US" sz="1400" b="0" i="0" u="none" strike="noStrike">
                          <a:solidFill>
                            <a:srgbClr val="000000"/>
                          </a:solidFill>
                          <a:effectLst/>
                          <a:latin typeface="Calibri" panose="020F0502020204030204" pitchFamily="34" charset="0"/>
                        </a:rPr>
                        <a:t>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400" b="0" i="0" u="none" strike="noStrike">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400" b="0" i="0" u="none" strike="noStrike">
                          <a:solidFill>
                            <a:srgbClr val="000000"/>
                          </a:solidFill>
                          <a:effectLst/>
                          <a:latin typeface="Calibri" panose="020F0502020204030204" pitchFamily="34" charset="0"/>
                        </a:rPr>
                        <a:t>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46203723"/>
                  </a:ext>
                </a:extLst>
              </a:tr>
              <a:tr h="184150">
                <a:tc>
                  <a:txBody>
                    <a:bodyPr/>
                    <a:lstStyle/>
                    <a:p>
                      <a:pPr algn="l" fontAlgn="b">
                        <a:buNone/>
                      </a:pPr>
                      <a:r>
                        <a:rPr lang="en-US" sz="1400" b="1" i="0" u="none" strike="noStrike">
                          <a:solidFill>
                            <a:srgbClr val="000000"/>
                          </a:solidFill>
                          <a:effectLst/>
                          <a:latin typeface="Calibri" panose="020F0502020204030204" pitchFamily="34" charset="0"/>
                        </a:rPr>
                        <a:t>CBSBSVFC</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a:txBody>
                    <a:bodyPr/>
                    <a:lstStyle/>
                    <a:p>
                      <a:pPr algn="ctr" fontAlgn="b">
                        <a:buNone/>
                      </a:pPr>
                      <a:r>
                        <a:rPr lang="en-US" sz="1400" b="0" i="0" u="none" strike="noStrike">
                          <a:solidFill>
                            <a:srgbClr val="000000"/>
                          </a:solidFill>
                          <a:effectLst/>
                          <a:latin typeface="Calibri" panose="020F0502020204030204" pitchFamily="34" charset="0"/>
                        </a:rPr>
                        <a:t>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400" b="0" i="0" u="none" strike="noStrike">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400" b="0" i="0" u="none" strike="noStrike">
                          <a:solidFill>
                            <a:srgbClr val="000000"/>
                          </a:solidFill>
                          <a:effectLst/>
                          <a:latin typeface="Calibri" panose="020F0502020204030204" pitchFamily="34" charset="0"/>
                        </a:rPr>
                        <a:t>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32145724"/>
                  </a:ext>
                </a:extLst>
              </a:tr>
            </a:tbl>
          </a:graphicData>
        </a:graphic>
      </p:graphicFrame>
      <p:sp>
        <p:nvSpPr>
          <p:cNvPr id="6" name="Slide Number Placeholder 2">
            <a:extLst>
              <a:ext uri="{FF2B5EF4-FFF2-40B4-BE49-F238E27FC236}">
                <a16:creationId xmlns:a16="http://schemas.microsoft.com/office/drawing/2014/main" id="{25E9FCD5-143B-A7AC-CBFC-365587FA0268}"/>
              </a:ext>
            </a:extLst>
          </p:cNvPr>
          <p:cNvSpPr>
            <a:spLocks noGrp="1"/>
          </p:cNvSpPr>
          <p:nvPr>
            <p:ph type="sldNum" sz="quarter" idx="12"/>
          </p:nvPr>
        </p:nvSpPr>
        <p:spPr>
          <a:xfrm>
            <a:off x="8900311" y="6479282"/>
            <a:ext cx="2743200" cy="365125"/>
          </a:xfrm>
        </p:spPr>
        <p:txBody>
          <a:bodyPr/>
          <a:lstStyle/>
          <a:p>
            <a:r>
              <a:rPr lang="en-US"/>
              <a:t>11</a:t>
            </a:r>
          </a:p>
        </p:txBody>
      </p:sp>
    </p:spTree>
    <p:extLst>
      <p:ext uri="{BB962C8B-B14F-4D97-AF65-F5344CB8AC3E}">
        <p14:creationId xmlns:p14="http://schemas.microsoft.com/office/powerpoint/2010/main" val="957765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 name="Picture 347">
            <a:extLst>
              <a:ext uri="{FF2B5EF4-FFF2-40B4-BE49-F238E27FC236}">
                <a16:creationId xmlns:a16="http://schemas.microsoft.com/office/drawing/2014/main" id="{F3683BE6-9B66-444A-8EF4-87EDE88C6DDA}"/>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t="13483" b="26966"/>
          <a:stretch/>
        </p:blipFill>
        <p:spPr bwMode="auto">
          <a:xfrm>
            <a:off x="10748507" y="80255"/>
            <a:ext cx="1225443" cy="473074"/>
          </a:xfrm>
          <a:prstGeom prst="rect">
            <a:avLst/>
          </a:prstGeom>
          <a:noFill/>
          <a:ln>
            <a:noFill/>
          </a:ln>
          <a:extLst>
            <a:ext uri="{53640926-AAD7-44D8-BBD7-CCE9431645EC}">
              <a14:shadowObscured xmlns:a14="http://schemas.microsoft.com/office/drawing/2010/main"/>
            </a:ext>
          </a:extLst>
        </p:spPr>
      </p:pic>
      <p:cxnSp>
        <p:nvCxnSpPr>
          <p:cNvPr id="350" name="Straight Connector 349">
            <a:extLst>
              <a:ext uri="{FF2B5EF4-FFF2-40B4-BE49-F238E27FC236}">
                <a16:creationId xmlns:a16="http://schemas.microsoft.com/office/drawing/2014/main" id="{84EFE9C2-03E0-4415-AC4B-C36058A9DFB0}"/>
              </a:ext>
            </a:extLst>
          </p:cNvPr>
          <p:cNvCxnSpPr/>
          <p:nvPr/>
        </p:nvCxnSpPr>
        <p:spPr>
          <a:xfrm>
            <a:off x="141467" y="887564"/>
            <a:ext cx="10607040" cy="0"/>
          </a:xfrm>
          <a:prstGeom prst="line">
            <a:avLst/>
          </a:prstGeom>
        </p:spPr>
        <p:style>
          <a:lnRef idx="3">
            <a:schemeClr val="accent3"/>
          </a:lnRef>
          <a:fillRef idx="0">
            <a:schemeClr val="accent3"/>
          </a:fillRef>
          <a:effectRef idx="2">
            <a:schemeClr val="accent3"/>
          </a:effectRef>
          <a:fontRef idx="minor">
            <a:schemeClr val="tx1"/>
          </a:fontRef>
        </p:style>
      </p:cxnSp>
      <p:sp>
        <p:nvSpPr>
          <p:cNvPr id="14353" name="Slide Number Placeholder 14352">
            <a:extLst>
              <a:ext uri="{FF2B5EF4-FFF2-40B4-BE49-F238E27FC236}">
                <a16:creationId xmlns:a16="http://schemas.microsoft.com/office/drawing/2014/main" id="{1117A135-8578-442B-875D-1E637B9FC897}"/>
              </a:ext>
            </a:extLst>
          </p:cNvPr>
          <p:cNvSpPr>
            <a:spLocks noGrp="1"/>
          </p:cNvSpPr>
          <p:nvPr>
            <p:ph type="sldNum" sz="quarter" idx="12"/>
          </p:nvPr>
        </p:nvSpPr>
        <p:spPr>
          <a:xfrm>
            <a:off x="8625114" y="6356350"/>
            <a:ext cx="2743200" cy="365125"/>
          </a:xfrm>
        </p:spPr>
        <p:txBody>
          <a:bodyPr/>
          <a:lstStyle/>
          <a:p>
            <a:pPr marL="0" marR="0" lvl="0" indent="0" algn="r" defTabSz="914400">
              <a:lnSpc>
                <a:spcPct val="100000"/>
              </a:lnSpc>
              <a:spcBef>
                <a:spcPts val="0"/>
              </a:spcBef>
              <a:spcAft>
                <a:spcPts val="0"/>
              </a:spcAft>
              <a:buNone/>
              <a:tabLst/>
              <a:defRPr/>
            </a:pPr>
            <a:r>
              <a:rPr lang="en-US">
                <a:solidFill>
                  <a:prstClr val="black">
                    <a:tint val="75000"/>
                  </a:prstClr>
                </a:solidFill>
                <a:latin typeface="Calibri" panose="020F0502020204030204"/>
              </a:rPr>
              <a:t>12</a:t>
            </a:r>
            <a:endParaRPr lang="en-US">
              <a:ea typeface="+mn-ea"/>
              <a:cs typeface="+mn-cs"/>
            </a:endParaRPr>
          </a:p>
        </p:txBody>
      </p:sp>
      <p:sp>
        <p:nvSpPr>
          <p:cNvPr id="38" name="Rectangle 2">
            <a:extLst>
              <a:ext uri="{FF2B5EF4-FFF2-40B4-BE49-F238E27FC236}">
                <a16:creationId xmlns:a16="http://schemas.microsoft.com/office/drawing/2014/main" id="{BE92A8E5-4035-4CCA-974F-30A72D0CCBB7}"/>
              </a:ext>
            </a:extLst>
          </p:cNvPr>
          <p:cNvSpPr txBox="1">
            <a:spLocks noChangeArrowheads="1"/>
          </p:cNvSpPr>
          <p:nvPr/>
        </p:nvSpPr>
        <p:spPr>
          <a:xfrm>
            <a:off x="381000" y="93605"/>
            <a:ext cx="8748932" cy="36411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altLang="en-US" sz="2400" b="1">
                <a:solidFill>
                  <a:prstClr val="black"/>
                </a:solidFill>
                <a:latin typeface="Calibri" panose="020F0502020204030204"/>
              </a:rPr>
              <a:t>4</a:t>
            </a:r>
            <a:r>
              <a:rPr kumimoji="0" lang="en-US" altLang="en-US" sz="2400" b="1" i="0" u="none" strike="noStrike" kern="1200" cap="none" spc="0" normalizeH="0" baseline="0" noProof="0">
                <a:ln>
                  <a:noFill/>
                </a:ln>
                <a:solidFill>
                  <a:prstClr val="black"/>
                </a:solidFill>
                <a:effectLst/>
                <a:uLnTx/>
                <a:uFillTx/>
                <a:latin typeface="Calibri" panose="020F0502020204030204"/>
                <a:ea typeface="+mj-ea"/>
                <a:cs typeface="+mj-cs"/>
              </a:rPr>
              <a:t>.  CONCLUSION </a:t>
            </a:r>
          </a:p>
        </p:txBody>
      </p:sp>
      <p:sp>
        <p:nvSpPr>
          <p:cNvPr id="2" name="TextBox 1">
            <a:extLst>
              <a:ext uri="{FF2B5EF4-FFF2-40B4-BE49-F238E27FC236}">
                <a16:creationId xmlns:a16="http://schemas.microsoft.com/office/drawing/2014/main" id="{509FEE40-6305-66D1-201B-D0F7D56D43E7}"/>
              </a:ext>
            </a:extLst>
          </p:cNvPr>
          <p:cNvSpPr txBox="1"/>
          <p:nvPr/>
        </p:nvSpPr>
        <p:spPr>
          <a:xfrm>
            <a:off x="629648" y="1401645"/>
            <a:ext cx="10022460" cy="2814617"/>
          </a:xfrm>
          <a:prstGeom prst="rect">
            <a:avLst/>
          </a:prstGeom>
          <a:noFill/>
        </p:spPr>
        <p:txBody>
          <a:bodyPr wrap="square">
            <a:spAutoFit/>
          </a:bodyPr>
          <a:lstStyle>
            <a:defPPr>
              <a:defRPr lang="en-US"/>
            </a:defPPr>
            <a:lvl1pPr marL="457200" indent="-457200">
              <a:lnSpc>
                <a:spcPct val="150000"/>
              </a:lnSpc>
              <a:buFont typeface="+mj-lt"/>
              <a:buAutoNum type="arabicPeriod"/>
              <a:defRPr sz="2000"/>
            </a:lvl1pPr>
          </a:lstStyle>
          <a:p>
            <a:pPr marL="457200" marR="0" lvl="0" indent="-457200" algn="just" defTabSz="914400" rtl="0" eaLnBrk="1" fontAlgn="auto" latinLnBrk="0" hangingPunct="1">
              <a:lnSpc>
                <a:spcPct val="150000"/>
              </a:lnSpc>
              <a:spcBef>
                <a:spcPts val="0"/>
              </a:spcBef>
              <a:spcAft>
                <a:spcPts val="0"/>
              </a:spcAft>
              <a:buClrTx/>
              <a:buSzTx/>
              <a:buFont typeface="+mj-lt"/>
              <a:buAutoNum type="arabicPeriod"/>
              <a:tabLst/>
              <a:defRPr/>
            </a:pPr>
            <a:r>
              <a:rPr kumimoji="0" lang="en-MY" sz="2000" b="0" i="0" u="none" strike="noStrike" kern="1200" cap="none" spc="0" normalizeH="0" baseline="0" noProof="0">
                <a:ln>
                  <a:noFill/>
                </a:ln>
                <a:solidFill>
                  <a:prstClr val="black"/>
                </a:solidFill>
                <a:effectLst/>
                <a:uLnTx/>
                <a:uFillTx/>
                <a:latin typeface="Calibri" panose="020F0502020204030204"/>
                <a:ea typeface="+mn-ea"/>
                <a:cs typeface="+mn-cs"/>
              </a:rPr>
              <a:t>From this exercise, the objective of the RCM analysis has been met, where a more comprehensive &amp; optimized maintenance strategy for </a:t>
            </a:r>
            <a:r>
              <a:rPr lang="en-US" sz="2000" b="1"/>
              <a:t>Generator Transformers </a:t>
            </a:r>
            <a:r>
              <a:rPr kumimoji="0" lang="en-MY" sz="2000" b="0" i="0" u="none" strike="noStrike" kern="1200" cap="none" spc="0" normalizeH="0" baseline="0" noProof="0">
                <a:ln>
                  <a:noFill/>
                </a:ln>
                <a:solidFill>
                  <a:prstClr val="black"/>
                </a:solidFill>
                <a:effectLst/>
                <a:uLnTx/>
                <a:uFillTx/>
                <a:latin typeface="Calibri" panose="020F0502020204030204"/>
                <a:ea typeface="+mn-ea"/>
                <a:cs typeface="+mn-cs"/>
              </a:rPr>
              <a:t>has been generated.</a:t>
            </a:r>
          </a:p>
          <a:p>
            <a:pPr marL="457200" marR="0" lvl="0" indent="-457200" algn="just" defTabSz="914400" rtl="0" eaLnBrk="1" fontAlgn="auto" latinLnBrk="0" hangingPunct="1">
              <a:lnSpc>
                <a:spcPct val="150000"/>
              </a:lnSpc>
              <a:spcBef>
                <a:spcPts val="0"/>
              </a:spcBef>
              <a:spcAft>
                <a:spcPts val="0"/>
              </a:spcAft>
              <a:buClrTx/>
              <a:buSzTx/>
              <a:buFont typeface="+mj-lt"/>
              <a:buAutoNum type="arabicPeriod"/>
              <a:tabLst/>
              <a:defRPr/>
            </a:pPr>
            <a:endParaRPr kumimoji="0" lang="en-MY" sz="2000" b="0" i="0" u="none" strike="noStrike" kern="1200" cap="none" spc="0" normalizeH="0" baseline="0" noProof="0">
              <a:ln>
                <a:noFill/>
              </a:ln>
              <a:solidFill>
                <a:prstClr val="black"/>
              </a:solidFill>
              <a:effectLst/>
              <a:uLnTx/>
              <a:uFillTx/>
              <a:latin typeface="Calibri" panose="020F0502020204030204"/>
              <a:ea typeface="+mn-ea"/>
              <a:cs typeface="+mn-cs"/>
            </a:endParaRPr>
          </a:p>
          <a:p>
            <a:pPr marL="457200" marR="0" lvl="0" indent="-457200" algn="just" defTabSz="914400" rtl="0" eaLnBrk="1" fontAlgn="auto" latinLnBrk="0" hangingPunct="1">
              <a:lnSpc>
                <a:spcPct val="150000"/>
              </a:lnSpc>
              <a:spcBef>
                <a:spcPts val="0"/>
              </a:spcBef>
              <a:spcAft>
                <a:spcPts val="0"/>
              </a:spcAft>
              <a:buClrTx/>
              <a:buSzTx/>
              <a:buFont typeface="+mj-lt"/>
              <a:buAutoNum type="arabicPeriod"/>
              <a:tabLst/>
              <a:defRPr/>
            </a:pPr>
            <a:r>
              <a:rPr kumimoji="0" lang="en-MY" sz="2000" b="0" i="0" u="none" strike="noStrike" kern="1200" cap="none" spc="0" normalizeH="0" baseline="0" noProof="0">
                <a:ln>
                  <a:noFill/>
                </a:ln>
                <a:solidFill>
                  <a:prstClr val="black"/>
                </a:solidFill>
                <a:effectLst/>
                <a:uLnTx/>
                <a:uFillTx/>
                <a:latin typeface="Calibri" panose="020F0502020204030204"/>
                <a:ea typeface="+mn-ea"/>
                <a:cs typeface="+mn-cs"/>
              </a:rPr>
              <a:t>A total of </a:t>
            </a:r>
            <a:r>
              <a:rPr lang="en-MY">
                <a:latin typeface="Calibri" panose="020F0502020204030204"/>
              </a:rPr>
              <a:t>54</a:t>
            </a:r>
            <a:r>
              <a:rPr kumimoji="0" lang="en-MY" sz="2000" b="0" i="0" u="none" strike="noStrike" kern="1200" cap="none" spc="0" normalizeH="0" baseline="0" noProof="0">
                <a:ln>
                  <a:noFill/>
                </a:ln>
                <a:effectLst/>
                <a:uLnTx/>
                <a:uFillTx/>
                <a:latin typeface="Calibri" panose="020F0502020204030204"/>
                <a:ea typeface="+mn-ea"/>
                <a:cs typeface="+mn-cs"/>
              </a:rPr>
              <a:t> maintenance tasks </a:t>
            </a:r>
            <a:r>
              <a:rPr kumimoji="0" lang="en-MY" sz="2000" b="0" i="0" u="none" strike="noStrike" kern="1200" cap="none" spc="0" normalizeH="0" baseline="0" noProof="0">
                <a:ln>
                  <a:noFill/>
                </a:ln>
                <a:solidFill>
                  <a:prstClr val="black"/>
                </a:solidFill>
                <a:effectLst/>
                <a:uLnTx/>
                <a:uFillTx/>
                <a:latin typeface="Calibri" panose="020F0502020204030204"/>
                <a:ea typeface="+mn-ea"/>
                <a:cs typeface="+mn-cs"/>
              </a:rPr>
              <a:t>for the </a:t>
            </a:r>
            <a:r>
              <a:rPr lang="en-US" sz="2000" b="1"/>
              <a:t>Generator Transformers </a:t>
            </a:r>
            <a:r>
              <a:rPr kumimoji="0" lang="en-MY" sz="2000" b="0" i="0" u="none" strike="noStrike" kern="1200" cap="none" spc="0" normalizeH="0" baseline="0" noProof="0">
                <a:ln>
                  <a:noFill/>
                </a:ln>
                <a:solidFill>
                  <a:prstClr val="black"/>
                </a:solidFill>
                <a:effectLst/>
                <a:uLnTx/>
                <a:uFillTx/>
                <a:latin typeface="Calibri" panose="020F0502020204030204"/>
                <a:ea typeface="+mn-ea"/>
                <a:cs typeface="+mn-cs"/>
              </a:rPr>
              <a:t>proposed by the team members. </a:t>
            </a:r>
          </a:p>
        </p:txBody>
      </p:sp>
      <p:sp>
        <p:nvSpPr>
          <p:cNvPr id="3" name="Rectangle 2">
            <a:extLst>
              <a:ext uri="{FF2B5EF4-FFF2-40B4-BE49-F238E27FC236}">
                <a16:creationId xmlns:a16="http://schemas.microsoft.com/office/drawing/2014/main" id="{2253F92B-36F7-0DA7-F998-3518ACF0B11C}"/>
              </a:ext>
            </a:extLst>
          </p:cNvPr>
          <p:cNvSpPr txBox="1">
            <a:spLocks noChangeArrowheads="1"/>
          </p:cNvSpPr>
          <p:nvPr/>
        </p:nvSpPr>
        <p:spPr>
          <a:xfrm>
            <a:off x="478900" y="553329"/>
            <a:ext cx="10519756" cy="29948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altLang="en-US" sz="1600" b="1" i="1" u="none" strike="noStrike" kern="1200" cap="none" spc="0" normalizeH="0" baseline="0" noProof="0">
                <a:ln>
                  <a:noFill/>
                </a:ln>
                <a:solidFill>
                  <a:srgbClr val="5B9BD5">
                    <a:lumMod val="50000"/>
                  </a:srgbClr>
                </a:solidFill>
                <a:effectLst/>
                <a:uLnTx/>
                <a:uFillTx/>
                <a:latin typeface="Calibri" panose="020F0502020204030204"/>
                <a:ea typeface="+mj-ea"/>
                <a:cs typeface="+mj-cs"/>
              </a:rPr>
              <a:t>The RCM analysis’s objective has been met with a total of </a:t>
            </a:r>
            <a:r>
              <a:rPr kumimoji="0" lang="en-US" altLang="en-US" sz="1600" b="1" i="1" u="none" strike="noStrike" kern="1200" cap="none" spc="0" normalizeH="0" baseline="0" noProof="0">
                <a:ln>
                  <a:noFill/>
                </a:ln>
                <a:solidFill>
                  <a:srgbClr val="1F4E79"/>
                </a:solidFill>
                <a:effectLst/>
                <a:uLnTx/>
                <a:uFillTx/>
                <a:latin typeface="Calibri" panose="020F0502020204030204"/>
                <a:ea typeface="+mj-ea"/>
                <a:cs typeface="+mj-cs"/>
              </a:rPr>
              <a:t>54</a:t>
            </a:r>
            <a:r>
              <a:rPr kumimoji="0" lang="en-US" altLang="en-US" sz="1600" b="1" i="1" u="none" strike="noStrike" kern="1200" cap="none" spc="0" normalizeH="0" baseline="0" noProof="0">
                <a:ln>
                  <a:noFill/>
                </a:ln>
                <a:solidFill>
                  <a:srgbClr val="5B9BD5">
                    <a:lumMod val="50000"/>
                  </a:srgbClr>
                </a:solidFill>
                <a:effectLst/>
                <a:uLnTx/>
                <a:uFillTx/>
                <a:latin typeface="Calibri" panose="020F0502020204030204"/>
                <a:ea typeface="+mj-ea"/>
                <a:cs typeface="+mj-cs"/>
              </a:rPr>
              <a:t> maintenance tasks</a:t>
            </a:r>
          </a:p>
        </p:txBody>
      </p:sp>
    </p:spTree>
    <p:extLst>
      <p:ext uri="{BB962C8B-B14F-4D97-AF65-F5344CB8AC3E}">
        <p14:creationId xmlns:p14="http://schemas.microsoft.com/office/powerpoint/2010/main" val="14203217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 name="Picture 347">
            <a:extLst>
              <a:ext uri="{FF2B5EF4-FFF2-40B4-BE49-F238E27FC236}">
                <a16:creationId xmlns:a16="http://schemas.microsoft.com/office/drawing/2014/main" id="{F3683BE6-9B66-444A-8EF4-87EDE88C6DDA}"/>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t="13483" b="26966"/>
          <a:stretch/>
        </p:blipFill>
        <p:spPr bwMode="auto">
          <a:xfrm>
            <a:off x="10748507" y="80255"/>
            <a:ext cx="1225443" cy="473074"/>
          </a:xfrm>
          <a:prstGeom prst="rect">
            <a:avLst/>
          </a:prstGeom>
          <a:noFill/>
          <a:ln>
            <a:noFill/>
          </a:ln>
          <a:extLst>
            <a:ext uri="{53640926-AAD7-44D8-BBD7-CCE9431645EC}">
              <a14:shadowObscured xmlns:a14="http://schemas.microsoft.com/office/drawing/2010/main"/>
            </a:ext>
          </a:extLst>
        </p:spPr>
      </p:pic>
      <p:cxnSp>
        <p:nvCxnSpPr>
          <p:cNvPr id="350" name="Straight Connector 349">
            <a:extLst>
              <a:ext uri="{FF2B5EF4-FFF2-40B4-BE49-F238E27FC236}">
                <a16:creationId xmlns:a16="http://schemas.microsoft.com/office/drawing/2014/main" id="{84EFE9C2-03E0-4415-AC4B-C36058A9DFB0}"/>
              </a:ext>
            </a:extLst>
          </p:cNvPr>
          <p:cNvCxnSpPr/>
          <p:nvPr/>
        </p:nvCxnSpPr>
        <p:spPr>
          <a:xfrm>
            <a:off x="337358" y="876300"/>
            <a:ext cx="10607040" cy="0"/>
          </a:xfrm>
          <a:prstGeom prst="line">
            <a:avLst/>
          </a:prstGeom>
        </p:spPr>
        <p:style>
          <a:lnRef idx="3">
            <a:schemeClr val="accent3"/>
          </a:lnRef>
          <a:fillRef idx="0">
            <a:schemeClr val="accent3"/>
          </a:fillRef>
          <a:effectRef idx="2">
            <a:schemeClr val="accent3"/>
          </a:effectRef>
          <a:fontRef idx="minor">
            <a:schemeClr val="tx1"/>
          </a:fontRef>
        </p:style>
      </p:cxnSp>
      <p:sp>
        <p:nvSpPr>
          <p:cNvPr id="14353" name="Slide Number Placeholder 14352">
            <a:extLst>
              <a:ext uri="{FF2B5EF4-FFF2-40B4-BE49-F238E27FC236}">
                <a16:creationId xmlns:a16="http://schemas.microsoft.com/office/drawing/2014/main" id="{1117A135-8578-442B-875D-1E637B9FC897}"/>
              </a:ext>
            </a:extLst>
          </p:cNvPr>
          <p:cNvSpPr>
            <a:spLocks noGrp="1"/>
          </p:cNvSpPr>
          <p:nvPr>
            <p:ph type="sldNum" sz="quarter" idx="12"/>
          </p:nvPr>
        </p:nvSpPr>
        <p:spPr>
          <a:xfrm>
            <a:off x="8625114" y="6356350"/>
            <a:ext cx="2743200" cy="365125"/>
          </a:xfrm>
        </p:spPr>
        <p:txBody>
          <a:bodyPr/>
          <a:lstStyle/>
          <a:p>
            <a:pPr marL="0" marR="0" lvl="0" indent="0" algn="r" defTabSz="914400">
              <a:lnSpc>
                <a:spcPct val="100000"/>
              </a:lnSpc>
              <a:spcBef>
                <a:spcPts val="0"/>
              </a:spcBef>
              <a:spcAft>
                <a:spcPts val="0"/>
              </a:spcAft>
              <a:buNone/>
              <a:tabLst/>
              <a:defRPr/>
            </a:pPr>
            <a:r>
              <a:rPr lang="en-US">
                <a:solidFill>
                  <a:prstClr val="black">
                    <a:tint val="75000"/>
                  </a:prstClr>
                </a:solidFill>
                <a:latin typeface="Calibri" panose="020F0502020204030204"/>
              </a:rPr>
              <a:t>13</a:t>
            </a:r>
            <a:endParaRPr lang="en-US">
              <a:ea typeface="+mn-ea"/>
              <a:cs typeface="+mn-cs"/>
            </a:endParaRPr>
          </a:p>
        </p:txBody>
      </p:sp>
      <p:sp>
        <p:nvSpPr>
          <p:cNvPr id="38" name="Rectangle 2">
            <a:extLst>
              <a:ext uri="{FF2B5EF4-FFF2-40B4-BE49-F238E27FC236}">
                <a16:creationId xmlns:a16="http://schemas.microsoft.com/office/drawing/2014/main" id="{BE92A8E5-4035-4CCA-974F-30A72D0CCBB7}"/>
              </a:ext>
            </a:extLst>
          </p:cNvPr>
          <p:cNvSpPr txBox="1">
            <a:spLocks noChangeArrowheads="1"/>
          </p:cNvSpPr>
          <p:nvPr/>
        </p:nvSpPr>
        <p:spPr>
          <a:xfrm>
            <a:off x="478900" y="182445"/>
            <a:ext cx="8748932" cy="36411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altLang="en-US" sz="2400" b="1">
                <a:solidFill>
                  <a:prstClr val="black"/>
                </a:solidFill>
                <a:latin typeface="Calibri" panose="020F0502020204030204"/>
              </a:rPr>
              <a:t>5</a:t>
            </a:r>
            <a:r>
              <a:rPr kumimoji="0" lang="en-US" altLang="en-US" sz="2400" b="1" i="0" u="none" strike="noStrike" kern="1200" cap="none" spc="0" normalizeH="0" baseline="0" noProof="0">
                <a:ln>
                  <a:noFill/>
                </a:ln>
                <a:solidFill>
                  <a:prstClr val="black"/>
                </a:solidFill>
                <a:effectLst/>
                <a:uLnTx/>
                <a:uFillTx/>
                <a:latin typeface="Calibri" panose="020F0502020204030204"/>
                <a:ea typeface="+mj-ea"/>
                <a:cs typeface="+mj-cs"/>
              </a:rPr>
              <a:t>. RECOMMENDATION</a:t>
            </a:r>
          </a:p>
        </p:txBody>
      </p:sp>
      <p:sp>
        <p:nvSpPr>
          <p:cNvPr id="3" name="Rectangle 2">
            <a:extLst>
              <a:ext uri="{FF2B5EF4-FFF2-40B4-BE49-F238E27FC236}">
                <a16:creationId xmlns:a16="http://schemas.microsoft.com/office/drawing/2014/main" id="{5B6D8716-D1FF-E1AE-A8B5-F119A312C693}"/>
              </a:ext>
            </a:extLst>
          </p:cNvPr>
          <p:cNvSpPr txBox="1">
            <a:spLocks noChangeArrowheads="1"/>
          </p:cNvSpPr>
          <p:nvPr/>
        </p:nvSpPr>
        <p:spPr>
          <a:xfrm>
            <a:off x="381000" y="457724"/>
            <a:ext cx="10519756" cy="36411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US" altLang="en-US" sz="1800" b="1" i="1" u="none" strike="noStrike" kern="1200" cap="none" spc="0" normalizeH="0" baseline="0" noProof="0">
              <a:ln>
                <a:noFill/>
              </a:ln>
              <a:solidFill>
                <a:srgbClr val="5B9BD5">
                  <a:lumMod val="50000"/>
                </a:srgbClr>
              </a:solidFill>
              <a:effectLst/>
              <a:uLnTx/>
              <a:uFillTx/>
              <a:latin typeface="Calibri" panose="020F0502020204030204"/>
              <a:ea typeface="+mj-ea"/>
              <a:cs typeface="+mj-cs"/>
            </a:endParaRPr>
          </a:p>
        </p:txBody>
      </p:sp>
      <p:sp>
        <p:nvSpPr>
          <p:cNvPr id="5" name="TextBox 4">
            <a:extLst>
              <a:ext uri="{FF2B5EF4-FFF2-40B4-BE49-F238E27FC236}">
                <a16:creationId xmlns:a16="http://schemas.microsoft.com/office/drawing/2014/main" id="{EF93918A-CAAE-9701-7BC1-6A11BCA201A3}"/>
              </a:ext>
            </a:extLst>
          </p:cNvPr>
          <p:cNvSpPr txBox="1"/>
          <p:nvPr/>
        </p:nvSpPr>
        <p:spPr>
          <a:xfrm>
            <a:off x="548750" y="1261244"/>
            <a:ext cx="10519756" cy="4199611"/>
          </a:xfrm>
          <a:prstGeom prst="rect">
            <a:avLst/>
          </a:prstGeom>
          <a:noFill/>
        </p:spPr>
        <p:txBody>
          <a:bodyPr wrap="square">
            <a:spAutoFit/>
          </a:bodyPr>
          <a:lstStyle/>
          <a:p>
            <a:pPr marL="457200" marR="0" lvl="0" indent="-457200" algn="just" defTabSz="914400" rtl="0" eaLnBrk="1" fontAlgn="auto" latinLnBrk="0" hangingPunct="1">
              <a:lnSpc>
                <a:spcPct val="150000"/>
              </a:lnSpc>
              <a:spcBef>
                <a:spcPts val="0"/>
              </a:spcBef>
              <a:spcAft>
                <a:spcPts val="0"/>
              </a:spcAft>
              <a:buClrTx/>
              <a:buSzTx/>
              <a:buFont typeface="+mj-lt"/>
              <a:buAutoNum type="arabicPeriod"/>
              <a:tabLst/>
              <a:defRPr/>
            </a:pPr>
            <a:r>
              <a:rPr kumimoji="0" lang="en-US" sz="2000" b="0" i="0" u="none" strike="noStrike" kern="1200" cap="none" spc="0" normalizeH="0" baseline="0" noProof="0">
                <a:ln>
                  <a:noFill/>
                </a:ln>
                <a:solidFill>
                  <a:prstClr val="black"/>
                </a:solidFill>
                <a:effectLst/>
                <a:uLnTx/>
                <a:uFillTx/>
                <a:latin typeface="Calibri" panose="020F0502020204030204"/>
                <a:ea typeface="+mn-ea"/>
                <a:cs typeface="+mn-cs"/>
              </a:rPr>
              <a:t>The station management is recommended to endorse the list of the proposed Maintenance Tasks from this RCM analysis. </a:t>
            </a:r>
          </a:p>
          <a:p>
            <a:pPr marL="457200" marR="0" lvl="0" indent="-457200" algn="just" defTabSz="914400" rtl="0" eaLnBrk="1" fontAlgn="auto" latinLnBrk="0" hangingPunct="1">
              <a:lnSpc>
                <a:spcPct val="150000"/>
              </a:lnSpc>
              <a:spcBef>
                <a:spcPts val="0"/>
              </a:spcBef>
              <a:spcAft>
                <a:spcPts val="0"/>
              </a:spcAft>
              <a:buClrTx/>
              <a:buSzTx/>
              <a:buFont typeface="+mj-lt"/>
              <a:buAutoNum type="arabicPeriod"/>
              <a:tabLst/>
              <a:defRPr/>
            </a:pPr>
            <a:r>
              <a:rPr kumimoji="0" lang="en-US" sz="2000" b="0" i="0" u="none" strike="noStrike" kern="1200" cap="none" spc="0" normalizeH="0" baseline="0" noProof="0">
                <a:ln>
                  <a:noFill/>
                </a:ln>
                <a:solidFill>
                  <a:prstClr val="black"/>
                </a:solidFill>
                <a:effectLst/>
                <a:uLnTx/>
                <a:uFillTx/>
                <a:latin typeface="Calibri" panose="020F0502020204030204"/>
                <a:ea typeface="+mn-ea"/>
                <a:cs typeface="+mn-cs"/>
              </a:rPr>
              <a:t>All approved maintenance tasks shall be uploaded into the ERMS Maintenance Plan Scheduling by the Maintenance Planner.</a:t>
            </a:r>
          </a:p>
          <a:p>
            <a:pPr marL="457200" marR="0" lvl="0" indent="-457200" algn="just" defTabSz="914400" rtl="0" eaLnBrk="1" fontAlgn="auto" latinLnBrk="0" hangingPunct="1">
              <a:lnSpc>
                <a:spcPct val="150000"/>
              </a:lnSpc>
              <a:spcBef>
                <a:spcPts val="0"/>
              </a:spcBef>
              <a:spcAft>
                <a:spcPts val="0"/>
              </a:spcAft>
              <a:buClrTx/>
              <a:buSzTx/>
              <a:buFont typeface="+mj-lt"/>
              <a:buAutoNum type="arabicPeriod"/>
              <a:tabLst/>
              <a:defRPr/>
            </a:pPr>
            <a:r>
              <a:rPr kumimoji="0" lang="en-US" sz="2000" b="0" i="0" u="none" strike="noStrike" kern="1200" cap="none" spc="0" normalizeH="0" baseline="0" noProof="0">
                <a:ln>
                  <a:noFill/>
                </a:ln>
                <a:solidFill>
                  <a:prstClr val="black"/>
                </a:solidFill>
                <a:effectLst/>
                <a:uLnTx/>
                <a:uFillTx/>
                <a:latin typeface="Calibri" panose="020F0502020204030204"/>
                <a:ea typeface="+mn-ea"/>
                <a:cs typeface="+mn-cs"/>
              </a:rPr>
              <a:t>The daily maintenance task may not be suitable to be uploaded into the ERMS. Therefore, these maintenance tasks shall be captured through maintenance check sheet or operational logs.</a:t>
            </a:r>
          </a:p>
          <a:p>
            <a:pPr marL="457200" marR="0" lvl="0" indent="-457200" algn="just" defTabSz="914400" rtl="0" eaLnBrk="1" fontAlgn="auto" latinLnBrk="0" hangingPunct="1">
              <a:lnSpc>
                <a:spcPct val="150000"/>
              </a:lnSpc>
              <a:spcBef>
                <a:spcPts val="0"/>
              </a:spcBef>
              <a:spcAft>
                <a:spcPts val="0"/>
              </a:spcAft>
              <a:buClrTx/>
              <a:buSzTx/>
              <a:buFont typeface="+mj-lt"/>
              <a:buAutoNum type="arabicPeriod"/>
              <a:tabLst/>
              <a:defRPr/>
            </a:pPr>
            <a:r>
              <a:rPr kumimoji="0" lang="en-US" sz="2000" b="0" i="0" u="none" strike="noStrike" kern="1200" cap="none" spc="0" normalizeH="0" baseline="0" noProof="0">
                <a:ln>
                  <a:noFill/>
                </a:ln>
                <a:solidFill>
                  <a:prstClr val="black"/>
                </a:solidFill>
                <a:effectLst/>
                <a:uLnTx/>
                <a:uFillTx/>
                <a:latin typeface="Calibri" panose="020F0502020204030204"/>
                <a:ea typeface="+mn-ea"/>
                <a:cs typeface="+mn-cs"/>
              </a:rPr>
              <a:t>The reliability of the</a:t>
            </a:r>
            <a:r>
              <a:rPr kumimoji="0" lang="pt-BR" sz="2000" b="0" i="0" u="none" strike="noStrike" kern="1200" cap="none" spc="0" normalizeH="0" baseline="0" noProof="0">
                <a:ln>
                  <a:noFill/>
                </a:ln>
                <a:solidFill>
                  <a:prstClr val="black"/>
                </a:solidFill>
                <a:effectLst/>
                <a:uLnTx/>
                <a:uFillTx/>
                <a:latin typeface="Calibri" panose="020F0502020204030204"/>
                <a:ea typeface="+mn-ea"/>
                <a:cs typeface="+mn-cs"/>
              </a:rPr>
              <a:t> </a:t>
            </a:r>
            <a:r>
              <a:rPr lang="en-US" sz="2000" b="1"/>
              <a:t>Generator Transformers </a:t>
            </a:r>
            <a:r>
              <a:rPr kumimoji="0" lang="en-US" sz="2000" b="0" i="0" u="none" strike="noStrike" kern="1200" cap="none" spc="0" normalizeH="0" baseline="0" noProof="0">
                <a:ln>
                  <a:noFill/>
                </a:ln>
                <a:solidFill>
                  <a:prstClr val="black"/>
                </a:solidFill>
                <a:effectLst/>
                <a:uLnTx/>
                <a:uFillTx/>
                <a:latin typeface="Calibri" panose="020F0502020204030204"/>
                <a:ea typeface="+mn-ea"/>
                <a:cs typeface="+mn-cs"/>
              </a:rPr>
              <a:t>shall be assessed regularly (recommended on yearly basis during maintenance review process), particularly when failures occur in this system. If any failure occurs, this RCM analysis is required to be reviewed.</a:t>
            </a:r>
          </a:p>
        </p:txBody>
      </p:sp>
      <p:sp>
        <p:nvSpPr>
          <p:cNvPr id="2" name="Rectangle 2">
            <a:extLst>
              <a:ext uri="{FF2B5EF4-FFF2-40B4-BE49-F238E27FC236}">
                <a16:creationId xmlns:a16="http://schemas.microsoft.com/office/drawing/2014/main" id="{BFB2C893-507C-21B9-7384-356E82424B91}"/>
              </a:ext>
            </a:extLst>
          </p:cNvPr>
          <p:cNvSpPr txBox="1">
            <a:spLocks noChangeArrowheads="1"/>
          </p:cNvSpPr>
          <p:nvPr/>
        </p:nvSpPr>
        <p:spPr>
          <a:xfrm>
            <a:off x="478900" y="488690"/>
            <a:ext cx="10519756" cy="36411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altLang="en-US" sz="1600" b="1" i="1" u="none" strike="noStrike" kern="1200" cap="none" spc="0" normalizeH="0" baseline="0" noProof="0">
                <a:ln>
                  <a:noFill/>
                </a:ln>
                <a:solidFill>
                  <a:srgbClr val="5B9BD5">
                    <a:lumMod val="50000"/>
                  </a:srgbClr>
                </a:solidFill>
                <a:effectLst/>
                <a:uLnTx/>
                <a:uFillTx/>
                <a:latin typeface="Calibri" panose="020F0502020204030204"/>
                <a:ea typeface="+mj-ea"/>
                <a:cs typeface="+mj-cs"/>
              </a:rPr>
              <a:t>Actions to be taken by station to further improve the  operation &amp; maintenance practices of the </a:t>
            </a:r>
            <a:r>
              <a:rPr lang="en-US" sz="1600" b="1" i="1">
                <a:solidFill>
                  <a:srgbClr val="5B9BD5">
                    <a:lumMod val="50000"/>
                  </a:srgbClr>
                </a:solidFill>
                <a:latin typeface="Calibri" panose="020F0502020204030204"/>
              </a:rPr>
              <a:t>Generator Transformers </a:t>
            </a:r>
            <a:r>
              <a:rPr kumimoji="0" lang="en-US" altLang="en-US" sz="1600" b="1" i="1" u="none" strike="noStrike" kern="1200" cap="none" spc="0" normalizeH="0" baseline="0" noProof="0">
                <a:ln>
                  <a:noFill/>
                </a:ln>
                <a:solidFill>
                  <a:srgbClr val="5B9BD5">
                    <a:lumMod val="50000"/>
                  </a:srgbClr>
                </a:solidFill>
                <a:effectLst/>
                <a:uLnTx/>
                <a:uFillTx/>
                <a:latin typeface="Calibri" panose="020F0502020204030204"/>
                <a:ea typeface="+mj-ea"/>
                <a:cs typeface="+mj-cs"/>
              </a:rPr>
              <a:t>.</a:t>
            </a:r>
          </a:p>
        </p:txBody>
      </p:sp>
    </p:spTree>
    <p:extLst>
      <p:ext uri="{BB962C8B-B14F-4D97-AF65-F5344CB8AC3E}">
        <p14:creationId xmlns:p14="http://schemas.microsoft.com/office/powerpoint/2010/main" val="28042342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 name="Picture 347">
            <a:extLst>
              <a:ext uri="{FF2B5EF4-FFF2-40B4-BE49-F238E27FC236}">
                <a16:creationId xmlns:a16="http://schemas.microsoft.com/office/drawing/2014/main" id="{F3683BE6-9B66-444A-8EF4-87EDE88C6DDA}"/>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t="13483" b="26966"/>
          <a:stretch/>
        </p:blipFill>
        <p:spPr bwMode="auto">
          <a:xfrm>
            <a:off x="10748507" y="80255"/>
            <a:ext cx="1225443" cy="473074"/>
          </a:xfrm>
          <a:prstGeom prst="rect">
            <a:avLst/>
          </a:prstGeom>
          <a:noFill/>
          <a:ln>
            <a:noFill/>
          </a:ln>
          <a:extLst>
            <a:ext uri="{53640926-AAD7-44D8-BBD7-CCE9431645EC}">
              <a14:shadowObscured xmlns:a14="http://schemas.microsoft.com/office/drawing/2010/main"/>
            </a:ext>
          </a:extLst>
        </p:spPr>
      </p:pic>
      <p:cxnSp>
        <p:nvCxnSpPr>
          <p:cNvPr id="350" name="Straight Connector 349">
            <a:extLst>
              <a:ext uri="{FF2B5EF4-FFF2-40B4-BE49-F238E27FC236}">
                <a16:creationId xmlns:a16="http://schemas.microsoft.com/office/drawing/2014/main" id="{84EFE9C2-03E0-4415-AC4B-C36058A9DFB0}"/>
              </a:ext>
            </a:extLst>
          </p:cNvPr>
          <p:cNvCxnSpPr/>
          <p:nvPr/>
        </p:nvCxnSpPr>
        <p:spPr>
          <a:xfrm>
            <a:off x="152399" y="762000"/>
            <a:ext cx="10607040" cy="0"/>
          </a:xfrm>
          <a:prstGeom prst="line">
            <a:avLst/>
          </a:prstGeom>
        </p:spPr>
        <p:style>
          <a:lnRef idx="3">
            <a:schemeClr val="accent3"/>
          </a:lnRef>
          <a:fillRef idx="0">
            <a:schemeClr val="accent3"/>
          </a:fillRef>
          <a:effectRef idx="2">
            <a:schemeClr val="accent3"/>
          </a:effectRef>
          <a:fontRef idx="minor">
            <a:schemeClr val="tx1"/>
          </a:fontRef>
        </p:style>
      </p:cxnSp>
      <p:sp>
        <p:nvSpPr>
          <p:cNvPr id="14353" name="Slide Number Placeholder 14352">
            <a:extLst>
              <a:ext uri="{FF2B5EF4-FFF2-40B4-BE49-F238E27FC236}">
                <a16:creationId xmlns:a16="http://schemas.microsoft.com/office/drawing/2014/main" id="{1117A135-8578-442B-875D-1E637B9FC897}"/>
              </a:ext>
            </a:extLst>
          </p:cNvPr>
          <p:cNvSpPr>
            <a:spLocks noGrp="1"/>
          </p:cNvSpPr>
          <p:nvPr>
            <p:ph type="sldNum" sz="quarter" idx="12"/>
          </p:nvPr>
        </p:nvSpPr>
        <p:spPr>
          <a:xfrm>
            <a:off x="8625114" y="6356350"/>
            <a:ext cx="2743200" cy="365125"/>
          </a:xfrm>
        </p:spPr>
        <p:txBody>
          <a:bodyPr/>
          <a:lstStyle/>
          <a:p>
            <a:r>
              <a:rPr lang="en-US"/>
              <a:t>14</a:t>
            </a:r>
          </a:p>
        </p:txBody>
      </p:sp>
      <p:sp>
        <p:nvSpPr>
          <p:cNvPr id="38" name="Rectangle 2">
            <a:extLst>
              <a:ext uri="{FF2B5EF4-FFF2-40B4-BE49-F238E27FC236}">
                <a16:creationId xmlns:a16="http://schemas.microsoft.com/office/drawing/2014/main" id="{BE92A8E5-4035-4CCA-974F-30A72D0CCBB7}"/>
              </a:ext>
            </a:extLst>
          </p:cNvPr>
          <p:cNvSpPr txBox="1">
            <a:spLocks noChangeArrowheads="1"/>
          </p:cNvSpPr>
          <p:nvPr/>
        </p:nvSpPr>
        <p:spPr>
          <a:xfrm>
            <a:off x="381000" y="93605"/>
            <a:ext cx="8748932" cy="36411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2400" b="1">
                <a:latin typeface="+mn-lt"/>
              </a:rPr>
              <a:t>7. REFERENCES</a:t>
            </a:r>
          </a:p>
        </p:txBody>
      </p:sp>
      <p:sp>
        <p:nvSpPr>
          <p:cNvPr id="39" name="Rectangle 2">
            <a:extLst>
              <a:ext uri="{FF2B5EF4-FFF2-40B4-BE49-F238E27FC236}">
                <a16:creationId xmlns:a16="http://schemas.microsoft.com/office/drawing/2014/main" id="{192C0055-6FD9-48BC-A55C-3EE8CC632FAA}"/>
              </a:ext>
            </a:extLst>
          </p:cNvPr>
          <p:cNvSpPr txBox="1">
            <a:spLocks noChangeArrowheads="1"/>
          </p:cNvSpPr>
          <p:nvPr/>
        </p:nvSpPr>
        <p:spPr>
          <a:xfrm>
            <a:off x="381000" y="419172"/>
            <a:ext cx="10519756" cy="36411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altLang="en-US" sz="1800" b="1" i="1">
              <a:solidFill>
                <a:schemeClr val="accent5">
                  <a:lumMod val="50000"/>
                </a:schemeClr>
              </a:solidFill>
              <a:latin typeface="+mn-lt"/>
            </a:endParaRPr>
          </a:p>
        </p:txBody>
      </p:sp>
      <p:sp>
        <p:nvSpPr>
          <p:cNvPr id="2" name="Content Placeholder 2">
            <a:extLst>
              <a:ext uri="{FF2B5EF4-FFF2-40B4-BE49-F238E27FC236}">
                <a16:creationId xmlns:a16="http://schemas.microsoft.com/office/drawing/2014/main" id="{67775A00-F90B-2079-3F61-235665DF7E69}"/>
              </a:ext>
            </a:extLst>
          </p:cNvPr>
          <p:cNvSpPr txBox="1">
            <a:spLocks/>
          </p:cNvSpPr>
          <p:nvPr/>
        </p:nvSpPr>
        <p:spPr>
          <a:xfrm>
            <a:off x="586278" y="1066277"/>
            <a:ext cx="10109200" cy="39163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buFont typeface="+mj-lt"/>
              <a:buAutoNum type="arabicPeriod"/>
            </a:pPr>
            <a:r>
              <a:rPr lang="en-US" sz="2400"/>
              <a:t>004-2_Unit Transformer - General Arrangement</a:t>
            </a:r>
          </a:p>
        </p:txBody>
      </p:sp>
    </p:spTree>
    <p:extLst>
      <p:ext uri="{BB962C8B-B14F-4D97-AF65-F5344CB8AC3E}">
        <p14:creationId xmlns:p14="http://schemas.microsoft.com/office/powerpoint/2010/main" val="31365828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 name="Picture 347">
            <a:extLst>
              <a:ext uri="{FF2B5EF4-FFF2-40B4-BE49-F238E27FC236}">
                <a16:creationId xmlns:a16="http://schemas.microsoft.com/office/drawing/2014/main" id="{F3683BE6-9B66-444A-8EF4-87EDE88C6DDA}"/>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t="13483" b="26966"/>
          <a:stretch/>
        </p:blipFill>
        <p:spPr bwMode="auto">
          <a:xfrm>
            <a:off x="10748507" y="80255"/>
            <a:ext cx="1225443" cy="473074"/>
          </a:xfrm>
          <a:prstGeom prst="rect">
            <a:avLst/>
          </a:prstGeom>
          <a:noFill/>
          <a:ln>
            <a:noFill/>
          </a:ln>
          <a:extLst>
            <a:ext uri="{53640926-AAD7-44D8-BBD7-CCE9431645EC}">
              <a14:shadowObscured xmlns:a14="http://schemas.microsoft.com/office/drawing/2010/main"/>
            </a:ext>
          </a:extLst>
        </p:spPr>
      </p:pic>
      <p:cxnSp>
        <p:nvCxnSpPr>
          <p:cNvPr id="350" name="Straight Connector 349">
            <a:extLst>
              <a:ext uri="{FF2B5EF4-FFF2-40B4-BE49-F238E27FC236}">
                <a16:creationId xmlns:a16="http://schemas.microsoft.com/office/drawing/2014/main" id="{84EFE9C2-03E0-4415-AC4B-C36058A9DFB0}"/>
              </a:ext>
            </a:extLst>
          </p:cNvPr>
          <p:cNvCxnSpPr/>
          <p:nvPr/>
        </p:nvCxnSpPr>
        <p:spPr>
          <a:xfrm>
            <a:off x="152399" y="762000"/>
            <a:ext cx="10607040" cy="0"/>
          </a:xfrm>
          <a:prstGeom prst="line">
            <a:avLst/>
          </a:prstGeom>
        </p:spPr>
        <p:style>
          <a:lnRef idx="3">
            <a:schemeClr val="accent3"/>
          </a:lnRef>
          <a:fillRef idx="0">
            <a:schemeClr val="accent3"/>
          </a:fillRef>
          <a:effectRef idx="2">
            <a:schemeClr val="accent3"/>
          </a:effectRef>
          <a:fontRef idx="minor">
            <a:schemeClr val="tx1"/>
          </a:fontRef>
        </p:style>
      </p:cxnSp>
      <p:sp>
        <p:nvSpPr>
          <p:cNvPr id="14353" name="Slide Number Placeholder 14352">
            <a:extLst>
              <a:ext uri="{FF2B5EF4-FFF2-40B4-BE49-F238E27FC236}">
                <a16:creationId xmlns:a16="http://schemas.microsoft.com/office/drawing/2014/main" id="{1117A135-8578-442B-875D-1E637B9FC897}"/>
              </a:ext>
            </a:extLst>
          </p:cNvPr>
          <p:cNvSpPr>
            <a:spLocks noGrp="1"/>
          </p:cNvSpPr>
          <p:nvPr>
            <p:ph type="sldNum" sz="quarter" idx="12"/>
          </p:nvPr>
        </p:nvSpPr>
        <p:spPr>
          <a:xfrm>
            <a:off x="8625114" y="6356350"/>
            <a:ext cx="2743200" cy="365125"/>
          </a:xfrm>
        </p:spPr>
        <p:txBody>
          <a:bodyPr/>
          <a:lstStyle/>
          <a:p>
            <a:r>
              <a:rPr lang="en-US"/>
              <a:t>15</a:t>
            </a:r>
          </a:p>
        </p:txBody>
      </p:sp>
      <p:sp>
        <p:nvSpPr>
          <p:cNvPr id="38" name="Rectangle 2">
            <a:extLst>
              <a:ext uri="{FF2B5EF4-FFF2-40B4-BE49-F238E27FC236}">
                <a16:creationId xmlns:a16="http://schemas.microsoft.com/office/drawing/2014/main" id="{BE92A8E5-4035-4CCA-974F-30A72D0CCBB7}"/>
              </a:ext>
            </a:extLst>
          </p:cNvPr>
          <p:cNvSpPr txBox="1">
            <a:spLocks noChangeArrowheads="1"/>
          </p:cNvSpPr>
          <p:nvPr/>
        </p:nvSpPr>
        <p:spPr>
          <a:xfrm>
            <a:off x="381000" y="93605"/>
            <a:ext cx="8748932" cy="36411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2400" b="1">
                <a:latin typeface="+mn-lt"/>
              </a:rPr>
              <a:t>8. ATTACHMENT</a:t>
            </a:r>
          </a:p>
        </p:txBody>
      </p:sp>
      <p:sp>
        <p:nvSpPr>
          <p:cNvPr id="39" name="Rectangle 2">
            <a:extLst>
              <a:ext uri="{FF2B5EF4-FFF2-40B4-BE49-F238E27FC236}">
                <a16:creationId xmlns:a16="http://schemas.microsoft.com/office/drawing/2014/main" id="{192C0055-6FD9-48BC-A55C-3EE8CC632FAA}"/>
              </a:ext>
            </a:extLst>
          </p:cNvPr>
          <p:cNvSpPr txBox="1">
            <a:spLocks noChangeArrowheads="1"/>
          </p:cNvSpPr>
          <p:nvPr/>
        </p:nvSpPr>
        <p:spPr>
          <a:xfrm>
            <a:off x="381000" y="419172"/>
            <a:ext cx="10519756" cy="36411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altLang="en-US" sz="1800" b="1" i="1">
              <a:solidFill>
                <a:schemeClr val="accent5">
                  <a:lumMod val="50000"/>
                </a:schemeClr>
              </a:solidFill>
              <a:latin typeface="+mn-lt"/>
            </a:endParaRPr>
          </a:p>
        </p:txBody>
      </p:sp>
      <p:sp>
        <p:nvSpPr>
          <p:cNvPr id="2" name="Content Placeholder 2">
            <a:extLst>
              <a:ext uri="{FF2B5EF4-FFF2-40B4-BE49-F238E27FC236}">
                <a16:creationId xmlns:a16="http://schemas.microsoft.com/office/drawing/2014/main" id="{67775A00-F90B-2079-3F61-235665DF7E69}"/>
              </a:ext>
            </a:extLst>
          </p:cNvPr>
          <p:cNvSpPr txBox="1">
            <a:spLocks/>
          </p:cNvSpPr>
          <p:nvPr/>
        </p:nvSpPr>
        <p:spPr>
          <a:xfrm>
            <a:off x="586278" y="1066277"/>
            <a:ext cx="10109200" cy="39163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buFont typeface="+mj-lt"/>
              <a:buAutoNum type="arabicPeriod"/>
            </a:pPr>
            <a:r>
              <a:rPr lang="en-US" sz="2400"/>
              <a:t>Information Worksheet and Decision Worksheet</a:t>
            </a:r>
          </a:p>
        </p:txBody>
      </p:sp>
    </p:spTree>
    <p:extLst>
      <p:ext uri="{BB962C8B-B14F-4D97-AF65-F5344CB8AC3E}">
        <p14:creationId xmlns:p14="http://schemas.microsoft.com/office/powerpoint/2010/main" val="18021555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BDF0B-D7FA-48E2-82F7-6C0206953D0A}"/>
              </a:ext>
            </a:extLst>
          </p:cNvPr>
          <p:cNvSpPr>
            <a:spLocks noGrp="1"/>
          </p:cNvSpPr>
          <p:nvPr>
            <p:ph type="title"/>
          </p:nvPr>
        </p:nvSpPr>
        <p:spPr>
          <a:xfrm>
            <a:off x="838200" y="1656896"/>
            <a:ext cx="10515600" cy="1325563"/>
          </a:xfrm>
        </p:spPr>
        <p:txBody>
          <a:bodyPr/>
          <a:lstStyle/>
          <a:p>
            <a:r>
              <a:rPr lang="en-US"/>
              <a:t>Thank you</a:t>
            </a:r>
          </a:p>
        </p:txBody>
      </p:sp>
      <p:sp>
        <p:nvSpPr>
          <p:cNvPr id="5" name="Rectangle 6">
            <a:extLst>
              <a:ext uri="{FF2B5EF4-FFF2-40B4-BE49-F238E27FC236}">
                <a16:creationId xmlns:a16="http://schemas.microsoft.com/office/drawing/2014/main" id="{64DCE1FC-16DF-4A98-8E83-1CC58B18976B}"/>
              </a:ext>
            </a:extLst>
          </p:cNvPr>
          <p:cNvSpPr>
            <a:spLocks noChangeArrowheads="1"/>
          </p:cNvSpPr>
          <p:nvPr/>
        </p:nvSpPr>
        <p:spPr bwMode="auto">
          <a:xfrm>
            <a:off x="762000" y="4343400"/>
            <a:ext cx="5791200" cy="1538883"/>
          </a:xfrm>
          <a:prstGeom prst="rect">
            <a:avLst/>
          </a:prstGeom>
          <a:noFill/>
          <a:ln w="9525">
            <a:noFill/>
            <a:miter lim="800000"/>
            <a:headEnd/>
            <a:tailEnd/>
          </a:ln>
          <a:effectLst/>
        </p:spPr>
        <p:txBody>
          <a:bodyPr wrap="square">
            <a:spAutoFit/>
          </a:bodyPr>
          <a:lstStyle/>
          <a:p>
            <a:pPr eaLnBrk="1" hangingPunct="1">
              <a:defRPr/>
            </a:pPr>
            <a:r>
              <a:rPr lang="en-GB" sz="1400" b="1">
                <a:solidFill>
                  <a:schemeClr val="bg1">
                    <a:lumMod val="65000"/>
                  </a:schemeClr>
                </a:solidFill>
                <a:effectLst>
                  <a:outerShdw blurRad="38100" dist="38100" dir="2700000" algn="tl">
                    <a:srgbClr val="FFFFFF"/>
                  </a:outerShdw>
                </a:effectLst>
                <a:latin typeface="Gadugi" panose="020B0502040204020203" pitchFamily="34" charset="0"/>
                <a:ea typeface="Gadugi" panose="020B0502040204020203" pitchFamily="34" charset="0"/>
              </a:rPr>
              <a:t>Further clarification? kindly contact: </a:t>
            </a:r>
          </a:p>
          <a:p>
            <a:pPr eaLnBrk="1" hangingPunct="1">
              <a:defRPr/>
            </a:pPr>
            <a:endParaRPr lang="en-GB" sz="1600" b="1">
              <a:solidFill>
                <a:schemeClr val="bg1">
                  <a:lumMod val="65000"/>
                </a:schemeClr>
              </a:solidFill>
              <a:effectLst>
                <a:outerShdw blurRad="38100" dist="38100" dir="2700000" algn="tl">
                  <a:srgbClr val="FFFFFF"/>
                </a:outerShdw>
              </a:effectLst>
              <a:latin typeface="Gadugi" panose="020B0502040204020203" pitchFamily="34" charset="0"/>
              <a:ea typeface="Gadugi" panose="020B0502040204020203" pitchFamily="34" charset="0"/>
            </a:endParaRPr>
          </a:p>
          <a:p>
            <a:pPr eaLnBrk="1" hangingPunct="1">
              <a:defRPr/>
            </a:pPr>
            <a:r>
              <a:rPr lang="en-GB" sz="1400" b="1">
                <a:solidFill>
                  <a:schemeClr val="bg1">
                    <a:lumMod val="65000"/>
                  </a:schemeClr>
                </a:solidFill>
                <a:effectLst>
                  <a:outerShdw blurRad="38100" dist="38100" dir="2700000" algn="tl">
                    <a:srgbClr val="FFFFFF"/>
                  </a:outerShdw>
                </a:effectLst>
                <a:latin typeface="Gadugi" panose="020B0502040204020203" pitchFamily="34" charset="0"/>
                <a:ea typeface="Gadugi" panose="020B0502040204020203" pitchFamily="34" charset="0"/>
              </a:rPr>
              <a:t>Wan Mohamad Erfan Bin Wan Mustafa</a:t>
            </a:r>
          </a:p>
          <a:p>
            <a:pPr eaLnBrk="1" hangingPunct="1">
              <a:defRPr/>
            </a:pPr>
            <a:r>
              <a:rPr lang="en-GB" sz="1200">
                <a:solidFill>
                  <a:schemeClr val="bg1">
                    <a:lumMod val="65000"/>
                  </a:schemeClr>
                </a:solidFill>
                <a:effectLst>
                  <a:outerShdw blurRad="38100" dist="38100" dir="2700000" algn="tl">
                    <a:srgbClr val="FFFFFF"/>
                  </a:outerShdw>
                </a:effectLst>
                <a:latin typeface="Gadugi" panose="020B0502040204020203" pitchFamily="34" charset="0"/>
                <a:ea typeface="Gadugi" panose="020B0502040204020203" pitchFamily="34" charset="0"/>
              </a:rPr>
              <a:t>Senior Engineer (RCM - Planning)</a:t>
            </a:r>
          </a:p>
          <a:p>
            <a:pPr eaLnBrk="1" hangingPunct="1">
              <a:defRPr/>
            </a:pPr>
            <a:r>
              <a:rPr lang="en-GB" sz="1200">
                <a:solidFill>
                  <a:schemeClr val="bg1">
                    <a:lumMod val="65000"/>
                  </a:schemeClr>
                </a:solidFill>
                <a:effectLst>
                  <a:outerShdw blurRad="38100" dist="38100" dir="2700000" algn="tl">
                    <a:srgbClr val="FFFFFF"/>
                  </a:outerShdw>
                </a:effectLst>
                <a:latin typeface="Gadugi" panose="020B0502040204020203" pitchFamily="34" charset="0"/>
                <a:ea typeface="Gadugi" panose="020B0502040204020203" pitchFamily="34" charset="0"/>
              </a:rPr>
              <a:t>Email: erfan.mustafa@tnb.com.my</a:t>
            </a:r>
          </a:p>
          <a:p>
            <a:pPr>
              <a:defRPr/>
            </a:pPr>
            <a:r>
              <a:rPr lang="en-MY" altLang="en-US" sz="1200" kern="0">
                <a:solidFill>
                  <a:schemeClr val="bg1">
                    <a:lumMod val="65000"/>
                  </a:schemeClr>
                </a:solidFill>
                <a:latin typeface="Gadugi" panose="020B0502040204020203" pitchFamily="34" charset="0"/>
                <a:ea typeface="Gadugi" panose="020B0502040204020203" pitchFamily="34" charset="0"/>
              </a:rPr>
              <a:t>Tel.: +60179761255</a:t>
            </a:r>
            <a:endParaRPr lang="en-US" altLang="en-US" sz="1200" kern="0">
              <a:solidFill>
                <a:schemeClr val="bg1">
                  <a:lumMod val="65000"/>
                </a:schemeClr>
              </a:solidFill>
              <a:latin typeface="Gadugi" panose="020B0502040204020203" pitchFamily="34" charset="0"/>
              <a:ea typeface="Gadugi" panose="020B0502040204020203" pitchFamily="34" charset="0"/>
            </a:endParaRPr>
          </a:p>
          <a:p>
            <a:pPr eaLnBrk="1" hangingPunct="1">
              <a:defRPr/>
            </a:pPr>
            <a:endParaRPr lang="en-GB" sz="1400" b="1">
              <a:solidFill>
                <a:schemeClr val="bg1">
                  <a:lumMod val="65000"/>
                </a:schemeClr>
              </a:solidFill>
              <a:effectLst>
                <a:outerShdw blurRad="38100" dist="38100" dir="2700000" algn="tl">
                  <a:srgbClr val="FFFFFF"/>
                </a:outerShdw>
              </a:effectLst>
              <a:latin typeface="Gadugi" panose="020B0502040204020203" pitchFamily="34" charset="0"/>
              <a:ea typeface="Gadugi" panose="020B0502040204020203" pitchFamily="34" charset="0"/>
            </a:endParaRPr>
          </a:p>
        </p:txBody>
      </p:sp>
      <p:pic>
        <p:nvPicPr>
          <p:cNvPr id="6" name="Picture 5">
            <a:extLst>
              <a:ext uri="{FF2B5EF4-FFF2-40B4-BE49-F238E27FC236}">
                <a16:creationId xmlns:a16="http://schemas.microsoft.com/office/drawing/2014/main" id="{CB1C35A5-B4C2-4920-B6E3-69572AADF47C}"/>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t="13483" b="26966"/>
          <a:stretch/>
        </p:blipFill>
        <p:spPr bwMode="auto">
          <a:xfrm>
            <a:off x="10748507" y="80255"/>
            <a:ext cx="1225443" cy="473074"/>
          </a:xfrm>
          <a:prstGeom prst="rect">
            <a:avLst/>
          </a:prstGeom>
          <a:noFill/>
          <a:ln>
            <a:noFill/>
          </a:ln>
          <a:extLst>
            <a:ext uri="{53640926-AAD7-44D8-BBD7-CCE9431645EC}">
              <a14:shadowObscured xmlns:a14="http://schemas.microsoft.com/office/drawing/2010/main"/>
            </a:ext>
          </a:extLst>
        </p:spPr>
      </p:pic>
      <p:sp>
        <p:nvSpPr>
          <p:cNvPr id="4" name="Slide Number Placeholder 3">
            <a:extLst>
              <a:ext uri="{FF2B5EF4-FFF2-40B4-BE49-F238E27FC236}">
                <a16:creationId xmlns:a16="http://schemas.microsoft.com/office/drawing/2014/main" id="{43000149-158A-4E2B-8E21-060709281378}"/>
              </a:ext>
            </a:extLst>
          </p:cNvPr>
          <p:cNvSpPr>
            <a:spLocks noGrp="1"/>
          </p:cNvSpPr>
          <p:nvPr>
            <p:ph type="sldNum" sz="quarter" idx="12"/>
          </p:nvPr>
        </p:nvSpPr>
        <p:spPr/>
        <p:txBody>
          <a:bodyPr/>
          <a:lstStyle/>
          <a:p>
            <a:r>
              <a:rPr lang="en-US"/>
              <a:t>16</a:t>
            </a:r>
          </a:p>
        </p:txBody>
      </p:sp>
    </p:spTree>
    <p:extLst>
      <p:ext uri="{BB962C8B-B14F-4D97-AF65-F5344CB8AC3E}">
        <p14:creationId xmlns:p14="http://schemas.microsoft.com/office/powerpoint/2010/main" val="4868273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94b24703-4235-44c6-b699-9a0bf94b03a0">
      <Terms xmlns="http://schemas.microsoft.com/office/infopath/2007/PartnerControls"/>
    </lcf76f155ced4ddcb4097134ff3c332f>
    <Approver xmlns="94b24703-4235-44c6-b699-9a0bf94b03a0">
      <UserInfo>
        <DisplayName/>
        <AccountId xsi:nil="true"/>
        <AccountType/>
      </UserInfo>
    </Approver>
    <_Flow_SignoffStatus xmlns="94b24703-4235-44c6-b699-9a0bf94b03a0" xsi:nil="true"/>
    <TaxCatchAll xmlns="0876aff5-59e5-4fe6-98d5-c09b18add28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6F6FC2A91A99B845A2691B350A9443B0" ma:contentTypeVersion="17" ma:contentTypeDescription="Create a new document." ma:contentTypeScope="" ma:versionID="b80c4b50e68709ab166160d9ee2465cb">
  <xsd:schema xmlns:xsd="http://www.w3.org/2001/XMLSchema" xmlns:xs="http://www.w3.org/2001/XMLSchema" xmlns:p="http://schemas.microsoft.com/office/2006/metadata/properties" xmlns:ns2="94b24703-4235-44c6-b699-9a0bf94b03a0" xmlns:ns3="0876aff5-59e5-4fe6-98d5-c09b18add285" targetNamespace="http://schemas.microsoft.com/office/2006/metadata/properties" ma:root="true" ma:fieldsID="462a5014f39073ee8b50a92afe33f943" ns2:_="" ns3:_="">
    <xsd:import namespace="94b24703-4235-44c6-b699-9a0bf94b03a0"/>
    <xsd:import namespace="0876aff5-59e5-4fe6-98d5-c09b18add285"/>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element ref="ns2:MediaServiceDateTaken" minOccurs="0"/>
                <xsd:element ref="ns2:MediaLengthInSeconds" minOccurs="0"/>
                <xsd:element ref="ns2:MediaServiceLocation" minOccurs="0"/>
                <xsd:element ref="ns2:_Flow_SignoffStatus" minOccurs="0"/>
                <xsd:element ref="ns2:Approve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4b24703-4235-44c6-b699-9a0bf94b03a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dfc1b663-3d84-4bab-b48e-8dc04a24c91e"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MediaServiceLocation" ma:index="22" nillable="true" ma:displayName="Location" ma:indexed="true" ma:internalName="MediaServiceLocation" ma:readOnly="true">
      <xsd:simpleType>
        <xsd:restriction base="dms:Text"/>
      </xsd:simpleType>
    </xsd:element>
    <xsd:element name="_Flow_SignoffStatus" ma:index="23" nillable="true" ma:displayName="Sign-off status" ma:internalName="Sign_x002d_off_x0020_status">
      <xsd:simpleType>
        <xsd:restriction base="dms:Text"/>
      </xsd:simpleType>
    </xsd:element>
    <xsd:element name="Approver" ma:index="24" nillable="true" ma:displayName="Approver" ma:format="Dropdown" ma:list="UserInfo" ma:SharePointGroup="0" ma:internalName="Approv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0876aff5-59e5-4fe6-98d5-c09b18add28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5" nillable="true" ma:displayName="Taxonomy Catch All Column" ma:hidden="true" ma:list="{10c8a36f-b461-475e-9f6f-08b5a349d512}" ma:internalName="TaxCatchAll" ma:showField="CatchAllData" ma:web="0876aff5-59e5-4fe6-98d5-c09b18add28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78EE053-EDA5-4A2C-9193-C9E62D33EF4C}">
  <ds:schemaRefs>
    <ds:schemaRef ds:uri="http://purl.org/dc/elements/1.1/"/>
    <ds:schemaRef ds:uri="http://purl.org/dc/dcmitype/"/>
    <ds:schemaRef ds:uri="http://schemas.microsoft.com/office/2006/documentManagement/types"/>
    <ds:schemaRef ds:uri="http://schemas.openxmlformats.org/package/2006/metadata/core-properties"/>
    <ds:schemaRef ds:uri="http://purl.org/dc/terms/"/>
    <ds:schemaRef ds:uri="http://www.w3.org/XML/1998/namespace"/>
    <ds:schemaRef ds:uri="0876aff5-59e5-4fe6-98d5-c09b18add285"/>
    <ds:schemaRef ds:uri="http://schemas.microsoft.com/office/infopath/2007/PartnerControls"/>
    <ds:schemaRef ds:uri="94b24703-4235-44c6-b699-9a0bf94b03a0"/>
    <ds:schemaRef ds:uri="http://schemas.microsoft.com/office/2006/metadata/properties"/>
  </ds:schemaRefs>
</ds:datastoreItem>
</file>

<file path=customXml/itemProps2.xml><?xml version="1.0" encoding="utf-8"?>
<ds:datastoreItem xmlns:ds="http://schemas.openxmlformats.org/officeDocument/2006/customXml" ds:itemID="{69A0AA7C-63F7-4DAA-B1A2-E124D3F58D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4b24703-4235-44c6-b699-9a0bf94b03a0"/>
    <ds:schemaRef ds:uri="0876aff5-59e5-4fe6-98d5-c09b18add28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4F0525E-F800-45E6-8929-D363DD17C53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193</TotalTime>
  <Words>3218</Words>
  <Application>Microsoft Office PowerPoint</Application>
  <PresentationFormat>Widescreen</PresentationFormat>
  <Paragraphs>1124</Paragraphs>
  <Slides>19</Slides>
  <Notes>2</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Wan Mohamad Erfan bin Wan Mustafa</dc:creator>
  <cp:lastModifiedBy>Ramesh Kumar A/L Krishnamurthy</cp:lastModifiedBy>
  <cp:revision>19</cp:revision>
  <dcterms:created xsi:type="dcterms:W3CDTF">2023-08-29T16:06:07Z</dcterms:created>
  <dcterms:modified xsi:type="dcterms:W3CDTF">2026-02-26T17:12:37Z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0x0101006F6FC2A91A99B845A2691B350A9443B0</vt:lpwstr>
  </property>
  <property fmtid="{D5CDD505-2E9C-101B-9397-08002B2CF9AE}" pid="3" name="MediaServiceImageTags">
    <vt:lpwstr/>
  </property>
</Properties>
</file>